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Lst>
  <p:sldSz cx="9753600" cy="14630400"/>
  <p:notesSz cx="6858000" cy="9144000"/>
  <p:embeddedFontLst>
    <p:embeddedFont>
      <p:font typeface="Work Sans" pitchFamily="2" charset="0"/>
      <p:regular r:id="rId4"/>
      <p:bold r:id="rId5"/>
      <p:italic r:id="rId6"/>
      <p:boldItalic r:id="rId7"/>
    </p:embeddedFont>
    <p:embeddedFont>
      <p:font typeface="Work Sans Ultra-Bold" panose="020B0604020202020204" charset="0"/>
      <p:regular r:id="rId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01EF685-C02A-4B30-9121-F91D847EB2F5}" v="2" dt="2026-07-15T14:55:13.37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100" d="100"/>
          <a:sy n="100" d="100"/>
        </p:scale>
        <p:origin x="468" y="-414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5.fntdata"/><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font" Target="fonts/font4.fntdata"/><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3.fntdata"/><Relationship Id="rId11" Type="http://schemas.openxmlformats.org/officeDocument/2006/relationships/theme" Target="theme/theme1.xml"/><Relationship Id="rId5" Type="http://schemas.openxmlformats.org/officeDocument/2006/relationships/font" Target="fonts/font2.fntdata"/><Relationship Id="rId10" Type="http://schemas.openxmlformats.org/officeDocument/2006/relationships/viewProps" Target="viewProps.xml"/><Relationship Id="rId4" Type="http://schemas.openxmlformats.org/officeDocument/2006/relationships/font" Target="fonts/font1.fntdata"/><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dilberto Sarmiento Andapiña" userId="47b20a230de45c34" providerId="LiveId" clId="{605625CE-3080-4F3B-B6D5-AA9E52637EE6}"/>
    <pc:docChg chg="undo custSel modSld">
      <pc:chgData name="Edilberto Sarmiento Andapiña" userId="47b20a230de45c34" providerId="LiveId" clId="{605625CE-3080-4F3B-B6D5-AA9E52637EE6}" dt="2026-07-18T16:15:59.872" v="1177" actId="20577"/>
      <pc:docMkLst>
        <pc:docMk/>
      </pc:docMkLst>
      <pc:sldChg chg="addSp delSp modSp mod">
        <pc:chgData name="Edilberto Sarmiento Andapiña" userId="47b20a230de45c34" providerId="LiveId" clId="{605625CE-3080-4F3B-B6D5-AA9E52637EE6}" dt="2026-07-18T16:15:59.872" v="1177" actId="20577"/>
        <pc:sldMkLst>
          <pc:docMk/>
          <pc:sldMk cId="0" sldId="256"/>
        </pc:sldMkLst>
        <pc:spChg chg="mod">
          <ac:chgData name="Edilberto Sarmiento Andapiña" userId="47b20a230de45c34" providerId="LiveId" clId="{605625CE-3080-4F3B-B6D5-AA9E52637EE6}" dt="2026-07-10T15:40:32.145" v="1040"/>
          <ac:spMkLst>
            <pc:docMk/>
            <pc:sldMk cId="0" sldId="256"/>
            <ac:spMk id="2" creationId="{00000000-0000-0000-0000-000000000000}"/>
          </ac:spMkLst>
        </pc:spChg>
        <pc:spChg chg="mod">
          <ac:chgData name="Edilberto Sarmiento Andapiña" userId="47b20a230de45c34" providerId="LiveId" clId="{605625CE-3080-4F3B-B6D5-AA9E52637EE6}" dt="2026-07-09T15:36:45.130" v="777" actId="1076"/>
          <ac:spMkLst>
            <pc:docMk/>
            <pc:sldMk cId="0" sldId="256"/>
            <ac:spMk id="10" creationId="{00000000-0000-0000-0000-000000000000}"/>
          </ac:spMkLst>
        </pc:spChg>
        <pc:spChg chg="mod">
          <ac:chgData name="Edilberto Sarmiento Andapiña" userId="47b20a230de45c34" providerId="LiveId" clId="{605625CE-3080-4F3B-B6D5-AA9E52637EE6}" dt="2026-07-09T15:51:57.103" v="887" actId="1076"/>
          <ac:spMkLst>
            <pc:docMk/>
            <pc:sldMk cId="0" sldId="256"/>
            <ac:spMk id="11" creationId="{00000000-0000-0000-0000-000000000000}"/>
          </ac:spMkLst>
        </pc:spChg>
        <pc:spChg chg="mod">
          <ac:chgData name="Edilberto Sarmiento Andapiña" userId="47b20a230de45c34" providerId="LiveId" clId="{605625CE-3080-4F3B-B6D5-AA9E52637EE6}" dt="2026-07-09T14:08:24.385" v="354" actId="1076"/>
          <ac:spMkLst>
            <pc:docMk/>
            <pc:sldMk cId="0" sldId="256"/>
            <ac:spMk id="21" creationId="{00000000-0000-0000-0000-000000000000}"/>
          </ac:spMkLst>
        </pc:spChg>
        <pc:spChg chg="mod">
          <ac:chgData name="Edilberto Sarmiento Andapiña" userId="47b20a230de45c34" providerId="LiveId" clId="{605625CE-3080-4F3B-B6D5-AA9E52637EE6}" dt="2026-07-09T16:45:32.136" v="974" actId="115"/>
          <ac:spMkLst>
            <pc:docMk/>
            <pc:sldMk cId="0" sldId="256"/>
            <ac:spMk id="22" creationId="{00000000-0000-0000-0000-000000000000}"/>
          </ac:spMkLst>
        </pc:spChg>
        <pc:spChg chg="mod">
          <ac:chgData name="Edilberto Sarmiento Andapiña" userId="47b20a230de45c34" providerId="LiveId" clId="{605625CE-3080-4F3B-B6D5-AA9E52637EE6}" dt="2026-07-09T15:58:51.889" v="923" actId="1076"/>
          <ac:spMkLst>
            <pc:docMk/>
            <pc:sldMk cId="0" sldId="256"/>
            <ac:spMk id="24" creationId="{00000000-0000-0000-0000-000000000000}"/>
          </ac:spMkLst>
        </pc:spChg>
        <pc:spChg chg="add mod">
          <ac:chgData name="Edilberto Sarmiento Andapiña" userId="47b20a230de45c34" providerId="LiveId" clId="{605625CE-3080-4F3B-B6D5-AA9E52637EE6}" dt="2026-07-10T16:21:43.340" v="1134" actId="313"/>
          <ac:spMkLst>
            <pc:docMk/>
            <pc:sldMk cId="0" sldId="256"/>
            <ac:spMk id="31" creationId="{10E4153A-9BAC-1C81-9A15-6F0D45C291B4}"/>
          </ac:spMkLst>
        </pc:spChg>
        <pc:spChg chg="mod">
          <ac:chgData name="Edilberto Sarmiento Andapiña" userId="47b20a230de45c34" providerId="LiveId" clId="{605625CE-3080-4F3B-B6D5-AA9E52637EE6}" dt="2026-07-09T15:01:23.638" v="487" actId="1076"/>
          <ac:spMkLst>
            <pc:docMk/>
            <pc:sldMk cId="0" sldId="256"/>
            <ac:spMk id="33" creationId="{00000000-0000-0000-0000-000000000000}"/>
          </ac:spMkLst>
        </pc:spChg>
        <pc:spChg chg="mod">
          <ac:chgData name="Edilberto Sarmiento Andapiña" userId="47b20a230de45c34" providerId="LiveId" clId="{605625CE-3080-4F3B-B6D5-AA9E52637EE6}" dt="2026-07-09T15:41:12.074" v="871" actId="20577"/>
          <ac:spMkLst>
            <pc:docMk/>
            <pc:sldMk cId="0" sldId="256"/>
            <ac:spMk id="37" creationId="{00000000-0000-0000-0000-000000000000}"/>
          </ac:spMkLst>
        </pc:spChg>
        <pc:spChg chg="add del mod">
          <ac:chgData name="Edilberto Sarmiento Andapiña" userId="47b20a230de45c34" providerId="LiveId" clId="{605625CE-3080-4F3B-B6D5-AA9E52637EE6}" dt="2026-07-18T16:15:51.260" v="1173" actId="20577"/>
          <ac:spMkLst>
            <pc:docMk/>
            <pc:sldMk cId="0" sldId="256"/>
            <ac:spMk id="39" creationId="{00000000-0000-0000-0000-000000000000}"/>
          </ac:spMkLst>
        </pc:spChg>
        <pc:spChg chg="mod">
          <ac:chgData name="Edilberto Sarmiento Andapiña" userId="47b20a230de45c34" providerId="LiveId" clId="{605625CE-3080-4F3B-B6D5-AA9E52637EE6}" dt="2026-07-18T16:15:55.824" v="1175" actId="20577"/>
          <ac:spMkLst>
            <pc:docMk/>
            <pc:sldMk cId="0" sldId="256"/>
            <ac:spMk id="42" creationId="{00000000-0000-0000-0000-000000000000}"/>
          </ac:spMkLst>
        </pc:spChg>
        <pc:spChg chg="add mod">
          <ac:chgData name="Edilberto Sarmiento Andapiña" userId="47b20a230de45c34" providerId="LiveId" clId="{605625CE-3080-4F3B-B6D5-AA9E52637EE6}" dt="2026-07-10T15:51:02.113" v="1066" actId="14100"/>
          <ac:spMkLst>
            <pc:docMk/>
            <pc:sldMk cId="0" sldId="256"/>
            <ac:spMk id="46" creationId="{23370BAA-10DE-A686-FC39-D12E16980EF0}"/>
          </ac:spMkLst>
        </pc:spChg>
        <pc:spChg chg="mod">
          <ac:chgData name="Edilberto Sarmiento Andapiña" userId="47b20a230de45c34" providerId="LiveId" clId="{605625CE-3080-4F3B-B6D5-AA9E52637EE6}" dt="2026-07-09T14:18:33.874" v="385" actId="1076"/>
          <ac:spMkLst>
            <pc:docMk/>
            <pc:sldMk cId="0" sldId="256"/>
            <ac:spMk id="48" creationId="{00000000-0000-0000-0000-000000000000}"/>
          </ac:spMkLst>
        </pc:spChg>
        <pc:spChg chg="mod">
          <ac:chgData name="Edilberto Sarmiento Andapiña" userId="47b20a230de45c34" providerId="LiveId" clId="{605625CE-3080-4F3B-B6D5-AA9E52637EE6}" dt="2026-07-09T15:07:41.492" v="522" actId="20577"/>
          <ac:spMkLst>
            <pc:docMk/>
            <pc:sldMk cId="0" sldId="256"/>
            <ac:spMk id="49" creationId="{00000000-0000-0000-0000-000000000000}"/>
          </ac:spMkLst>
        </pc:spChg>
        <pc:spChg chg="mod">
          <ac:chgData name="Edilberto Sarmiento Andapiña" userId="47b20a230de45c34" providerId="LiveId" clId="{605625CE-3080-4F3B-B6D5-AA9E52637EE6}" dt="2026-07-15T15:02:07.721" v="1167" actId="20577"/>
          <ac:spMkLst>
            <pc:docMk/>
            <pc:sldMk cId="0" sldId="256"/>
            <ac:spMk id="51" creationId="{00000000-0000-0000-0000-000000000000}"/>
          </ac:spMkLst>
        </pc:spChg>
        <pc:spChg chg="mod">
          <ac:chgData name="Edilberto Sarmiento Andapiña" userId="47b20a230de45c34" providerId="LiveId" clId="{605625CE-3080-4F3B-B6D5-AA9E52637EE6}" dt="2026-07-10T16:17:45.887" v="1074" actId="1076"/>
          <ac:spMkLst>
            <pc:docMk/>
            <pc:sldMk cId="0" sldId="256"/>
            <ac:spMk id="52" creationId="{00000000-0000-0000-0000-000000000000}"/>
          </ac:spMkLst>
        </pc:spChg>
        <pc:spChg chg="mod">
          <ac:chgData name="Edilberto Sarmiento Andapiña" userId="47b20a230de45c34" providerId="LiveId" clId="{605625CE-3080-4F3B-B6D5-AA9E52637EE6}" dt="2026-07-18T16:15:59.872" v="1177" actId="20577"/>
          <ac:spMkLst>
            <pc:docMk/>
            <pc:sldMk cId="0" sldId="256"/>
            <ac:spMk id="55" creationId="{00000000-0000-0000-0000-000000000000}"/>
          </ac:spMkLst>
        </pc:spChg>
        <pc:spChg chg="mod">
          <ac:chgData name="Edilberto Sarmiento Andapiña" userId="47b20a230de45c34" providerId="LiveId" clId="{605625CE-3080-4F3B-B6D5-AA9E52637EE6}" dt="2026-07-10T16:41:23.194" v="1153" actId="115"/>
          <ac:spMkLst>
            <pc:docMk/>
            <pc:sldMk cId="0" sldId="256"/>
            <ac:spMk id="57" creationId="{00000000-0000-0000-0000-000000000000}"/>
          </ac:spMkLst>
        </pc:spChg>
        <pc:spChg chg="mod">
          <ac:chgData name="Edilberto Sarmiento Andapiña" userId="47b20a230de45c34" providerId="LiveId" clId="{605625CE-3080-4F3B-B6D5-AA9E52637EE6}" dt="2026-07-09T15:41:03.531" v="867" actId="20577"/>
          <ac:spMkLst>
            <pc:docMk/>
            <pc:sldMk cId="0" sldId="256"/>
            <ac:spMk id="61" creationId="{00000000-0000-0000-0000-000000000000}"/>
          </ac:spMkLst>
        </pc:spChg>
        <pc:spChg chg="add mod">
          <ac:chgData name="Edilberto Sarmiento Andapiña" userId="47b20a230de45c34" providerId="LiveId" clId="{605625CE-3080-4F3B-B6D5-AA9E52637EE6}" dt="2026-07-10T16:21:34.720" v="1131" actId="313"/>
          <ac:spMkLst>
            <pc:docMk/>
            <pc:sldMk cId="0" sldId="256"/>
            <ac:spMk id="62" creationId="{65C51356-57F9-939A-3B35-4541DB18FC44}"/>
          </ac:spMkLst>
        </pc:spChg>
        <pc:spChg chg="add mod">
          <ac:chgData name="Edilberto Sarmiento Andapiña" userId="47b20a230de45c34" providerId="LiveId" clId="{605625CE-3080-4F3B-B6D5-AA9E52637EE6}" dt="2026-07-10T16:41:20.912" v="1152" actId="114"/>
          <ac:spMkLst>
            <pc:docMk/>
            <pc:sldMk cId="0" sldId="256"/>
            <ac:spMk id="64" creationId="{32C42482-D02D-3754-DF83-2E515E11F812}"/>
          </ac:spMkLst>
        </pc:spChg>
        <pc:spChg chg="add mod">
          <ac:chgData name="Edilberto Sarmiento Andapiña" userId="47b20a230de45c34" providerId="LiveId" clId="{605625CE-3080-4F3B-B6D5-AA9E52637EE6}" dt="2026-07-15T14:55:55.419" v="1164" actId="20577"/>
          <ac:spMkLst>
            <pc:docMk/>
            <pc:sldMk cId="0" sldId="256"/>
            <ac:spMk id="65" creationId="{D97A4444-CBB4-7E5D-62DB-D5C2399839A7}"/>
          </ac:spMkLst>
        </pc:spChg>
      </pc:sldChg>
      <pc:sldChg chg="addSp delSp modSp mod">
        <pc:chgData name="Edilberto Sarmiento Andapiña" userId="47b20a230de45c34" providerId="LiveId" clId="{605625CE-3080-4F3B-B6D5-AA9E52637EE6}" dt="2026-07-10T16:17:34.398" v="1068" actId="22"/>
        <pc:sldMkLst>
          <pc:docMk/>
          <pc:sldMk cId="64766467" sldId="257"/>
        </pc:sldMkLst>
        <pc:spChg chg="mod">
          <ac:chgData name="Edilberto Sarmiento Andapiña" userId="47b20a230de45c34" providerId="LiveId" clId="{605625CE-3080-4F3B-B6D5-AA9E52637EE6}" dt="2026-07-09T15:36:26.864" v="775" actId="1076"/>
          <ac:spMkLst>
            <pc:docMk/>
            <pc:sldMk cId="64766467" sldId="257"/>
            <ac:spMk id="5" creationId="{CE7C290E-5E96-B27C-9E03-11C097E5E4D8}"/>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3" Type="http://schemas.openxmlformats.org/officeDocument/2006/relationships/image" Target="../media/image12.svg"/><Relationship Id="rId18" Type="http://schemas.openxmlformats.org/officeDocument/2006/relationships/image" Target="../media/image17.png"/><Relationship Id="rId26" Type="http://schemas.openxmlformats.org/officeDocument/2006/relationships/image" Target="../media/image25.png"/><Relationship Id="rId21" Type="http://schemas.openxmlformats.org/officeDocument/2006/relationships/image" Target="../media/image20.png"/><Relationship Id="rId34" Type="http://schemas.openxmlformats.org/officeDocument/2006/relationships/image" Target="../media/image33.svg"/><Relationship Id="rId7" Type="http://schemas.openxmlformats.org/officeDocument/2006/relationships/image" Target="../media/image6.png"/><Relationship Id="rId12" Type="http://schemas.openxmlformats.org/officeDocument/2006/relationships/image" Target="../media/image11.png"/><Relationship Id="rId17" Type="http://schemas.openxmlformats.org/officeDocument/2006/relationships/image" Target="../media/image16.png"/><Relationship Id="rId25" Type="http://schemas.openxmlformats.org/officeDocument/2006/relationships/image" Target="../media/image24.svg"/><Relationship Id="rId33" Type="http://schemas.openxmlformats.org/officeDocument/2006/relationships/image" Target="../media/image32.svg"/><Relationship Id="rId2" Type="http://schemas.openxmlformats.org/officeDocument/2006/relationships/image" Target="../media/image1.png"/><Relationship Id="rId16" Type="http://schemas.openxmlformats.org/officeDocument/2006/relationships/image" Target="../media/image15.png"/><Relationship Id="rId20" Type="http://schemas.openxmlformats.org/officeDocument/2006/relationships/image" Target="../media/image19.png"/><Relationship Id="rId29" Type="http://schemas.openxmlformats.org/officeDocument/2006/relationships/image" Target="../media/image28.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png"/><Relationship Id="rId24" Type="http://schemas.openxmlformats.org/officeDocument/2006/relationships/image" Target="../media/image23.png"/><Relationship Id="rId32" Type="http://schemas.openxmlformats.org/officeDocument/2006/relationships/image" Target="../media/image31.png"/><Relationship Id="rId37" Type="http://schemas.openxmlformats.org/officeDocument/2006/relationships/image" Target="../media/image36.svg"/><Relationship Id="rId5" Type="http://schemas.openxmlformats.org/officeDocument/2006/relationships/image" Target="../media/image4.png"/><Relationship Id="rId15" Type="http://schemas.openxmlformats.org/officeDocument/2006/relationships/image" Target="../media/image14.png"/><Relationship Id="rId23" Type="http://schemas.openxmlformats.org/officeDocument/2006/relationships/image" Target="../media/image22.svg"/><Relationship Id="rId28" Type="http://schemas.openxmlformats.org/officeDocument/2006/relationships/image" Target="../media/image27.svg"/><Relationship Id="rId36" Type="http://schemas.openxmlformats.org/officeDocument/2006/relationships/image" Target="../media/image35.png"/><Relationship Id="rId10" Type="http://schemas.openxmlformats.org/officeDocument/2006/relationships/image" Target="../media/image9.png"/><Relationship Id="rId19" Type="http://schemas.openxmlformats.org/officeDocument/2006/relationships/image" Target="../media/image18.svg"/><Relationship Id="rId31" Type="http://schemas.openxmlformats.org/officeDocument/2006/relationships/image" Target="../media/image30.sv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png"/><Relationship Id="rId22" Type="http://schemas.openxmlformats.org/officeDocument/2006/relationships/image" Target="../media/image21.svg"/><Relationship Id="rId27" Type="http://schemas.openxmlformats.org/officeDocument/2006/relationships/image" Target="../media/image26.svg"/><Relationship Id="rId30" Type="http://schemas.openxmlformats.org/officeDocument/2006/relationships/image" Target="../media/image29.svg"/><Relationship Id="rId35" Type="http://schemas.openxmlformats.org/officeDocument/2006/relationships/image" Target="../media/image34.png"/><Relationship Id="rId8" Type="http://schemas.openxmlformats.org/officeDocument/2006/relationships/image" Target="../media/image7.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14630400"/>
          </a:xfrm>
          <a:custGeom>
            <a:avLst/>
            <a:gdLst/>
            <a:ahLst/>
            <a:cxnLst/>
            <a:rect l="l" t="t" r="r" b="b"/>
            <a:pathLst>
              <a:path w="9753600" h="14630400">
                <a:moveTo>
                  <a:pt x="0" y="0"/>
                </a:moveTo>
                <a:lnTo>
                  <a:pt x="9753600" y="0"/>
                </a:lnTo>
                <a:lnTo>
                  <a:pt x="9753600" y="14630400"/>
                </a:lnTo>
                <a:lnTo>
                  <a:pt x="0" y="14630400"/>
                </a:lnTo>
                <a:lnTo>
                  <a:pt x="0" y="0"/>
                </a:lnTo>
                <a:close/>
              </a:path>
            </a:pathLst>
          </a:custGeom>
          <a:blipFill>
            <a:blip r:embed="rId2"/>
            <a:stretch>
              <a:fillRect/>
            </a:stretch>
          </a:blipFill>
        </p:spPr>
        <p:txBody>
          <a:bodyPr/>
          <a:lstStyle/>
          <a:p>
            <a:endParaRPr lang="es-CO" dirty="0"/>
          </a:p>
        </p:txBody>
      </p:sp>
      <p:sp>
        <p:nvSpPr>
          <p:cNvPr id="3" name="Freeform 3"/>
          <p:cNvSpPr/>
          <p:nvPr/>
        </p:nvSpPr>
        <p:spPr>
          <a:xfrm>
            <a:off x="1495425" y="2552700"/>
            <a:ext cx="942975" cy="742950"/>
          </a:xfrm>
          <a:custGeom>
            <a:avLst/>
            <a:gdLst/>
            <a:ahLst/>
            <a:cxnLst/>
            <a:rect l="l" t="t" r="r" b="b"/>
            <a:pathLst>
              <a:path w="942975" h="742950">
                <a:moveTo>
                  <a:pt x="0" y="0"/>
                </a:moveTo>
                <a:lnTo>
                  <a:pt x="942975" y="0"/>
                </a:lnTo>
                <a:lnTo>
                  <a:pt x="942975" y="742950"/>
                </a:lnTo>
                <a:lnTo>
                  <a:pt x="0" y="742950"/>
                </a:lnTo>
                <a:lnTo>
                  <a:pt x="0" y="0"/>
                </a:lnTo>
                <a:close/>
              </a:path>
            </a:pathLst>
          </a:custGeom>
          <a:blipFill>
            <a:blip r:embed="rId3"/>
            <a:stretch>
              <a:fillRect/>
            </a:stretch>
          </a:blipFill>
        </p:spPr>
        <p:txBody>
          <a:bodyPr/>
          <a:lstStyle/>
          <a:p>
            <a:endParaRPr lang="es-CO"/>
          </a:p>
        </p:txBody>
      </p:sp>
      <p:sp>
        <p:nvSpPr>
          <p:cNvPr id="4" name="Freeform 4"/>
          <p:cNvSpPr/>
          <p:nvPr/>
        </p:nvSpPr>
        <p:spPr>
          <a:xfrm>
            <a:off x="7315200" y="0"/>
            <a:ext cx="752475" cy="733425"/>
          </a:xfrm>
          <a:custGeom>
            <a:avLst/>
            <a:gdLst/>
            <a:ahLst/>
            <a:cxnLst/>
            <a:rect l="l" t="t" r="r" b="b"/>
            <a:pathLst>
              <a:path w="752475" h="733425">
                <a:moveTo>
                  <a:pt x="0" y="0"/>
                </a:moveTo>
                <a:lnTo>
                  <a:pt x="752475" y="0"/>
                </a:lnTo>
                <a:lnTo>
                  <a:pt x="752475" y="733425"/>
                </a:lnTo>
                <a:lnTo>
                  <a:pt x="0" y="733425"/>
                </a:lnTo>
                <a:lnTo>
                  <a:pt x="0" y="0"/>
                </a:lnTo>
                <a:close/>
              </a:path>
            </a:pathLst>
          </a:custGeom>
          <a:blipFill>
            <a:blip r:embed="rId4"/>
            <a:stretch>
              <a:fillRect/>
            </a:stretch>
          </a:blipFill>
        </p:spPr>
        <p:txBody>
          <a:bodyPr/>
          <a:lstStyle/>
          <a:p>
            <a:endParaRPr lang="es-CO"/>
          </a:p>
        </p:txBody>
      </p:sp>
      <p:sp>
        <p:nvSpPr>
          <p:cNvPr id="5" name="Freeform 5"/>
          <p:cNvSpPr/>
          <p:nvPr/>
        </p:nvSpPr>
        <p:spPr>
          <a:xfrm>
            <a:off x="9372600" y="3657600"/>
            <a:ext cx="381000" cy="552450"/>
          </a:xfrm>
          <a:custGeom>
            <a:avLst/>
            <a:gdLst/>
            <a:ahLst/>
            <a:cxnLst/>
            <a:rect l="l" t="t" r="r" b="b"/>
            <a:pathLst>
              <a:path w="381000" h="552450">
                <a:moveTo>
                  <a:pt x="0" y="0"/>
                </a:moveTo>
                <a:lnTo>
                  <a:pt x="381000" y="0"/>
                </a:lnTo>
                <a:lnTo>
                  <a:pt x="381000" y="552450"/>
                </a:lnTo>
                <a:lnTo>
                  <a:pt x="0" y="552450"/>
                </a:lnTo>
                <a:lnTo>
                  <a:pt x="0" y="0"/>
                </a:lnTo>
                <a:close/>
              </a:path>
            </a:pathLst>
          </a:custGeom>
          <a:blipFill>
            <a:blip r:embed="rId5"/>
            <a:stretch>
              <a:fillRect/>
            </a:stretch>
          </a:blipFill>
        </p:spPr>
        <p:txBody>
          <a:bodyPr/>
          <a:lstStyle/>
          <a:p>
            <a:endParaRPr lang="es-CO"/>
          </a:p>
        </p:txBody>
      </p:sp>
      <p:sp>
        <p:nvSpPr>
          <p:cNvPr id="6" name="Freeform 6"/>
          <p:cNvSpPr/>
          <p:nvPr/>
        </p:nvSpPr>
        <p:spPr>
          <a:xfrm>
            <a:off x="85725" y="13525500"/>
            <a:ext cx="2066925" cy="1104900"/>
          </a:xfrm>
          <a:custGeom>
            <a:avLst/>
            <a:gdLst/>
            <a:ahLst/>
            <a:cxnLst/>
            <a:rect l="l" t="t" r="r" b="b"/>
            <a:pathLst>
              <a:path w="2066925" h="1104900">
                <a:moveTo>
                  <a:pt x="0" y="0"/>
                </a:moveTo>
                <a:lnTo>
                  <a:pt x="2066925" y="0"/>
                </a:lnTo>
                <a:lnTo>
                  <a:pt x="2066925" y="1104900"/>
                </a:lnTo>
                <a:lnTo>
                  <a:pt x="0" y="1104900"/>
                </a:lnTo>
                <a:lnTo>
                  <a:pt x="0" y="0"/>
                </a:lnTo>
                <a:close/>
              </a:path>
            </a:pathLst>
          </a:custGeom>
          <a:blipFill>
            <a:blip r:embed="rId6"/>
            <a:stretch>
              <a:fillRect/>
            </a:stretch>
          </a:blipFill>
        </p:spPr>
        <p:txBody>
          <a:bodyPr/>
          <a:lstStyle/>
          <a:p>
            <a:endParaRPr lang="es-CO"/>
          </a:p>
        </p:txBody>
      </p:sp>
      <p:sp>
        <p:nvSpPr>
          <p:cNvPr id="7" name="Freeform 7"/>
          <p:cNvSpPr/>
          <p:nvPr/>
        </p:nvSpPr>
        <p:spPr>
          <a:xfrm>
            <a:off x="3000375" y="14077950"/>
            <a:ext cx="942975" cy="552450"/>
          </a:xfrm>
          <a:custGeom>
            <a:avLst/>
            <a:gdLst/>
            <a:ahLst/>
            <a:cxnLst/>
            <a:rect l="l" t="t" r="r" b="b"/>
            <a:pathLst>
              <a:path w="942975" h="552450">
                <a:moveTo>
                  <a:pt x="0" y="0"/>
                </a:moveTo>
                <a:lnTo>
                  <a:pt x="942975" y="0"/>
                </a:lnTo>
                <a:lnTo>
                  <a:pt x="942975" y="552450"/>
                </a:lnTo>
                <a:lnTo>
                  <a:pt x="0" y="552450"/>
                </a:lnTo>
                <a:lnTo>
                  <a:pt x="0" y="0"/>
                </a:lnTo>
                <a:close/>
              </a:path>
            </a:pathLst>
          </a:custGeom>
          <a:blipFill>
            <a:blip r:embed="rId7"/>
            <a:stretch>
              <a:fillRect/>
            </a:stretch>
          </a:blipFill>
        </p:spPr>
        <p:txBody>
          <a:bodyPr/>
          <a:lstStyle/>
          <a:p>
            <a:endParaRPr lang="es-CO"/>
          </a:p>
        </p:txBody>
      </p:sp>
      <p:sp>
        <p:nvSpPr>
          <p:cNvPr id="8" name="Freeform 8"/>
          <p:cNvSpPr/>
          <p:nvPr/>
        </p:nvSpPr>
        <p:spPr>
          <a:xfrm>
            <a:off x="6181725" y="13896975"/>
            <a:ext cx="2638425" cy="552450"/>
          </a:xfrm>
          <a:custGeom>
            <a:avLst/>
            <a:gdLst/>
            <a:ahLst/>
            <a:cxnLst/>
            <a:rect l="l" t="t" r="r" b="b"/>
            <a:pathLst>
              <a:path w="2638425" h="552450">
                <a:moveTo>
                  <a:pt x="0" y="0"/>
                </a:moveTo>
                <a:lnTo>
                  <a:pt x="2638425" y="0"/>
                </a:lnTo>
                <a:lnTo>
                  <a:pt x="2638425" y="552450"/>
                </a:lnTo>
                <a:lnTo>
                  <a:pt x="0" y="552450"/>
                </a:lnTo>
                <a:lnTo>
                  <a:pt x="0" y="0"/>
                </a:lnTo>
                <a:close/>
              </a:path>
            </a:pathLst>
          </a:custGeom>
          <a:blipFill>
            <a:blip r:embed="rId8"/>
            <a:stretch>
              <a:fillRect/>
            </a:stretch>
          </a:blipFill>
        </p:spPr>
        <p:txBody>
          <a:bodyPr/>
          <a:lstStyle/>
          <a:p>
            <a:endParaRPr lang="es-CO"/>
          </a:p>
        </p:txBody>
      </p:sp>
      <p:sp>
        <p:nvSpPr>
          <p:cNvPr id="9" name="Freeform 9"/>
          <p:cNvSpPr/>
          <p:nvPr/>
        </p:nvSpPr>
        <p:spPr>
          <a:xfrm>
            <a:off x="7357987" y="1894307"/>
            <a:ext cx="2258273" cy="964769"/>
          </a:xfrm>
          <a:custGeom>
            <a:avLst/>
            <a:gdLst/>
            <a:ahLst/>
            <a:cxnLst/>
            <a:rect l="l" t="t" r="r" b="b"/>
            <a:pathLst>
              <a:path w="2258273" h="964769">
                <a:moveTo>
                  <a:pt x="0" y="0"/>
                </a:moveTo>
                <a:lnTo>
                  <a:pt x="2258273" y="0"/>
                </a:lnTo>
                <a:lnTo>
                  <a:pt x="2258273" y="964768"/>
                </a:lnTo>
                <a:lnTo>
                  <a:pt x="0" y="964768"/>
                </a:lnTo>
                <a:lnTo>
                  <a:pt x="0" y="0"/>
                </a:lnTo>
                <a:close/>
              </a:path>
            </a:pathLst>
          </a:custGeom>
          <a:blipFill>
            <a:blip r:embed="rId9"/>
            <a:stretch>
              <a:fillRect/>
            </a:stretch>
          </a:blipFill>
        </p:spPr>
        <p:txBody>
          <a:bodyPr/>
          <a:lstStyle/>
          <a:p>
            <a:endParaRPr lang="es-CO"/>
          </a:p>
        </p:txBody>
      </p:sp>
      <p:sp>
        <p:nvSpPr>
          <p:cNvPr id="10" name="Freeform 10"/>
          <p:cNvSpPr/>
          <p:nvPr/>
        </p:nvSpPr>
        <p:spPr>
          <a:xfrm>
            <a:off x="1926624" y="129544"/>
            <a:ext cx="5821284" cy="2126906"/>
          </a:xfrm>
          <a:custGeom>
            <a:avLst/>
            <a:gdLst/>
            <a:ahLst/>
            <a:cxnLst/>
            <a:rect l="l" t="t" r="r" b="b"/>
            <a:pathLst>
              <a:path w="5821284" h="2126906">
                <a:moveTo>
                  <a:pt x="0" y="0"/>
                </a:moveTo>
                <a:lnTo>
                  <a:pt x="5821284" y="0"/>
                </a:lnTo>
                <a:lnTo>
                  <a:pt x="5821284" y="2126906"/>
                </a:lnTo>
                <a:lnTo>
                  <a:pt x="0" y="2126906"/>
                </a:lnTo>
                <a:lnTo>
                  <a:pt x="0" y="0"/>
                </a:lnTo>
                <a:close/>
              </a:path>
            </a:pathLst>
          </a:custGeom>
          <a:blipFill>
            <a:blip r:embed="rId10"/>
            <a:stretch>
              <a:fillRect l="-7656" t="-13455" b="-33870"/>
            </a:stretch>
          </a:blipFill>
        </p:spPr>
        <p:txBody>
          <a:bodyPr/>
          <a:lstStyle/>
          <a:p>
            <a:endParaRPr lang="es-CO"/>
          </a:p>
        </p:txBody>
      </p:sp>
      <p:sp>
        <p:nvSpPr>
          <p:cNvPr id="11" name="Freeform 11"/>
          <p:cNvSpPr/>
          <p:nvPr/>
        </p:nvSpPr>
        <p:spPr>
          <a:xfrm>
            <a:off x="154478" y="2140847"/>
            <a:ext cx="9391650" cy="1257300"/>
          </a:xfrm>
          <a:custGeom>
            <a:avLst/>
            <a:gdLst/>
            <a:ahLst/>
            <a:cxnLst/>
            <a:rect l="l" t="t" r="r" b="b"/>
            <a:pathLst>
              <a:path w="9391650" h="1257300">
                <a:moveTo>
                  <a:pt x="0" y="0"/>
                </a:moveTo>
                <a:lnTo>
                  <a:pt x="9391650" y="0"/>
                </a:lnTo>
                <a:lnTo>
                  <a:pt x="9391650" y="1257300"/>
                </a:lnTo>
                <a:lnTo>
                  <a:pt x="0" y="1257300"/>
                </a:lnTo>
                <a:lnTo>
                  <a:pt x="0" y="0"/>
                </a:lnTo>
                <a:close/>
              </a:path>
            </a:pathLst>
          </a:custGeom>
          <a:blipFill>
            <a:blip r:embed="rId11"/>
            <a:stretch>
              <a:fillRect l="-114754" r="-115245"/>
            </a:stretch>
          </a:blipFill>
        </p:spPr>
        <p:txBody>
          <a:bodyPr/>
          <a:lstStyle/>
          <a:p>
            <a:endParaRPr lang="es-CO"/>
          </a:p>
        </p:txBody>
      </p:sp>
      <p:sp>
        <p:nvSpPr>
          <p:cNvPr id="14" name="Freeform 14"/>
          <p:cNvSpPr/>
          <p:nvPr/>
        </p:nvSpPr>
        <p:spPr>
          <a:xfrm>
            <a:off x="222869" y="3829050"/>
            <a:ext cx="9391650" cy="190500"/>
          </a:xfrm>
          <a:custGeom>
            <a:avLst/>
            <a:gdLst/>
            <a:ahLst/>
            <a:cxnLst/>
            <a:rect l="l" t="t" r="r" b="b"/>
            <a:pathLst>
              <a:path w="9391650" h="190500">
                <a:moveTo>
                  <a:pt x="0" y="0"/>
                </a:moveTo>
                <a:lnTo>
                  <a:pt x="9391650" y="0"/>
                </a:lnTo>
                <a:lnTo>
                  <a:pt x="9391650" y="190500"/>
                </a:lnTo>
                <a:lnTo>
                  <a:pt x="0" y="190500"/>
                </a:lnTo>
                <a:lnTo>
                  <a:pt x="0" y="0"/>
                </a:lnTo>
                <a:close/>
              </a:path>
            </a:pathLst>
          </a:custGeom>
          <a:blipFill>
            <a:blip r:embed="rId12"/>
            <a:stretch>
              <a:fillRect/>
            </a:stretch>
          </a:blipFill>
        </p:spPr>
        <p:txBody>
          <a:bodyPr/>
          <a:lstStyle/>
          <a:p>
            <a:endParaRPr lang="es-CO"/>
          </a:p>
        </p:txBody>
      </p:sp>
      <p:sp>
        <p:nvSpPr>
          <p:cNvPr id="15" name="Freeform 15"/>
          <p:cNvSpPr/>
          <p:nvPr/>
        </p:nvSpPr>
        <p:spPr>
          <a:xfrm>
            <a:off x="5035191" y="5805594"/>
            <a:ext cx="329940" cy="324166"/>
          </a:xfrm>
          <a:custGeom>
            <a:avLst/>
            <a:gdLst/>
            <a:ahLst/>
            <a:cxnLst/>
            <a:rect l="l" t="t" r="r" b="b"/>
            <a:pathLst>
              <a:path w="329940" h="324166">
                <a:moveTo>
                  <a:pt x="0" y="0"/>
                </a:moveTo>
                <a:lnTo>
                  <a:pt x="329939" y="0"/>
                </a:lnTo>
                <a:lnTo>
                  <a:pt x="329939" y="324166"/>
                </a:lnTo>
                <a:lnTo>
                  <a:pt x="0" y="324166"/>
                </a:lnTo>
                <a:lnTo>
                  <a:pt x="0" y="0"/>
                </a:lnTo>
                <a:close/>
              </a:path>
            </a:pathLst>
          </a:custGeom>
          <a:blipFill>
            <a:blip>
              <a:extLst>
                <a:ext uri="{96DAC541-7B7A-43D3-8B79-37D633B846F1}">
                  <asvg:svgBlip xmlns:asvg="http://schemas.microsoft.com/office/drawing/2016/SVG/main" r:embed="rId13"/>
                </a:ext>
              </a:extLst>
            </a:blip>
            <a:stretch>
              <a:fillRect/>
            </a:stretch>
          </a:blipFill>
        </p:spPr>
        <p:txBody>
          <a:bodyPr/>
          <a:lstStyle/>
          <a:p>
            <a:endParaRPr lang="es-CO"/>
          </a:p>
        </p:txBody>
      </p:sp>
      <p:sp>
        <p:nvSpPr>
          <p:cNvPr id="16" name="Freeform 16"/>
          <p:cNvSpPr/>
          <p:nvPr/>
        </p:nvSpPr>
        <p:spPr>
          <a:xfrm>
            <a:off x="-57718" y="0"/>
            <a:ext cx="1562668" cy="1523107"/>
          </a:xfrm>
          <a:custGeom>
            <a:avLst/>
            <a:gdLst/>
            <a:ahLst/>
            <a:cxnLst/>
            <a:rect l="l" t="t" r="r" b="b"/>
            <a:pathLst>
              <a:path w="1562668" h="1523107">
                <a:moveTo>
                  <a:pt x="0" y="0"/>
                </a:moveTo>
                <a:lnTo>
                  <a:pt x="1562668" y="0"/>
                </a:lnTo>
                <a:lnTo>
                  <a:pt x="1562668" y="1523107"/>
                </a:lnTo>
                <a:lnTo>
                  <a:pt x="0" y="1523107"/>
                </a:lnTo>
                <a:lnTo>
                  <a:pt x="0" y="0"/>
                </a:lnTo>
                <a:close/>
              </a:path>
            </a:pathLst>
          </a:custGeom>
          <a:blipFill>
            <a:blip r:embed="rId4"/>
            <a:stretch>
              <a:fillRect/>
            </a:stretch>
          </a:blipFill>
        </p:spPr>
        <p:txBody>
          <a:bodyPr/>
          <a:lstStyle/>
          <a:p>
            <a:endParaRPr lang="es-CO"/>
          </a:p>
        </p:txBody>
      </p:sp>
      <p:sp>
        <p:nvSpPr>
          <p:cNvPr id="17" name="Freeform 17"/>
          <p:cNvSpPr/>
          <p:nvPr/>
        </p:nvSpPr>
        <p:spPr>
          <a:xfrm>
            <a:off x="0" y="-28575"/>
            <a:ext cx="933387" cy="2219325"/>
          </a:xfrm>
          <a:custGeom>
            <a:avLst/>
            <a:gdLst/>
            <a:ahLst/>
            <a:cxnLst/>
            <a:rect l="l" t="t" r="r" b="b"/>
            <a:pathLst>
              <a:path w="933387" h="2219325">
                <a:moveTo>
                  <a:pt x="0" y="0"/>
                </a:moveTo>
                <a:lnTo>
                  <a:pt x="933387" y="0"/>
                </a:lnTo>
                <a:lnTo>
                  <a:pt x="933387" y="2219325"/>
                </a:lnTo>
                <a:lnTo>
                  <a:pt x="0" y="2219325"/>
                </a:lnTo>
                <a:lnTo>
                  <a:pt x="0" y="0"/>
                </a:lnTo>
                <a:close/>
              </a:path>
            </a:pathLst>
          </a:custGeom>
          <a:blipFill>
            <a:blip r:embed="rId14"/>
            <a:stretch>
              <a:fillRect l="-3746" r="-3746"/>
            </a:stretch>
          </a:blipFill>
        </p:spPr>
        <p:txBody>
          <a:bodyPr/>
          <a:lstStyle/>
          <a:p>
            <a:endParaRPr lang="es-CO"/>
          </a:p>
        </p:txBody>
      </p:sp>
      <p:sp>
        <p:nvSpPr>
          <p:cNvPr id="18" name="Freeform 18"/>
          <p:cNvSpPr/>
          <p:nvPr/>
        </p:nvSpPr>
        <p:spPr>
          <a:xfrm>
            <a:off x="9182100" y="0"/>
            <a:ext cx="571500" cy="2019300"/>
          </a:xfrm>
          <a:custGeom>
            <a:avLst/>
            <a:gdLst/>
            <a:ahLst/>
            <a:cxnLst/>
            <a:rect l="l" t="t" r="r" b="b"/>
            <a:pathLst>
              <a:path w="571500" h="2019300">
                <a:moveTo>
                  <a:pt x="0" y="0"/>
                </a:moveTo>
                <a:lnTo>
                  <a:pt x="571500" y="0"/>
                </a:lnTo>
                <a:lnTo>
                  <a:pt x="571500" y="2019300"/>
                </a:lnTo>
                <a:lnTo>
                  <a:pt x="0" y="2019300"/>
                </a:lnTo>
                <a:lnTo>
                  <a:pt x="0" y="0"/>
                </a:lnTo>
                <a:close/>
              </a:path>
            </a:pathLst>
          </a:custGeom>
          <a:blipFill>
            <a:blip r:embed="rId15"/>
            <a:stretch>
              <a:fillRect/>
            </a:stretch>
          </a:blipFill>
        </p:spPr>
        <p:txBody>
          <a:bodyPr/>
          <a:lstStyle/>
          <a:p>
            <a:endParaRPr lang="es-CO"/>
          </a:p>
        </p:txBody>
      </p:sp>
      <p:sp>
        <p:nvSpPr>
          <p:cNvPr id="19" name="Freeform 19"/>
          <p:cNvSpPr/>
          <p:nvPr/>
        </p:nvSpPr>
        <p:spPr>
          <a:xfrm>
            <a:off x="8487124" y="-161925"/>
            <a:ext cx="952500" cy="733425"/>
          </a:xfrm>
          <a:custGeom>
            <a:avLst/>
            <a:gdLst/>
            <a:ahLst/>
            <a:cxnLst/>
            <a:rect l="l" t="t" r="r" b="b"/>
            <a:pathLst>
              <a:path w="952500" h="733425">
                <a:moveTo>
                  <a:pt x="0" y="0"/>
                </a:moveTo>
                <a:lnTo>
                  <a:pt x="952500" y="0"/>
                </a:lnTo>
                <a:lnTo>
                  <a:pt x="952500" y="733425"/>
                </a:lnTo>
                <a:lnTo>
                  <a:pt x="0" y="733425"/>
                </a:lnTo>
                <a:lnTo>
                  <a:pt x="0" y="0"/>
                </a:lnTo>
                <a:close/>
              </a:path>
            </a:pathLst>
          </a:custGeom>
          <a:blipFill>
            <a:blip r:embed="rId16"/>
            <a:stretch>
              <a:fillRect/>
            </a:stretch>
          </a:blipFill>
        </p:spPr>
        <p:txBody>
          <a:bodyPr/>
          <a:lstStyle/>
          <a:p>
            <a:endParaRPr lang="es-CO"/>
          </a:p>
        </p:txBody>
      </p:sp>
      <p:sp>
        <p:nvSpPr>
          <p:cNvPr id="20" name="Freeform 20"/>
          <p:cNvSpPr/>
          <p:nvPr/>
        </p:nvSpPr>
        <p:spPr>
          <a:xfrm>
            <a:off x="7747800" y="433319"/>
            <a:ext cx="1215574" cy="1188486"/>
          </a:xfrm>
          <a:custGeom>
            <a:avLst/>
            <a:gdLst/>
            <a:ahLst/>
            <a:cxnLst/>
            <a:rect l="l" t="t" r="r" b="b"/>
            <a:pathLst>
              <a:path w="1215574" h="1188486">
                <a:moveTo>
                  <a:pt x="0" y="0"/>
                </a:moveTo>
                <a:lnTo>
                  <a:pt x="1215574" y="0"/>
                </a:lnTo>
                <a:lnTo>
                  <a:pt x="1215574" y="1188486"/>
                </a:lnTo>
                <a:lnTo>
                  <a:pt x="0" y="1188486"/>
                </a:lnTo>
                <a:lnTo>
                  <a:pt x="0" y="0"/>
                </a:lnTo>
                <a:close/>
              </a:path>
            </a:pathLst>
          </a:custGeom>
          <a:blipFill>
            <a:blip r:embed="rId17"/>
            <a:stretch>
              <a:fillRect/>
            </a:stretch>
          </a:blipFill>
        </p:spPr>
        <p:txBody>
          <a:bodyPr/>
          <a:lstStyle/>
          <a:p>
            <a:endParaRPr lang="es-CO"/>
          </a:p>
        </p:txBody>
      </p:sp>
      <p:sp>
        <p:nvSpPr>
          <p:cNvPr id="21" name="Freeform 21"/>
          <p:cNvSpPr/>
          <p:nvPr/>
        </p:nvSpPr>
        <p:spPr>
          <a:xfrm>
            <a:off x="141441" y="3249600"/>
            <a:ext cx="9391650" cy="569925"/>
          </a:xfrm>
          <a:custGeom>
            <a:avLst/>
            <a:gdLst/>
            <a:ahLst/>
            <a:cxnLst/>
            <a:rect l="l" t="t" r="r" b="b"/>
            <a:pathLst>
              <a:path w="9391650" h="569925">
                <a:moveTo>
                  <a:pt x="0" y="0"/>
                </a:moveTo>
                <a:lnTo>
                  <a:pt x="9391650" y="0"/>
                </a:lnTo>
                <a:lnTo>
                  <a:pt x="9391650" y="569925"/>
                </a:lnTo>
                <a:lnTo>
                  <a:pt x="0" y="569925"/>
                </a:lnTo>
                <a:lnTo>
                  <a:pt x="0" y="0"/>
                </a:lnTo>
                <a:close/>
              </a:path>
            </a:pathLst>
          </a:custGeom>
          <a:blipFill>
            <a:blip r:embed="rId18"/>
            <a:stretch>
              <a:fillRect l="-114754" r="-115245" b="-120608"/>
            </a:stretch>
          </a:blipFill>
        </p:spPr>
        <p:txBody>
          <a:bodyPr/>
          <a:lstStyle/>
          <a:p>
            <a:endParaRPr lang="es-CO"/>
          </a:p>
        </p:txBody>
      </p:sp>
      <p:sp>
        <p:nvSpPr>
          <p:cNvPr id="22" name="TextBox 22"/>
          <p:cNvSpPr txBox="1"/>
          <p:nvPr/>
        </p:nvSpPr>
        <p:spPr>
          <a:xfrm>
            <a:off x="647743" y="3308016"/>
            <a:ext cx="8405121" cy="445378"/>
          </a:xfrm>
          <a:prstGeom prst="rect">
            <a:avLst/>
          </a:prstGeom>
        </p:spPr>
        <p:txBody>
          <a:bodyPr wrap="square" lIns="0" tIns="0" rIns="0" bIns="0" rtlCol="0" anchor="t">
            <a:spAutoFit/>
          </a:bodyPr>
          <a:lstStyle/>
          <a:p>
            <a:pPr algn="ctr">
              <a:lnSpc>
                <a:spcPts val="1819"/>
              </a:lnSpc>
            </a:pPr>
            <a:r>
              <a:rPr lang="en-US" sz="1299" dirty="0" err="1">
                <a:solidFill>
                  <a:srgbClr val="000000"/>
                </a:solidFill>
                <a:latin typeface="Work Sans"/>
                <a:ea typeface="Work Sans"/>
                <a:cs typeface="Work Sans"/>
                <a:sym typeface="Work Sans"/>
              </a:rPr>
              <a:t>Investigadores</a:t>
            </a:r>
            <a:r>
              <a:rPr lang="en-US" sz="1299" dirty="0">
                <a:solidFill>
                  <a:srgbClr val="000000"/>
                </a:solidFill>
                <a:latin typeface="Work Sans"/>
                <a:ea typeface="Work Sans"/>
                <a:cs typeface="Work Sans"/>
                <a:sym typeface="Work Sans"/>
              </a:rPr>
              <a:t>: Brand Erika y Oviedo Alberto, </a:t>
            </a:r>
            <a:r>
              <a:rPr lang="en-US" sz="1299" dirty="0" err="1">
                <a:solidFill>
                  <a:srgbClr val="000000"/>
                </a:solidFill>
                <a:latin typeface="Work Sans"/>
                <a:ea typeface="Work Sans"/>
                <a:cs typeface="Work Sans"/>
                <a:sym typeface="Work Sans"/>
              </a:rPr>
              <a:t>Aprendiz</a:t>
            </a:r>
            <a:r>
              <a:rPr lang="en-US" sz="1299" dirty="0">
                <a:solidFill>
                  <a:srgbClr val="000000"/>
                </a:solidFill>
                <a:latin typeface="Work Sans"/>
                <a:ea typeface="Work Sans"/>
                <a:cs typeface="Work Sans"/>
                <a:sym typeface="Work Sans"/>
              </a:rPr>
              <a:t>: </a:t>
            </a:r>
            <a:r>
              <a:rPr lang="en-US" sz="1299" dirty="0" err="1">
                <a:solidFill>
                  <a:srgbClr val="000000"/>
                </a:solidFill>
                <a:latin typeface="Work Sans"/>
                <a:ea typeface="Work Sans"/>
                <a:cs typeface="Work Sans"/>
                <a:sym typeface="Work Sans"/>
              </a:rPr>
              <a:t>Pencue</a:t>
            </a:r>
            <a:r>
              <a:rPr lang="en-US" sz="1299" dirty="0">
                <a:solidFill>
                  <a:srgbClr val="000000"/>
                </a:solidFill>
                <a:latin typeface="Work Sans"/>
                <a:ea typeface="Work Sans"/>
                <a:cs typeface="Work Sans"/>
                <a:sym typeface="Work Sans"/>
              </a:rPr>
              <a:t> Jesus </a:t>
            </a:r>
          </a:p>
          <a:p>
            <a:pPr algn="ctr">
              <a:lnSpc>
                <a:spcPts val="1819"/>
              </a:lnSpc>
            </a:pPr>
            <a:r>
              <a:rPr lang="en-US" sz="1299" dirty="0" err="1">
                <a:solidFill>
                  <a:srgbClr val="000000"/>
                </a:solidFill>
                <a:latin typeface="Work Sans"/>
                <a:ea typeface="Work Sans"/>
                <a:cs typeface="Work Sans"/>
                <a:sym typeface="Work Sans"/>
              </a:rPr>
              <a:t>Semillero</a:t>
            </a:r>
            <a:r>
              <a:rPr lang="en-US" sz="1299" dirty="0">
                <a:solidFill>
                  <a:srgbClr val="000000"/>
                </a:solidFill>
                <a:latin typeface="Work Sans"/>
                <a:ea typeface="Work Sans"/>
                <a:cs typeface="Work Sans"/>
                <a:sym typeface="Work Sans"/>
              </a:rPr>
              <a:t> de </a:t>
            </a:r>
            <a:r>
              <a:rPr lang="en-US" sz="1299" dirty="0" err="1">
                <a:solidFill>
                  <a:srgbClr val="000000"/>
                </a:solidFill>
                <a:latin typeface="Work Sans"/>
                <a:ea typeface="Work Sans"/>
                <a:cs typeface="Work Sans"/>
                <a:sym typeface="Work Sans"/>
              </a:rPr>
              <a:t>Investigación</a:t>
            </a:r>
            <a:r>
              <a:rPr lang="en-US" sz="1299" dirty="0">
                <a:solidFill>
                  <a:srgbClr val="000000"/>
                </a:solidFill>
                <a:latin typeface="Work Sans"/>
                <a:ea typeface="Work Sans"/>
                <a:cs typeface="Work Sans"/>
                <a:sym typeface="Work Sans"/>
              </a:rPr>
              <a:t> AASI CIES SENA </a:t>
            </a:r>
            <a:r>
              <a:rPr lang="en-US" sz="1299">
                <a:solidFill>
                  <a:srgbClr val="000000"/>
                </a:solidFill>
                <a:latin typeface="Work Sans"/>
                <a:ea typeface="Work Sans"/>
                <a:cs typeface="Work Sans"/>
                <a:sym typeface="Work Sans"/>
              </a:rPr>
              <a:t>Regional </a:t>
            </a:r>
            <a:r>
              <a:rPr lang="en-US" sz="1299" u="sng">
                <a:solidFill>
                  <a:srgbClr val="000000"/>
                </a:solidFill>
                <a:latin typeface="Work Sans"/>
                <a:ea typeface="Work Sans"/>
                <a:cs typeface="Work Sans"/>
                <a:sym typeface="Work Sans"/>
              </a:rPr>
              <a:t>Huila-Neiva</a:t>
            </a:r>
            <a:r>
              <a:rPr lang="en-US" sz="1299">
                <a:solidFill>
                  <a:srgbClr val="000000"/>
                </a:solidFill>
                <a:latin typeface="Work Sans"/>
                <a:ea typeface="Work Sans"/>
                <a:cs typeface="Work Sans"/>
                <a:sym typeface="Work Sans"/>
              </a:rPr>
              <a:t> </a:t>
            </a:r>
            <a:endParaRPr lang="en-US" sz="1299" dirty="0">
              <a:solidFill>
                <a:srgbClr val="000000"/>
              </a:solidFill>
              <a:latin typeface="Work Sans"/>
              <a:ea typeface="Work Sans"/>
              <a:cs typeface="Work Sans"/>
              <a:sym typeface="Work Sans"/>
            </a:endParaRPr>
          </a:p>
        </p:txBody>
      </p:sp>
      <p:sp>
        <p:nvSpPr>
          <p:cNvPr id="23" name="Freeform 23"/>
          <p:cNvSpPr/>
          <p:nvPr/>
        </p:nvSpPr>
        <p:spPr>
          <a:xfrm>
            <a:off x="269356" y="4253700"/>
            <a:ext cx="4495223" cy="2994942"/>
          </a:xfrm>
          <a:custGeom>
            <a:avLst/>
            <a:gdLst/>
            <a:ahLst/>
            <a:cxnLst/>
            <a:rect l="l" t="t" r="r" b="b"/>
            <a:pathLst>
              <a:path w="4495223" h="2994942">
                <a:moveTo>
                  <a:pt x="0" y="0"/>
                </a:moveTo>
                <a:lnTo>
                  <a:pt x="4495223" y="0"/>
                </a:lnTo>
                <a:lnTo>
                  <a:pt x="4495223" y="2994943"/>
                </a:lnTo>
                <a:lnTo>
                  <a:pt x="0" y="2994943"/>
                </a:lnTo>
                <a:lnTo>
                  <a:pt x="0" y="0"/>
                </a:lnTo>
                <a:close/>
              </a:path>
            </a:pathLst>
          </a:custGeom>
          <a:blipFill>
            <a:blip>
              <a:extLst>
                <a:ext uri="{96DAC541-7B7A-43D3-8B79-37D633B846F1}">
                  <asvg:svgBlip xmlns:asvg="http://schemas.microsoft.com/office/drawing/2016/SVG/main" r:embed="rId19"/>
                </a:ext>
              </a:extLst>
            </a:blip>
            <a:stretch>
              <a:fillRect/>
            </a:stretch>
          </a:blipFill>
          <a:ln cap="sq">
            <a:noFill/>
            <a:prstDash val="solid"/>
            <a:miter/>
          </a:ln>
        </p:spPr>
        <p:txBody>
          <a:bodyPr/>
          <a:lstStyle/>
          <a:p>
            <a:endParaRPr lang="es-CO"/>
          </a:p>
        </p:txBody>
      </p:sp>
      <p:sp>
        <p:nvSpPr>
          <p:cNvPr id="24" name="Freeform 24"/>
          <p:cNvSpPr/>
          <p:nvPr/>
        </p:nvSpPr>
        <p:spPr>
          <a:xfrm>
            <a:off x="85725" y="3982054"/>
            <a:ext cx="4325417" cy="729536"/>
          </a:xfrm>
          <a:custGeom>
            <a:avLst/>
            <a:gdLst/>
            <a:ahLst/>
            <a:cxnLst/>
            <a:rect l="l" t="t" r="r" b="b"/>
            <a:pathLst>
              <a:path w="4325417" h="729536">
                <a:moveTo>
                  <a:pt x="0" y="0"/>
                </a:moveTo>
                <a:lnTo>
                  <a:pt x="4325417" y="0"/>
                </a:lnTo>
                <a:lnTo>
                  <a:pt x="4325417" y="729536"/>
                </a:lnTo>
                <a:lnTo>
                  <a:pt x="0" y="729536"/>
                </a:lnTo>
                <a:lnTo>
                  <a:pt x="0" y="0"/>
                </a:lnTo>
                <a:close/>
              </a:path>
            </a:pathLst>
          </a:custGeom>
          <a:blipFill>
            <a:blip r:embed="rId20"/>
            <a:stretch>
              <a:fillRect r="-2495"/>
            </a:stretch>
          </a:blipFill>
        </p:spPr>
        <p:txBody>
          <a:bodyPr/>
          <a:lstStyle/>
          <a:p>
            <a:endParaRPr lang="es-CO" dirty="0"/>
          </a:p>
        </p:txBody>
      </p:sp>
      <p:sp>
        <p:nvSpPr>
          <p:cNvPr id="25" name="Freeform 25"/>
          <p:cNvSpPr/>
          <p:nvPr/>
        </p:nvSpPr>
        <p:spPr>
          <a:xfrm>
            <a:off x="309310" y="4019550"/>
            <a:ext cx="476238" cy="468300"/>
          </a:xfrm>
          <a:custGeom>
            <a:avLst/>
            <a:gdLst/>
            <a:ahLst/>
            <a:cxnLst/>
            <a:rect l="l" t="t" r="r" b="b"/>
            <a:pathLst>
              <a:path w="476238" h="468300">
                <a:moveTo>
                  <a:pt x="0" y="0"/>
                </a:moveTo>
                <a:lnTo>
                  <a:pt x="476237" y="0"/>
                </a:lnTo>
                <a:lnTo>
                  <a:pt x="476237" y="468300"/>
                </a:lnTo>
                <a:lnTo>
                  <a:pt x="0" y="468300"/>
                </a:lnTo>
                <a:lnTo>
                  <a:pt x="0" y="0"/>
                </a:lnTo>
                <a:close/>
              </a:path>
            </a:pathLst>
          </a:custGeom>
          <a:blipFill>
            <a:blip r:embed="rId21"/>
            <a:stretch>
              <a:fillRect/>
            </a:stretch>
          </a:blipFill>
        </p:spPr>
        <p:txBody>
          <a:bodyPr/>
          <a:lstStyle/>
          <a:p>
            <a:endParaRPr lang="es-CO"/>
          </a:p>
        </p:txBody>
      </p:sp>
      <p:sp>
        <p:nvSpPr>
          <p:cNvPr id="26" name="Freeform 26"/>
          <p:cNvSpPr/>
          <p:nvPr/>
        </p:nvSpPr>
        <p:spPr>
          <a:xfrm>
            <a:off x="276225" y="4091072"/>
            <a:ext cx="509322" cy="516670"/>
          </a:xfrm>
          <a:custGeom>
            <a:avLst/>
            <a:gdLst/>
            <a:ahLst/>
            <a:cxnLst/>
            <a:rect l="l" t="t" r="r" b="b"/>
            <a:pathLst>
              <a:path w="509322" h="516670">
                <a:moveTo>
                  <a:pt x="0" y="0"/>
                </a:moveTo>
                <a:lnTo>
                  <a:pt x="509322" y="0"/>
                </a:lnTo>
                <a:lnTo>
                  <a:pt x="509322" y="516670"/>
                </a:lnTo>
                <a:lnTo>
                  <a:pt x="0" y="516670"/>
                </a:lnTo>
                <a:lnTo>
                  <a:pt x="0" y="0"/>
                </a:lnTo>
                <a:close/>
              </a:path>
            </a:pathLst>
          </a:custGeom>
          <a:blipFill>
            <a:blip>
              <a:extLst>
                <a:ext uri="{96DAC541-7B7A-43D3-8B79-37D633B846F1}">
                  <asvg:svgBlip xmlns:asvg="http://schemas.microsoft.com/office/drawing/2016/SVG/main" r:embed="rId22"/>
                </a:ext>
              </a:extLst>
            </a:blip>
            <a:stretch>
              <a:fillRect/>
            </a:stretch>
          </a:blipFill>
        </p:spPr>
        <p:txBody>
          <a:bodyPr/>
          <a:lstStyle/>
          <a:p>
            <a:endParaRPr lang="es-CO"/>
          </a:p>
        </p:txBody>
      </p:sp>
      <p:sp>
        <p:nvSpPr>
          <p:cNvPr id="27" name="Freeform 27"/>
          <p:cNvSpPr/>
          <p:nvPr/>
        </p:nvSpPr>
        <p:spPr>
          <a:xfrm>
            <a:off x="4850304" y="4210050"/>
            <a:ext cx="4522296" cy="3012979"/>
          </a:xfrm>
          <a:custGeom>
            <a:avLst/>
            <a:gdLst/>
            <a:ahLst/>
            <a:cxnLst/>
            <a:rect l="l" t="t" r="r" b="b"/>
            <a:pathLst>
              <a:path w="4522296" h="3012979">
                <a:moveTo>
                  <a:pt x="0" y="0"/>
                </a:moveTo>
                <a:lnTo>
                  <a:pt x="4522296" y="0"/>
                </a:lnTo>
                <a:lnTo>
                  <a:pt x="4522296" y="3012979"/>
                </a:lnTo>
                <a:lnTo>
                  <a:pt x="0" y="3012979"/>
                </a:lnTo>
                <a:lnTo>
                  <a:pt x="0" y="0"/>
                </a:lnTo>
                <a:close/>
              </a:path>
            </a:pathLst>
          </a:custGeom>
          <a:blipFill>
            <a:blip>
              <a:extLst>
                <a:ext uri="{96DAC541-7B7A-43D3-8B79-37D633B846F1}">
                  <asvg:svgBlip xmlns:asvg="http://schemas.microsoft.com/office/drawing/2016/SVG/main" r:embed="rId23"/>
                </a:ext>
              </a:extLst>
            </a:blip>
            <a:stretch>
              <a:fillRect/>
            </a:stretch>
          </a:blipFill>
          <a:ln cap="sq">
            <a:noFill/>
            <a:prstDash val="solid"/>
            <a:miter/>
          </a:ln>
        </p:spPr>
        <p:txBody>
          <a:bodyPr/>
          <a:lstStyle/>
          <a:p>
            <a:endParaRPr lang="es-CO"/>
          </a:p>
        </p:txBody>
      </p:sp>
      <p:sp>
        <p:nvSpPr>
          <p:cNvPr id="28" name="Freeform 28"/>
          <p:cNvSpPr/>
          <p:nvPr/>
        </p:nvSpPr>
        <p:spPr>
          <a:xfrm>
            <a:off x="4696892" y="3943350"/>
            <a:ext cx="4266482" cy="702079"/>
          </a:xfrm>
          <a:custGeom>
            <a:avLst/>
            <a:gdLst/>
            <a:ahLst/>
            <a:cxnLst/>
            <a:rect l="l" t="t" r="r" b="b"/>
            <a:pathLst>
              <a:path w="4266482" h="702079">
                <a:moveTo>
                  <a:pt x="0" y="0"/>
                </a:moveTo>
                <a:lnTo>
                  <a:pt x="4266482" y="0"/>
                </a:lnTo>
                <a:lnTo>
                  <a:pt x="4266482" y="702079"/>
                </a:lnTo>
                <a:lnTo>
                  <a:pt x="0" y="702079"/>
                </a:lnTo>
                <a:lnTo>
                  <a:pt x="0" y="0"/>
                </a:lnTo>
                <a:close/>
              </a:path>
            </a:pathLst>
          </a:custGeom>
          <a:blipFill>
            <a:blip r:embed="rId24"/>
            <a:stretch>
              <a:fillRect/>
            </a:stretch>
          </a:blipFill>
        </p:spPr>
        <p:txBody>
          <a:bodyPr/>
          <a:lstStyle/>
          <a:p>
            <a:endParaRPr lang="es-CO"/>
          </a:p>
        </p:txBody>
      </p:sp>
      <p:sp>
        <p:nvSpPr>
          <p:cNvPr id="29" name="Freeform 29"/>
          <p:cNvSpPr/>
          <p:nvPr/>
        </p:nvSpPr>
        <p:spPr>
          <a:xfrm>
            <a:off x="4945500" y="4038600"/>
            <a:ext cx="509322" cy="516670"/>
          </a:xfrm>
          <a:custGeom>
            <a:avLst/>
            <a:gdLst/>
            <a:ahLst/>
            <a:cxnLst/>
            <a:rect l="l" t="t" r="r" b="b"/>
            <a:pathLst>
              <a:path w="509322" h="516670">
                <a:moveTo>
                  <a:pt x="0" y="0"/>
                </a:moveTo>
                <a:lnTo>
                  <a:pt x="509322" y="0"/>
                </a:lnTo>
                <a:lnTo>
                  <a:pt x="509322" y="516670"/>
                </a:lnTo>
                <a:lnTo>
                  <a:pt x="0" y="516670"/>
                </a:lnTo>
                <a:lnTo>
                  <a:pt x="0" y="0"/>
                </a:lnTo>
                <a:close/>
              </a:path>
            </a:pathLst>
          </a:custGeom>
          <a:blipFill>
            <a:blip>
              <a:extLst>
                <a:ext uri="{96DAC541-7B7A-43D3-8B79-37D633B846F1}">
                  <asvg:svgBlip xmlns:asvg="http://schemas.microsoft.com/office/drawing/2016/SVG/main" r:embed="rId22"/>
                </a:ext>
              </a:extLst>
            </a:blip>
            <a:stretch>
              <a:fillRect/>
            </a:stretch>
          </a:blipFill>
        </p:spPr>
        <p:txBody>
          <a:bodyPr/>
          <a:lstStyle/>
          <a:p>
            <a:endParaRPr lang="es-CO"/>
          </a:p>
        </p:txBody>
      </p:sp>
      <p:sp>
        <p:nvSpPr>
          <p:cNvPr id="30" name="Freeform 30"/>
          <p:cNvSpPr/>
          <p:nvPr/>
        </p:nvSpPr>
        <p:spPr>
          <a:xfrm>
            <a:off x="5054373" y="4171588"/>
            <a:ext cx="291576" cy="286473"/>
          </a:xfrm>
          <a:custGeom>
            <a:avLst/>
            <a:gdLst/>
            <a:ahLst/>
            <a:cxnLst/>
            <a:rect l="l" t="t" r="r" b="b"/>
            <a:pathLst>
              <a:path w="291576" h="286473">
                <a:moveTo>
                  <a:pt x="0" y="0"/>
                </a:moveTo>
                <a:lnTo>
                  <a:pt x="291575" y="0"/>
                </a:lnTo>
                <a:lnTo>
                  <a:pt x="291575" y="286474"/>
                </a:lnTo>
                <a:lnTo>
                  <a:pt x="0" y="286474"/>
                </a:lnTo>
                <a:lnTo>
                  <a:pt x="0" y="0"/>
                </a:lnTo>
                <a:close/>
              </a:path>
            </a:pathLst>
          </a:custGeom>
          <a:blipFill>
            <a:blip>
              <a:extLst>
                <a:ext uri="{96DAC541-7B7A-43D3-8B79-37D633B846F1}">
                  <asvg:svgBlip xmlns:asvg="http://schemas.microsoft.com/office/drawing/2016/SVG/main" r:embed="rId13"/>
                </a:ext>
              </a:extLst>
            </a:blip>
            <a:stretch>
              <a:fillRect/>
            </a:stretch>
          </a:blipFill>
        </p:spPr>
        <p:txBody>
          <a:bodyPr/>
          <a:lstStyle/>
          <a:p>
            <a:endParaRPr lang="es-CO"/>
          </a:p>
        </p:txBody>
      </p:sp>
      <p:sp>
        <p:nvSpPr>
          <p:cNvPr id="32" name="Freeform 32"/>
          <p:cNvSpPr/>
          <p:nvPr/>
        </p:nvSpPr>
        <p:spPr>
          <a:xfrm>
            <a:off x="283999" y="7514699"/>
            <a:ext cx="4445353" cy="2961717"/>
          </a:xfrm>
          <a:custGeom>
            <a:avLst/>
            <a:gdLst/>
            <a:ahLst/>
            <a:cxnLst/>
            <a:rect l="l" t="t" r="r" b="b"/>
            <a:pathLst>
              <a:path w="4445353" h="2961717">
                <a:moveTo>
                  <a:pt x="0" y="0"/>
                </a:moveTo>
                <a:lnTo>
                  <a:pt x="4445353" y="0"/>
                </a:lnTo>
                <a:lnTo>
                  <a:pt x="4445353" y="2961717"/>
                </a:lnTo>
                <a:lnTo>
                  <a:pt x="0" y="2961717"/>
                </a:lnTo>
                <a:lnTo>
                  <a:pt x="0" y="0"/>
                </a:lnTo>
                <a:close/>
              </a:path>
            </a:pathLst>
          </a:custGeom>
          <a:blipFill>
            <a:blip>
              <a:extLst>
                <a:ext uri="{96DAC541-7B7A-43D3-8B79-37D633B846F1}">
                  <asvg:svgBlip xmlns:asvg="http://schemas.microsoft.com/office/drawing/2016/SVG/main" r:embed="rId25"/>
                </a:ext>
              </a:extLst>
            </a:blip>
            <a:stretch>
              <a:fillRect/>
            </a:stretch>
          </a:blipFill>
          <a:ln cap="sq">
            <a:noFill/>
            <a:prstDash val="solid"/>
            <a:miter/>
          </a:ln>
        </p:spPr>
        <p:txBody>
          <a:bodyPr/>
          <a:lstStyle/>
          <a:p>
            <a:endParaRPr lang="es-CO"/>
          </a:p>
        </p:txBody>
      </p:sp>
      <p:sp>
        <p:nvSpPr>
          <p:cNvPr id="33" name="Freeform 33"/>
          <p:cNvSpPr/>
          <p:nvPr/>
        </p:nvSpPr>
        <p:spPr>
          <a:xfrm>
            <a:off x="105478" y="7291756"/>
            <a:ext cx="4285911" cy="705276"/>
          </a:xfrm>
          <a:custGeom>
            <a:avLst/>
            <a:gdLst/>
            <a:ahLst/>
            <a:cxnLst/>
            <a:rect l="l" t="t" r="r" b="b"/>
            <a:pathLst>
              <a:path w="4285911" h="705276">
                <a:moveTo>
                  <a:pt x="0" y="0"/>
                </a:moveTo>
                <a:lnTo>
                  <a:pt x="4285911" y="0"/>
                </a:lnTo>
                <a:lnTo>
                  <a:pt x="4285911" y="705277"/>
                </a:lnTo>
                <a:lnTo>
                  <a:pt x="0" y="705277"/>
                </a:lnTo>
                <a:lnTo>
                  <a:pt x="0" y="0"/>
                </a:lnTo>
                <a:close/>
              </a:path>
            </a:pathLst>
          </a:custGeom>
          <a:blipFill>
            <a:blip r:embed="rId26"/>
            <a:stretch>
              <a:fillRect/>
            </a:stretch>
          </a:blipFill>
        </p:spPr>
        <p:txBody>
          <a:bodyPr/>
          <a:lstStyle/>
          <a:p>
            <a:endParaRPr lang="es-CO"/>
          </a:p>
        </p:txBody>
      </p:sp>
      <p:sp>
        <p:nvSpPr>
          <p:cNvPr id="34" name="Freeform 34"/>
          <p:cNvSpPr/>
          <p:nvPr/>
        </p:nvSpPr>
        <p:spPr>
          <a:xfrm>
            <a:off x="2105119" y="8455310"/>
            <a:ext cx="401556" cy="401556"/>
          </a:xfrm>
          <a:custGeom>
            <a:avLst/>
            <a:gdLst/>
            <a:ahLst/>
            <a:cxnLst/>
            <a:rect l="l" t="t" r="r" b="b"/>
            <a:pathLst>
              <a:path w="401556" h="401556">
                <a:moveTo>
                  <a:pt x="0" y="0"/>
                </a:moveTo>
                <a:lnTo>
                  <a:pt x="401556" y="0"/>
                </a:lnTo>
                <a:lnTo>
                  <a:pt x="401556" y="401556"/>
                </a:lnTo>
                <a:lnTo>
                  <a:pt x="0" y="401556"/>
                </a:lnTo>
                <a:lnTo>
                  <a:pt x="0" y="0"/>
                </a:lnTo>
                <a:close/>
              </a:path>
            </a:pathLst>
          </a:custGeom>
          <a:blipFill>
            <a:blip>
              <a:extLst>
                <a:ext uri="{96DAC541-7B7A-43D3-8B79-37D633B846F1}">
                  <asvg:svgBlip xmlns:asvg="http://schemas.microsoft.com/office/drawing/2016/SVG/main" r:embed="rId27"/>
                </a:ext>
              </a:extLst>
            </a:blip>
            <a:stretch>
              <a:fillRect/>
            </a:stretch>
          </a:blipFill>
        </p:spPr>
        <p:txBody>
          <a:bodyPr/>
          <a:lstStyle/>
          <a:p>
            <a:endParaRPr lang="es-CO"/>
          </a:p>
        </p:txBody>
      </p:sp>
      <p:sp>
        <p:nvSpPr>
          <p:cNvPr id="35" name="Freeform 35"/>
          <p:cNvSpPr/>
          <p:nvPr/>
        </p:nvSpPr>
        <p:spPr>
          <a:xfrm>
            <a:off x="322331" y="7366536"/>
            <a:ext cx="463216" cy="469899"/>
          </a:xfrm>
          <a:custGeom>
            <a:avLst/>
            <a:gdLst/>
            <a:ahLst/>
            <a:cxnLst/>
            <a:rect l="l" t="t" r="r" b="b"/>
            <a:pathLst>
              <a:path w="463216" h="469899">
                <a:moveTo>
                  <a:pt x="0" y="0"/>
                </a:moveTo>
                <a:lnTo>
                  <a:pt x="463216" y="0"/>
                </a:lnTo>
                <a:lnTo>
                  <a:pt x="463216" y="469900"/>
                </a:lnTo>
                <a:lnTo>
                  <a:pt x="0" y="469900"/>
                </a:lnTo>
                <a:lnTo>
                  <a:pt x="0" y="0"/>
                </a:lnTo>
                <a:close/>
              </a:path>
            </a:pathLst>
          </a:custGeom>
          <a:blipFill>
            <a:blip>
              <a:extLst>
                <a:ext uri="{96DAC541-7B7A-43D3-8B79-37D633B846F1}">
                  <asvg:svgBlip xmlns:asvg="http://schemas.microsoft.com/office/drawing/2016/SVG/main" r:embed="rId22"/>
                </a:ext>
              </a:extLst>
            </a:blip>
            <a:stretch>
              <a:fillRect/>
            </a:stretch>
          </a:blipFill>
        </p:spPr>
        <p:txBody>
          <a:bodyPr/>
          <a:lstStyle/>
          <a:p>
            <a:endParaRPr lang="es-CO"/>
          </a:p>
        </p:txBody>
      </p:sp>
      <p:sp>
        <p:nvSpPr>
          <p:cNvPr id="36" name="Freeform 36"/>
          <p:cNvSpPr/>
          <p:nvPr/>
        </p:nvSpPr>
        <p:spPr>
          <a:xfrm>
            <a:off x="426570" y="7438499"/>
            <a:ext cx="287521" cy="287521"/>
          </a:xfrm>
          <a:custGeom>
            <a:avLst/>
            <a:gdLst/>
            <a:ahLst/>
            <a:cxnLst/>
            <a:rect l="l" t="t" r="r" b="b"/>
            <a:pathLst>
              <a:path w="287521" h="287521">
                <a:moveTo>
                  <a:pt x="0" y="0"/>
                </a:moveTo>
                <a:lnTo>
                  <a:pt x="287521" y="0"/>
                </a:lnTo>
                <a:lnTo>
                  <a:pt x="287521" y="287521"/>
                </a:lnTo>
                <a:lnTo>
                  <a:pt x="0" y="287521"/>
                </a:lnTo>
                <a:lnTo>
                  <a:pt x="0" y="0"/>
                </a:lnTo>
                <a:close/>
              </a:path>
            </a:pathLst>
          </a:custGeom>
          <a:blipFill>
            <a:blip>
              <a:extLst>
                <a:ext uri="{96DAC541-7B7A-43D3-8B79-37D633B846F1}">
                  <asvg:svgBlip xmlns:asvg="http://schemas.microsoft.com/office/drawing/2016/SVG/main" r:embed="rId27"/>
                </a:ext>
              </a:extLst>
            </a:blip>
            <a:stretch>
              <a:fillRect/>
            </a:stretch>
          </a:blipFill>
        </p:spPr>
        <p:txBody>
          <a:bodyPr/>
          <a:lstStyle/>
          <a:p>
            <a:endParaRPr lang="es-CO"/>
          </a:p>
        </p:txBody>
      </p:sp>
      <p:sp>
        <p:nvSpPr>
          <p:cNvPr id="37" name="TextBox 37"/>
          <p:cNvSpPr txBox="1"/>
          <p:nvPr/>
        </p:nvSpPr>
        <p:spPr>
          <a:xfrm>
            <a:off x="5676595" y="9420944"/>
            <a:ext cx="1277722" cy="207578"/>
          </a:xfrm>
          <a:prstGeom prst="rect">
            <a:avLst/>
          </a:prstGeom>
        </p:spPr>
        <p:txBody>
          <a:bodyPr lIns="0" tIns="0" rIns="0" bIns="0" rtlCol="0" anchor="t">
            <a:spAutoFit/>
          </a:bodyPr>
          <a:lstStyle/>
          <a:p>
            <a:pPr algn="l">
              <a:lnSpc>
                <a:spcPts val="1683"/>
              </a:lnSpc>
            </a:pPr>
            <a:r>
              <a:rPr lang="en-US" sz="1202" b="1" dirty="0">
                <a:solidFill>
                  <a:srgbClr val="FFFFFF"/>
                </a:solidFill>
                <a:latin typeface="Work Sans Ultra-Bold"/>
                <a:ea typeface="Work Sans Ultra-Bold"/>
                <a:cs typeface="Work Sans Ultra-Bold"/>
                <a:sym typeface="Work Sans Ultra-Bold"/>
              </a:rPr>
              <a:t>4. </a:t>
            </a:r>
            <a:endParaRPr lang="en-US" sz="1202" b="1" dirty="0">
              <a:solidFill>
                <a:srgbClr val="FF0000"/>
              </a:solidFill>
              <a:latin typeface="Work Sans Ultra-Bold"/>
              <a:ea typeface="Work Sans Ultra-Bold"/>
              <a:cs typeface="Work Sans Ultra-Bold"/>
              <a:sym typeface="Work Sans Ultra-Bold"/>
            </a:endParaRPr>
          </a:p>
        </p:txBody>
      </p:sp>
      <p:sp>
        <p:nvSpPr>
          <p:cNvPr id="39" name="TextBox 39"/>
          <p:cNvSpPr txBox="1"/>
          <p:nvPr/>
        </p:nvSpPr>
        <p:spPr>
          <a:xfrm>
            <a:off x="846415" y="7510054"/>
            <a:ext cx="1857480" cy="236120"/>
          </a:xfrm>
          <a:prstGeom prst="rect">
            <a:avLst/>
          </a:prstGeom>
        </p:spPr>
        <p:txBody>
          <a:bodyPr lIns="0" tIns="0" rIns="0" bIns="0" rtlCol="0" anchor="t">
            <a:spAutoFit/>
          </a:bodyPr>
          <a:lstStyle/>
          <a:p>
            <a:pPr marL="140619" lvl="1" algn="l">
              <a:lnSpc>
                <a:spcPts val="1953"/>
              </a:lnSpc>
            </a:pPr>
            <a:r>
              <a:rPr lang="en-US" sz="1302" b="1" dirty="0">
                <a:solidFill>
                  <a:srgbClr val="FFFFFF"/>
                </a:solidFill>
                <a:latin typeface="Work Sans Ultra-Bold"/>
                <a:ea typeface="Work Sans Ultra-Bold"/>
                <a:cs typeface="Work Sans Ultra-Bold"/>
                <a:sym typeface="Work Sans Ultra-Bold"/>
              </a:rPr>
              <a:t>3. METODOLOGÍA</a:t>
            </a:r>
          </a:p>
        </p:txBody>
      </p:sp>
      <p:sp>
        <p:nvSpPr>
          <p:cNvPr id="40" name="Freeform 40"/>
          <p:cNvSpPr/>
          <p:nvPr/>
        </p:nvSpPr>
        <p:spPr>
          <a:xfrm>
            <a:off x="4854269" y="7432579"/>
            <a:ext cx="4518331" cy="3010338"/>
          </a:xfrm>
          <a:custGeom>
            <a:avLst/>
            <a:gdLst/>
            <a:ahLst/>
            <a:cxnLst/>
            <a:rect l="l" t="t" r="r" b="b"/>
            <a:pathLst>
              <a:path w="4518331" h="3010338">
                <a:moveTo>
                  <a:pt x="0" y="0"/>
                </a:moveTo>
                <a:lnTo>
                  <a:pt x="4518331" y="0"/>
                </a:lnTo>
                <a:lnTo>
                  <a:pt x="4518331" y="3010338"/>
                </a:lnTo>
                <a:lnTo>
                  <a:pt x="0" y="3010338"/>
                </a:lnTo>
                <a:lnTo>
                  <a:pt x="0" y="0"/>
                </a:lnTo>
                <a:close/>
              </a:path>
            </a:pathLst>
          </a:custGeom>
          <a:blipFill>
            <a:blip>
              <a:extLst>
                <a:ext uri="{96DAC541-7B7A-43D3-8B79-37D633B846F1}">
                  <asvg:svgBlip xmlns:asvg="http://schemas.microsoft.com/office/drawing/2016/SVG/main" r:embed="rId28"/>
                </a:ext>
              </a:extLst>
            </a:blip>
            <a:stretch>
              <a:fillRect/>
            </a:stretch>
          </a:blipFill>
          <a:ln cap="sq">
            <a:noFill/>
            <a:prstDash val="solid"/>
            <a:miter/>
          </a:ln>
        </p:spPr>
        <p:txBody>
          <a:bodyPr/>
          <a:lstStyle/>
          <a:p>
            <a:endParaRPr lang="es-CO"/>
          </a:p>
        </p:txBody>
      </p:sp>
      <p:sp>
        <p:nvSpPr>
          <p:cNvPr id="41" name="Freeform 41"/>
          <p:cNvSpPr/>
          <p:nvPr/>
        </p:nvSpPr>
        <p:spPr>
          <a:xfrm>
            <a:off x="4767881" y="7271286"/>
            <a:ext cx="4294539" cy="706696"/>
          </a:xfrm>
          <a:custGeom>
            <a:avLst/>
            <a:gdLst/>
            <a:ahLst/>
            <a:cxnLst/>
            <a:rect l="l" t="t" r="r" b="b"/>
            <a:pathLst>
              <a:path w="4294539" h="706696">
                <a:moveTo>
                  <a:pt x="0" y="0"/>
                </a:moveTo>
                <a:lnTo>
                  <a:pt x="4294538" y="0"/>
                </a:lnTo>
                <a:lnTo>
                  <a:pt x="4294538" y="706697"/>
                </a:lnTo>
                <a:lnTo>
                  <a:pt x="0" y="706697"/>
                </a:lnTo>
                <a:lnTo>
                  <a:pt x="0" y="0"/>
                </a:lnTo>
                <a:close/>
              </a:path>
            </a:pathLst>
          </a:custGeom>
          <a:blipFill>
            <a:blip r:embed="rId29"/>
            <a:stretch>
              <a:fillRect/>
            </a:stretch>
          </a:blipFill>
        </p:spPr>
        <p:txBody>
          <a:bodyPr/>
          <a:lstStyle/>
          <a:p>
            <a:endParaRPr lang="es-CO"/>
          </a:p>
        </p:txBody>
      </p:sp>
      <p:sp>
        <p:nvSpPr>
          <p:cNvPr id="42" name="TextBox 42"/>
          <p:cNvSpPr txBox="1"/>
          <p:nvPr/>
        </p:nvSpPr>
        <p:spPr>
          <a:xfrm>
            <a:off x="5541548" y="7486124"/>
            <a:ext cx="2926080" cy="207504"/>
          </a:xfrm>
          <a:prstGeom prst="rect">
            <a:avLst/>
          </a:prstGeom>
        </p:spPr>
        <p:txBody>
          <a:bodyPr lIns="0" tIns="0" rIns="0" bIns="0" rtlCol="0" anchor="t">
            <a:spAutoFit/>
          </a:bodyPr>
          <a:lstStyle/>
          <a:p>
            <a:pPr marL="129825" lvl="1" algn="l">
              <a:lnSpc>
                <a:spcPts val="1683"/>
              </a:lnSpc>
            </a:pPr>
            <a:r>
              <a:rPr lang="en-US" sz="1202" b="1" dirty="0">
                <a:solidFill>
                  <a:srgbClr val="FFFFFF"/>
                </a:solidFill>
                <a:latin typeface="Work Sans Ultra-Bold"/>
                <a:ea typeface="Work Sans Ultra-Bold"/>
                <a:cs typeface="Work Sans Ultra-Bold"/>
                <a:sym typeface="Work Sans Ultra-Bold"/>
              </a:rPr>
              <a:t>4. AVANCES </a:t>
            </a:r>
          </a:p>
        </p:txBody>
      </p:sp>
      <p:sp>
        <p:nvSpPr>
          <p:cNvPr id="43" name="Freeform 43"/>
          <p:cNvSpPr/>
          <p:nvPr/>
        </p:nvSpPr>
        <p:spPr>
          <a:xfrm>
            <a:off x="5019383" y="7359902"/>
            <a:ext cx="469756" cy="476534"/>
          </a:xfrm>
          <a:custGeom>
            <a:avLst/>
            <a:gdLst/>
            <a:ahLst/>
            <a:cxnLst/>
            <a:rect l="l" t="t" r="r" b="b"/>
            <a:pathLst>
              <a:path w="469756" h="476534">
                <a:moveTo>
                  <a:pt x="0" y="0"/>
                </a:moveTo>
                <a:lnTo>
                  <a:pt x="469757" y="0"/>
                </a:lnTo>
                <a:lnTo>
                  <a:pt x="469757" y="476534"/>
                </a:lnTo>
                <a:lnTo>
                  <a:pt x="0" y="476534"/>
                </a:lnTo>
                <a:lnTo>
                  <a:pt x="0" y="0"/>
                </a:lnTo>
                <a:close/>
              </a:path>
            </a:pathLst>
          </a:custGeom>
          <a:blipFill>
            <a:blip>
              <a:extLst>
                <a:ext uri="{96DAC541-7B7A-43D3-8B79-37D633B846F1}">
                  <asvg:svgBlip xmlns:asvg="http://schemas.microsoft.com/office/drawing/2016/SVG/main" r:embed="rId22"/>
                </a:ext>
              </a:extLst>
            </a:blip>
            <a:stretch>
              <a:fillRect/>
            </a:stretch>
          </a:blipFill>
        </p:spPr>
        <p:txBody>
          <a:bodyPr/>
          <a:lstStyle/>
          <a:p>
            <a:endParaRPr lang="es-CO"/>
          </a:p>
        </p:txBody>
      </p:sp>
      <p:sp>
        <p:nvSpPr>
          <p:cNvPr id="44" name="Freeform 44"/>
          <p:cNvSpPr/>
          <p:nvPr/>
        </p:nvSpPr>
        <p:spPr>
          <a:xfrm>
            <a:off x="5104716" y="7493067"/>
            <a:ext cx="299091" cy="253106"/>
          </a:xfrm>
          <a:custGeom>
            <a:avLst/>
            <a:gdLst/>
            <a:ahLst/>
            <a:cxnLst/>
            <a:rect l="l" t="t" r="r" b="b"/>
            <a:pathLst>
              <a:path w="299091" h="253106">
                <a:moveTo>
                  <a:pt x="0" y="0"/>
                </a:moveTo>
                <a:lnTo>
                  <a:pt x="299091" y="0"/>
                </a:lnTo>
                <a:lnTo>
                  <a:pt x="299091" y="253106"/>
                </a:lnTo>
                <a:lnTo>
                  <a:pt x="0" y="253106"/>
                </a:lnTo>
                <a:lnTo>
                  <a:pt x="0" y="0"/>
                </a:lnTo>
                <a:close/>
              </a:path>
            </a:pathLst>
          </a:custGeom>
          <a:blipFill>
            <a:blip>
              <a:extLst>
                <a:ext uri="{96DAC541-7B7A-43D3-8B79-37D633B846F1}">
                  <asvg:svgBlip xmlns:asvg="http://schemas.microsoft.com/office/drawing/2016/SVG/main" r:embed="rId30"/>
                </a:ext>
              </a:extLst>
            </a:blip>
            <a:stretch>
              <a:fillRect/>
            </a:stretch>
          </a:blipFill>
        </p:spPr>
        <p:txBody>
          <a:bodyPr/>
          <a:lstStyle/>
          <a:p>
            <a:endParaRPr lang="es-CO"/>
          </a:p>
        </p:txBody>
      </p:sp>
      <p:sp>
        <p:nvSpPr>
          <p:cNvPr id="45" name="Freeform 45"/>
          <p:cNvSpPr/>
          <p:nvPr/>
        </p:nvSpPr>
        <p:spPr>
          <a:xfrm>
            <a:off x="309310" y="10574800"/>
            <a:ext cx="4527956" cy="3016751"/>
          </a:xfrm>
          <a:custGeom>
            <a:avLst/>
            <a:gdLst/>
            <a:ahLst/>
            <a:cxnLst/>
            <a:rect l="l" t="t" r="r" b="b"/>
            <a:pathLst>
              <a:path w="4527956" h="3016751">
                <a:moveTo>
                  <a:pt x="0" y="0"/>
                </a:moveTo>
                <a:lnTo>
                  <a:pt x="4527956" y="0"/>
                </a:lnTo>
                <a:lnTo>
                  <a:pt x="4527956" y="3016751"/>
                </a:lnTo>
                <a:lnTo>
                  <a:pt x="0" y="3016751"/>
                </a:lnTo>
                <a:lnTo>
                  <a:pt x="0" y="0"/>
                </a:lnTo>
                <a:close/>
              </a:path>
            </a:pathLst>
          </a:custGeom>
          <a:blipFill>
            <a:blip>
              <a:extLst>
                <a:ext uri="{96DAC541-7B7A-43D3-8B79-37D633B846F1}">
                  <asvg:svgBlip xmlns:asvg="http://schemas.microsoft.com/office/drawing/2016/SVG/main" r:embed="rId31"/>
                </a:ext>
              </a:extLst>
            </a:blip>
            <a:stretch>
              <a:fillRect/>
            </a:stretch>
          </a:blipFill>
          <a:ln cap="sq">
            <a:noFill/>
            <a:prstDash val="solid"/>
            <a:miter/>
          </a:ln>
        </p:spPr>
        <p:txBody>
          <a:bodyPr/>
          <a:lstStyle/>
          <a:p>
            <a:endParaRPr lang="es-CO"/>
          </a:p>
        </p:txBody>
      </p:sp>
      <p:sp>
        <p:nvSpPr>
          <p:cNvPr id="47" name="TextBox 47"/>
          <p:cNvSpPr txBox="1"/>
          <p:nvPr/>
        </p:nvSpPr>
        <p:spPr>
          <a:xfrm>
            <a:off x="831507" y="4092594"/>
            <a:ext cx="3403828" cy="483770"/>
          </a:xfrm>
          <a:prstGeom prst="rect">
            <a:avLst/>
          </a:prstGeom>
        </p:spPr>
        <p:txBody>
          <a:bodyPr lIns="0" tIns="0" rIns="0" bIns="0" rtlCol="0" anchor="t">
            <a:spAutoFit/>
          </a:bodyPr>
          <a:lstStyle/>
          <a:p>
            <a:pPr algn="l">
              <a:lnSpc>
                <a:spcPts val="1953"/>
              </a:lnSpc>
            </a:pPr>
            <a:r>
              <a:rPr lang="en-US" sz="1302" b="1" dirty="0">
                <a:solidFill>
                  <a:srgbClr val="FFFFFF"/>
                </a:solidFill>
                <a:latin typeface="Work Sans Ultra-Bold"/>
                <a:ea typeface="Work Sans Ultra-Bold"/>
                <a:cs typeface="Work Sans Ultra-Bold"/>
                <a:sym typeface="Work Sans Ultra-Bold"/>
              </a:rPr>
              <a:t>1. PLANTEAMIENTO DEL PROBLEMA Y JUSTIFICACIÓN</a:t>
            </a:r>
          </a:p>
        </p:txBody>
      </p:sp>
      <p:sp>
        <p:nvSpPr>
          <p:cNvPr id="48" name="TextBox 48"/>
          <p:cNvSpPr txBox="1"/>
          <p:nvPr/>
        </p:nvSpPr>
        <p:spPr>
          <a:xfrm>
            <a:off x="586570" y="2474748"/>
            <a:ext cx="8356604" cy="568041"/>
          </a:xfrm>
          <a:prstGeom prst="rect">
            <a:avLst/>
          </a:prstGeom>
        </p:spPr>
        <p:txBody>
          <a:bodyPr wrap="square" lIns="0" tIns="0" rIns="0" bIns="0" rtlCol="0" anchor="t">
            <a:spAutoFit/>
          </a:bodyPr>
          <a:lstStyle/>
          <a:p>
            <a:pPr algn="ctr">
              <a:lnSpc>
                <a:spcPts val="2279"/>
              </a:lnSpc>
            </a:pPr>
            <a:r>
              <a:rPr lang="en-US" sz="1628" b="1" dirty="0" err="1">
                <a:solidFill>
                  <a:srgbClr val="FFFFFF"/>
                </a:solidFill>
                <a:latin typeface="Work Sans Ultra-Bold"/>
                <a:ea typeface="Work Sans Ultra-Bold"/>
                <a:cs typeface="Work Sans Ultra-Bold"/>
                <a:sym typeface="Work Sans Ultra-Bold"/>
              </a:rPr>
              <a:t>Implementación</a:t>
            </a:r>
            <a:r>
              <a:rPr lang="en-US" sz="1628" b="1" dirty="0">
                <a:solidFill>
                  <a:srgbClr val="FFFFFF"/>
                </a:solidFill>
                <a:latin typeface="Work Sans Ultra-Bold"/>
                <a:ea typeface="Work Sans Ultra-Bold"/>
                <a:cs typeface="Work Sans Ultra-Bold"/>
                <a:sym typeface="Work Sans Ultra-Bold"/>
              </a:rPr>
              <a:t> de </a:t>
            </a:r>
            <a:r>
              <a:rPr lang="en-US" sz="1628" b="1" dirty="0" err="1">
                <a:solidFill>
                  <a:srgbClr val="FFFFFF"/>
                </a:solidFill>
                <a:latin typeface="Work Sans Ultra-Bold"/>
                <a:ea typeface="Work Sans Ultra-Bold"/>
                <a:cs typeface="Work Sans Ultra-Bold"/>
                <a:sym typeface="Work Sans Ultra-Bold"/>
              </a:rPr>
              <a:t>Estrategias</a:t>
            </a:r>
            <a:r>
              <a:rPr lang="en-US" sz="1628" b="1" dirty="0">
                <a:solidFill>
                  <a:srgbClr val="FFFFFF"/>
                </a:solidFill>
                <a:latin typeface="Work Sans Ultra-Bold"/>
                <a:ea typeface="Work Sans Ultra-Bold"/>
                <a:cs typeface="Work Sans Ultra-Bold"/>
                <a:sym typeface="Work Sans Ultra-Bold"/>
              </a:rPr>
              <a:t> de </a:t>
            </a:r>
            <a:r>
              <a:rPr lang="en-US" sz="1628" b="1" dirty="0" err="1">
                <a:solidFill>
                  <a:srgbClr val="FFFFFF"/>
                </a:solidFill>
                <a:latin typeface="Work Sans Ultra-Bold"/>
                <a:ea typeface="Work Sans Ultra-Bold"/>
                <a:cs typeface="Work Sans Ultra-Bold"/>
                <a:sym typeface="Work Sans Ultra-Bold"/>
              </a:rPr>
              <a:t>Atención</a:t>
            </a:r>
            <a:r>
              <a:rPr lang="en-US" sz="1628" b="1" dirty="0">
                <a:solidFill>
                  <a:srgbClr val="FFFFFF"/>
                </a:solidFill>
                <a:latin typeface="Work Sans Ultra-Bold"/>
                <a:ea typeface="Work Sans Ultra-Bold"/>
                <a:cs typeface="Work Sans Ultra-Bold"/>
                <a:sym typeface="Work Sans Ultra-Bold"/>
              </a:rPr>
              <a:t> con </a:t>
            </a:r>
            <a:r>
              <a:rPr lang="en-US" sz="1628" b="1" dirty="0" err="1">
                <a:solidFill>
                  <a:srgbClr val="FFFFFF"/>
                </a:solidFill>
                <a:latin typeface="Work Sans Ultra-Bold"/>
                <a:ea typeface="Work Sans Ultra-Bold"/>
                <a:cs typeface="Work Sans Ultra-Bold"/>
                <a:sym typeface="Work Sans Ultra-Bold"/>
              </a:rPr>
              <a:t>Enfoque</a:t>
            </a:r>
            <a:r>
              <a:rPr lang="en-US" sz="1628" b="1" dirty="0">
                <a:solidFill>
                  <a:srgbClr val="FFFFFF"/>
                </a:solidFill>
                <a:latin typeface="Work Sans Ultra-Bold"/>
                <a:ea typeface="Work Sans Ultra-Bold"/>
                <a:cs typeface="Work Sans Ultra-Bold"/>
                <a:sym typeface="Work Sans Ultra-Bold"/>
              </a:rPr>
              <a:t> </a:t>
            </a:r>
            <a:r>
              <a:rPr lang="en-US" sz="1628" b="1" dirty="0" err="1">
                <a:solidFill>
                  <a:srgbClr val="FFFFFF"/>
                </a:solidFill>
                <a:latin typeface="Work Sans Ultra-Bold"/>
                <a:ea typeface="Work Sans Ultra-Bold"/>
                <a:cs typeface="Work Sans Ultra-Bold"/>
                <a:sym typeface="Work Sans Ultra-Bold"/>
              </a:rPr>
              <a:t>Pluralista</a:t>
            </a:r>
            <a:r>
              <a:rPr lang="en-US" sz="1628" b="1" dirty="0">
                <a:solidFill>
                  <a:srgbClr val="FFFFFF"/>
                </a:solidFill>
                <a:latin typeface="Work Sans Ultra-Bold"/>
                <a:ea typeface="Work Sans Ultra-Bold"/>
                <a:cs typeface="Work Sans Ultra-Bold"/>
                <a:sym typeface="Work Sans Ultra-Bold"/>
              </a:rPr>
              <a:t> y </a:t>
            </a:r>
            <a:r>
              <a:rPr lang="en-US" sz="1628" b="1" dirty="0" err="1">
                <a:solidFill>
                  <a:srgbClr val="FFFFFF"/>
                </a:solidFill>
                <a:latin typeface="Work Sans Ultra-Bold"/>
                <a:ea typeface="Work Sans Ultra-Bold"/>
                <a:cs typeface="Work Sans Ultra-Bold"/>
                <a:sym typeface="Work Sans Ultra-Bold"/>
              </a:rPr>
              <a:t>Diferencial</a:t>
            </a:r>
            <a:r>
              <a:rPr lang="en-US" sz="1628" b="1" dirty="0">
                <a:solidFill>
                  <a:srgbClr val="FFFFFF"/>
                </a:solidFill>
                <a:latin typeface="Work Sans Ultra-Bold"/>
                <a:ea typeface="Work Sans Ultra-Bold"/>
                <a:cs typeface="Work Sans Ultra-Bold"/>
                <a:sym typeface="Work Sans Ultra-Bold"/>
              </a:rPr>
              <a:t> Centro de la Industria, la Empresa y </a:t>
            </a:r>
            <a:r>
              <a:rPr lang="en-US" sz="1628" b="1" dirty="0" err="1">
                <a:solidFill>
                  <a:srgbClr val="FFFFFF"/>
                </a:solidFill>
                <a:latin typeface="Work Sans Ultra-Bold"/>
                <a:ea typeface="Work Sans Ultra-Bold"/>
                <a:cs typeface="Work Sans Ultra-Bold"/>
                <a:sym typeface="Work Sans Ultra-Bold"/>
              </a:rPr>
              <a:t>los</a:t>
            </a:r>
            <a:r>
              <a:rPr lang="en-US" sz="1628" b="1" dirty="0">
                <a:solidFill>
                  <a:srgbClr val="FFFFFF"/>
                </a:solidFill>
                <a:latin typeface="Work Sans Ultra-Bold"/>
                <a:ea typeface="Work Sans Ultra-Bold"/>
                <a:cs typeface="Work Sans Ultra-Bold"/>
                <a:sym typeface="Work Sans Ultra-Bold"/>
              </a:rPr>
              <a:t> </a:t>
            </a:r>
            <a:r>
              <a:rPr lang="en-US" sz="1628" b="1" dirty="0" err="1">
                <a:solidFill>
                  <a:srgbClr val="FFFFFF"/>
                </a:solidFill>
                <a:latin typeface="Work Sans Ultra-Bold"/>
                <a:ea typeface="Work Sans Ultra-Bold"/>
                <a:cs typeface="Work Sans Ultra-Bold"/>
                <a:sym typeface="Work Sans Ultra-Bold"/>
              </a:rPr>
              <a:t>Servicios</a:t>
            </a:r>
            <a:r>
              <a:rPr lang="en-US" sz="1628" b="1" dirty="0">
                <a:solidFill>
                  <a:srgbClr val="FFFFFF"/>
                </a:solidFill>
                <a:latin typeface="Work Sans Ultra-Bold"/>
                <a:ea typeface="Work Sans Ultra-Bold"/>
                <a:cs typeface="Work Sans Ultra-Bold"/>
                <a:sym typeface="Work Sans Ultra-Bold"/>
              </a:rPr>
              <a:t> – SENA Regional Huila</a:t>
            </a:r>
          </a:p>
        </p:txBody>
      </p:sp>
      <p:sp>
        <p:nvSpPr>
          <p:cNvPr id="49" name="TextBox 49"/>
          <p:cNvSpPr txBox="1"/>
          <p:nvPr/>
        </p:nvSpPr>
        <p:spPr>
          <a:xfrm>
            <a:off x="5515116" y="4159825"/>
            <a:ext cx="1598319" cy="236120"/>
          </a:xfrm>
          <a:prstGeom prst="rect">
            <a:avLst/>
          </a:prstGeom>
        </p:spPr>
        <p:txBody>
          <a:bodyPr lIns="0" tIns="0" rIns="0" bIns="0" rtlCol="0" anchor="t">
            <a:spAutoFit/>
          </a:bodyPr>
          <a:lstStyle/>
          <a:p>
            <a:pPr marL="140619" lvl="1" algn="l">
              <a:lnSpc>
                <a:spcPts val="1953"/>
              </a:lnSpc>
            </a:pPr>
            <a:r>
              <a:rPr lang="en-US" sz="1302" b="1" dirty="0">
                <a:solidFill>
                  <a:srgbClr val="FFFFFF"/>
                </a:solidFill>
                <a:latin typeface="Work Sans Ultra-Bold"/>
                <a:ea typeface="Work Sans Ultra-Bold"/>
                <a:cs typeface="Work Sans Ultra-Bold"/>
                <a:sym typeface="Work Sans Ultra-Bold"/>
              </a:rPr>
              <a:t>2. OBJETIVOS</a:t>
            </a:r>
          </a:p>
        </p:txBody>
      </p:sp>
      <p:sp>
        <p:nvSpPr>
          <p:cNvPr id="51" name="TextBox 51"/>
          <p:cNvSpPr txBox="1"/>
          <p:nvPr/>
        </p:nvSpPr>
        <p:spPr>
          <a:xfrm>
            <a:off x="5077909" y="4680445"/>
            <a:ext cx="4453905" cy="2215991"/>
          </a:xfrm>
          <a:prstGeom prst="rect">
            <a:avLst/>
          </a:prstGeom>
        </p:spPr>
        <p:txBody>
          <a:bodyPr wrap="square" lIns="0" tIns="0" rIns="0" bIns="0" rtlCol="0" anchor="t">
            <a:spAutoFit/>
          </a:bodyPr>
          <a:lstStyle/>
          <a:p>
            <a:r>
              <a:rPr lang="es-CO" sz="1200" b="1" dirty="0"/>
              <a:t>Objetivo general: </a:t>
            </a:r>
          </a:p>
          <a:p>
            <a:endParaRPr lang="es-CO" sz="1200" dirty="0"/>
          </a:p>
          <a:p>
            <a:pPr marL="171450" indent="-171450">
              <a:buFont typeface="Arial" panose="020B0604020202020204" pitchFamily="34" charset="0"/>
              <a:buChar char="•"/>
            </a:pPr>
            <a:r>
              <a:rPr lang="es-CO" sz="1200" dirty="0"/>
              <a:t>Fortalecer las capacidades del CIES SENA Huila para brindar una atención inclusiva con enfoque pluralista y diferencial.</a:t>
            </a:r>
          </a:p>
          <a:p>
            <a:endParaRPr lang="es-CO" sz="1200" dirty="0"/>
          </a:p>
          <a:p>
            <a:r>
              <a:rPr lang="es-CO" sz="1200" b="1" dirty="0"/>
              <a:t>Objetivos específicos:   </a:t>
            </a:r>
          </a:p>
          <a:p>
            <a:endParaRPr lang="es-CO" sz="1200" dirty="0"/>
          </a:p>
          <a:p>
            <a:pPr marL="171450" indent="-171450">
              <a:buFont typeface="Arial" panose="020B0604020202020204" pitchFamily="34" charset="0"/>
              <a:buChar char="•"/>
            </a:pPr>
            <a:r>
              <a:rPr lang="es-CO" sz="1200" dirty="0"/>
              <a:t>Realizar un mapeo de empatía con instructores y administrativos. </a:t>
            </a:r>
          </a:p>
          <a:p>
            <a:pPr marL="171450" indent="-171450">
              <a:buFont typeface="Arial" panose="020B0604020202020204" pitchFamily="34" charset="0"/>
              <a:buChar char="•"/>
            </a:pPr>
            <a:r>
              <a:rPr lang="es-CO" sz="1200" dirty="0"/>
              <a:t>Promover círculos de aprendizaje intercultural. </a:t>
            </a:r>
          </a:p>
          <a:p>
            <a:pPr marL="171450" indent="-171450">
              <a:buFont typeface="Arial" panose="020B0604020202020204" pitchFamily="34" charset="0"/>
              <a:buChar char="•"/>
            </a:pPr>
            <a:r>
              <a:rPr lang="es-CO" sz="1200" dirty="0"/>
              <a:t>Diseñar un libro gráfico con realidad aumentada. </a:t>
            </a:r>
          </a:p>
          <a:p>
            <a:pPr marL="171450" indent="-171450">
              <a:buFont typeface="Arial" panose="020B0604020202020204" pitchFamily="34" charset="0"/>
              <a:buChar char="•"/>
            </a:pPr>
            <a:r>
              <a:rPr lang="es-CO" sz="1200" dirty="0"/>
              <a:t>Implementar rutas de ajustes razonables con analítica e IA. </a:t>
            </a:r>
          </a:p>
          <a:p>
            <a:pPr marL="171450" indent="-171450">
              <a:buFont typeface="Arial" panose="020B0604020202020204" pitchFamily="34" charset="0"/>
              <a:buChar char="•"/>
            </a:pPr>
            <a:r>
              <a:rPr lang="es-CO" sz="1200" dirty="0"/>
              <a:t>Promover laboratorios colaborativos de innovación inclusiva.</a:t>
            </a:r>
          </a:p>
        </p:txBody>
      </p:sp>
      <p:sp>
        <p:nvSpPr>
          <p:cNvPr id="52" name="Freeform 52"/>
          <p:cNvSpPr/>
          <p:nvPr/>
        </p:nvSpPr>
        <p:spPr>
          <a:xfrm>
            <a:off x="375872" y="10476444"/>
            <a:ext cx="4114799" cy="779584"/>
          </a:xfrm>
          <a:custGeom>
            <a:avLst/>
            <a:gdLst/>
            <a:ahLst/>
            <a:cxnLst/>
            <a:rect l="l" t="t" r="r" b="b"/>
            <a:pathLst>
              <a:path w="4114799" h="779584">
                <a:moveTo>
                  <a:pt x="0" y="0"/>
                </a:moveTo>
                <a:lnTo>
                  <a:pt x="4114799" y="0"/>
                </a:lnTo>
                <a:lnTo>
                  <a:pt x="4114799" y="779583"/>
                </a:lnTo>
                <a:lnTo>
                  <a:pt x="0" y="779583"/>
                </a:lnTo>
                <a:lnTo>
                  <a:pt x="0" y="0"/>
                </a:lnTo>
                <a:close/>
              </a:path>
            </a:pathLst>
          </a:custGeom>
          <a:blipFill>
            <a:blip r:embed="rId32"/>
            <a:stretch>
              <a:fillRect l="-7566" r="-7566"/>
            </a:stretch>
          </a:blipFill>
        </p:spPr>
        <p:txBody>
          <a:bodyPr/>
          <a:lstStyle/>
          <a:p>
            <a:endParaRPr lang="es-CO"/>
          </a:p>
        </p:txBody>
      </p:sp>
      <p:sp>
        <p:nvSpPr>
          <p:cNvPr id="53" name="Freeform 53"/>
          <p:cNvSpPr/>
          <p:nvPr/>
        </p:nvSpPr>
        <p:spPr>
          <a:xfrm>
            <a:off x="402638" y="10601250"/>
            <a:ext cx="540730" cy="548531"/>
          </a:xfrm>
          <a:custGeom>
            <a:avLst/>
            <a:gdLst/>
            <a:ahLst/>
            <a:cxnLst/>
            <a:rect l="l" t="t" r="r" b="b"/>
            <a:pathLst>
              <a:path w="540730" h="548531">
                <a:moveTo>
                  <a:pt x="0" y="0"/>
                </a:moveTo>
                <a:lnTo>
                  <a:pt x="540730" y="0"/>
                </a:lnTo>
                <a:lnTo>
                  <a:pt x="540730" y="548531"/>
                </a:lnTo>
                <a:lnTo>
                  <a:pt x="0" y="548531"/>
                </a:lnTo>
                <a:lnTo>
                  <a:pt x="0" y="0"/>
                </a:lnTo>
                <a:close/>
              </a:path>
            </a:pathLst>
          </a:custGeom>
          <a:blipFill>
            <a:blip>
              <a:extLst>
                <a:ext uri="{96DAC541-7B7A-43D3-8B79-37D633B846F1}">
                  <asvg:svgBlip xmlns:asvg="http://schemas.microsoft.com/office/drawing/2016/SVG/main" r:embed="rId22"/>
                </a:ext>
              </a:extLst>
            </a:blip>
            <a:stretch>
              <a:fillRect/>
            </a:stretch>
          </a:blipFill>
        </p:spPr>
        <p:txBody>
          <a:bodyPr/>
          <a:lstStyle/>
          <a:p>
            <a:endParaRPr lang="es-CO"/>
          </a:p>
        </p:txBody>
      </p:sp>
      <p:sp>
        <p:nvSpPr>
          <p:cNvPr id="54" name="Freeform 54"/>
          <p:cNvSpPr/>
          <p:nvPr/>
        </p:nvSpPr>
        <p:spPr>
          <a:xfrm>
            <a:off x="482945" y="10728860"/>
            <a:ext cx="348708" cy="325170"/>
          </a:xfrm>
          <a:custGeom>
            <a:avLst/>
            <a:gdLst/>
            <a:ahLst/>
            <a:cxnLst/>
            <a:rect l="l" t="t" r="r" b="b"/>
            <a:pathLst>
              <a:path w="348708" h="325170">
                <a:moveTo>
                  <a:pt x="0" y="0"/>
                </a:moveTo>
                <a:lnTo>
                  <a:pt x="348708" y="0"/>
                </a:lnTo>
                <a:lnTo>
                  <a:pt x="348708" y="325170"/>
                </a:lnTo>
                <a:lnTo>
                  <a:pt x="0" y="325170"/>
                </a:lnTo>
                <a:lnTo>
                  <a:pt x="0" y="0"/>
                </a:lnTo>
                <a:close/>
              </a:path>
            </a:pathLst>
          </a:custGeom>
          <a:blipFill>
            <a:blip>
              <a:extLst>
                <a:ext uri="{96DAC541-7B7A-43D3-8B79-37D633B846F1}">
                  <asvg:svgBlip xmlns:asvg="http://schemas.microsoft.com/office/drawing/2016/SVG/main" r:embed="rId33"/>
                </a:ext>
              </a:extLst>
            </a:blip>
            <a:stretch>
              <a:fillRect/>
            </a:stretch>
          </a:blipFill>
        </p:spPr>
        <p:txBody>
          <a:bodyPr/>
          <a:lstStyle/>
          <a:p>
            <a:endParaRPr lang="es-CO"/>
          </a:p>
        </p:txBody>
      </p:sp>
      <p:sp>
        <p:nvSpPr>
          <p:cNvPr id="55" name="TextBox 55"/>
          <p:cNvSpPr txBox="1"/>
          <p:nvPr/>
        </p:nvSpPr>
        <p:spPr>
          <a:xfrm>
            <a:off x="1004666" y="10767732"/>
            <a:ext cx="2938684" cy="236082"/>
          </a:xfrm>
          <a:prstGeom prst="rect">
            <a:avLst/>
          </a:prstGeom>
        </p:spPr>
        <p:txBody>
          <a:bodyPr lIns="0" tIns="0" rIns="0" bIns="0" rtlCol="0" anchor="t">
            <a:spAutoFit/>
          </a:bodyPr>
          <a:lstStyle/>
          <a:p>
            <a:pPr marL="140619" lvl="1" algn="l">
              <a:lnSpc>
                <a:spcPts val="1953"/>
              </a:lnSpc>
            </a:pPr>
            <a:r>
              <a:rPr lang="en-US" sz="1302" b="1" dirty="0">
                <a:solidFill>
                  <a:srgbClr val="FFFFFF"/>
                </a:solidFill>
                <a:latin typeface="Work Sans Ultra-Bold"/>
                <a:ea typeface="Work Sans Ultra-Bold"/>
                <a:cs typeface="Work Sans Ultra-Bold"/>
                <a:sym typeface="Work Sans Ultra-Bold"/>
              </a:rPr>
              <a:t>5. RESULTADOS PRELIMINARES</a:t>
            </a:r>
          </a:p>
        </p:txBody>
      </p:sp>
      <p:sp>
        <p:nvSpPr>
          <p:cNvPr id="56" name="Freeform 56"/>
          <p:cNvSpPr/>
          <p:nvPr/>
        </p:nvSpPr>
        <p:spPr>
          <a:xfrm>
            <a:off x="4945500" y="10651213"/>
            <a:ext cx="4453906" cy="2967415"/>
          </a:xfrm>
          <a:custGeom>
            <a:avLst/>
            <a:gdLst/>
            <a:ahLst/>
            <a:cxnLst/>
            <a:rect l="l" t="t" r="r" b="b"/>
            <a:pathLst>
              <a:path w="4453906" h="2967415">
                <a:moveTo>
                  <a:pt x="0" y="0"/>
                </a:moveTo>
                <a:lnTo>
                  <a:pt x="4453906" y="0"/>
                </a:lnTo>
                <a:lnTo>
                  <a:pt x="4453906" y="2967415"/>
                </a:lnTo>
                <a:lnTo>
                  <a:pt x="0" y="2967415"/>
                </a:lnTo>
                <a:lnTo>
                  <a:pt x="0" y="0"/>
                </a:lnTo>
                <a:close/>
              </a:path>
            </a:pathLst>
          </a:custGeom>
          <a:blipFill>
            <a:blip>
              <a:extLst>
                <a:ext uri="{96DAC541-7B7A-43D3-8B79-37D633B846F1}">
                  <asvg:svgBlip xmlns:asvg="http://schemas.microsoft.com/office/drawing/2016/SVG/main" r:embed="rId34"/>
                </a:ext>
              </a:extLst>
            </a:blip>
            <a:stretch>
              <a:fillRect/>
            </a:stretch>
          </a:blipFill>
          <a:ln cap="sq">
            <a:noFill/>
            <a:prstDash val="solid"/>
            <a:miter/>
          </a:ln>
        </p:spPr>
        <p:txBody>
          <a:bodyPr/>
          <a:lstStyle/>
          <a:p>
            <a:endParaRPr lang="es-CO"/>
          </a:p>
        </p:txBody>
      </p:sp>
      <p:sp>
        <p:nvSpPr>
          <p:cNvPr id="57" name="Freeform 57"/>
          <p:cNvSpPr/>
          <p:nvPr/>
        </p:nvSpPr>
        <p:spPr>
          <a:xfrm>
            <a:off x="0" y="13620142"/>
            <a:ext cx="9753600" cy="1010258"/>
          </a:xfrm>
          <a:custGeom>
            <a:avLst/>
            <a:gdLst/>
            <a:ahLst/>
            <a:cxnLst/>
            <a:rect l="l" t="t" r="r" b="b"/>
            <a:pathLst>
              <a:path w="9753600" h="1010258">
                <a:moveTo>
                  <a:pt x="0" y="0"/>
                </a:moveTo>
                <a:lnTo>
                  <a:pt x="9753600" y="0"/>
                </a:lnTo>
                <a:lnTo>
                  <a:pt x="9753600" y="1010258"/>
                </a:lnTo>
                <a:lnTo>
                  <a:pt x="0" y="1010258"/>
                </a:lnTo>
                <a:lnTo>
                  <a:pt x="0" y="0"/>
                </a:lnTo>
                <a:close/>
              </a:path>
            </a:pathLst>
          </a:custGeom>
          <a:blipFill>
            <a:blip r:embed="rId35"/>
            <a:stretch>
              <a:fillRect l="-14170" t="-16163" r="-14170"/>
            </a:stretch>
          </a:blipFill>
        </p:spPr>
        <p:txBody>
          <a:bodyPr/>
          <a:lstStyle/>
          <a:p>
            <a:endParaRPr lang="es-CO" u="sng"/>
          </a:p>
        </p:txBody>
      </p:sp>
      <p:sp>
        <p:nvSpPr>
          <p:cNvPr id="58" name="Freeform 58"/>
          <p:cNvSpPr/>
          <p:nvPr/>
        </p:nvSpPr>
        <p:spPr>
          <a:xfrm>
            <a:off x="4804181" y="10469029"/>
            <a:ext cx="4285911" cy="743376"/>
          </a:xfrm>
          <a:custGeom>
            <a:avLst/>
            <a:gdLst/>
            <a:ahLst/>
            <a:cxnLst/>
            <a:rect l="l" t="t" r="r" b="b"/>
            <a:pathLst>
              <a:path w="4285911" h="743376">
                <a:moveTo>
                  <a:pt x="0" y="0"/>
                </a:moveTo>
                <a:lnTo>
                  <a:pt x="4285911" y="0"/>
                </a:lnTo>
                <a:lnTo>
                  <a:pt x="4285911" y="743376"/>
                </a:lnTo>
                <a:lnTo>
                  <a:pt x="0" y="743376"/>
                </a:lnTo>
                <a:lnTo>
                  <a:pt x="0" y="0"/>
                </a:lnTo>
                <a:close/>
              </a:path>
            </a:pathLst>
          </a:custGeom>
          <a:blipFill>
            <a:blip r:embed="rId36"/>
            <a:stretch>
              <a:fillRect l="-2701" r="-2701"/>
            </a:stretch>
          </a:blipFill>
        </p:spPr>
        <p:txBody>
          <a:bodyPr/>
          <a:lstStyle/>
          <a:p>
            <a:endParaRPr lang="es-CO"/>
          </a:p>
        </p:txBody>
      </p:sp>
      <p:sp>
        <p:nvSpPr>
          <p:cNvPr id="59" name="Freeform 59"/>
          <p:cNvSpPr/>
          <p:nvPr/>
        </p:nvSpPr>
        <p:spPr>
          <a:xfrm>
            <a:off x="4932866" y="10564279"/>
            <a:ext cx="556274" cy="564299"/>
          </a:xfrm>
          <a:custGeom>
            <a:avLst/>
            <a:gdLst/>
            <a:ahLst/>
            <a:cxnLst/>
            <a:rect l="l" t="t" r="r" b="b"/>
            <a:pathLst>
              <a:path w="556274" h="564299">
                <a:moveTo>
                  <a:pt x="0" y="0"/>
                </a:moveTo>
                <a:lnTo>
                  <a:pt x="556274" y="0"/>
                </a:lnTo>
                <a:lnTo>
                  <a:pt x="556274" y="564299"/>
                </a:lnTo>
                <a:lnTo>
                  <a:pt x="0" y="564299"/>
                </a:lnTo>
                <a:lnTo>
                  <a:pt x="0" y="0"/>
                </a:lnTo>
                <a:close/>
              </a:path>
            </a:pathLst>
          </a:custGeom>
          <a:blipFill>
            <a:blip>
              <a:extLst>
                <a:ext uri="{96DAC541-7B7A-43D3-8B79-37D633B846F1}">
                  <asvg:svgBlip xmlns:asvg="http://schemas.microsoft.com/office/drawing/2016/SVG/main" r:embed="rId22"/>
                </a:ext>
              </a:extLst>
            </a:blip>
            <a:stretch>
              <a:fillRect/>
            </a:stretch>
          </a:blipFill>
        </p:spPr>
        <p:txBody>
          <a:bodyPr/>
          <a:lstStyle/>
          <a:p>
            <a:endParaRPr lang="es-CO"/>
          </a:p>
        </p:txBody>
      </p:sp>
      <p:sp>
        <p:nvSpPr>
          <p:cNvPr id="60" name="Freeform 60"/>
          <p:cNvSpPr/>
          <p:nvPr/>
        </p:nvSpPr>
        <p:spPr>
          <a:xfrm>
            <a:off x="5035191" y="10712442"/>
            <a:ext cx="310758" cy="257540"/>
          </a:xfrm>
          <a:custGeom>
            <a:avLst/>
            <a:gdLst/>
            <a:ahLst/>
            <a:cxnLst/>
            <a:rect l="l" t="t" r="r" b="b"/>
            <a:pathLst>
              <a:path w="310758" h="257540">
                <a:moveTo>
                  <a:pt x="0" y="0"/>
                </a:moveTo>
                <a:lnTo>
                  <a:pt x="310757" y="0"/>
                </a:lnTo>
                <a:lnTo>
                  <a:pt x="310757" y="257541"/>
                </a:lnTo>
                <a:lnTo>
                  <a:pt x="0" y="257541"/>
                </a:lnTo>
                <a:lnTo>
                  <a:pt x="0" y="0"/>
                </a:lnTo>
                <a:close/>
              </a:path>
            </a:pathLst>
          </a:custGeom>
          <a:blipFill>
            <a:blip>
              <a:extLst>
                <a:ext uri="{96DAC541-7B7A-43D3-8B79-37D633B846F1}">
                  <asvg:svgBlip xmlns:asvg="http://schemas.microsoft.com/office/drawing/2016/SVG/main" r:embed="rId37"/>
                </a:ext>
              </a:extLst>
            </a:blip>
            <a:stretch>
              <a:fillRect/>
            </a:stretch>
          </a:blipFill>
        </p:spPr>
        <p:txBody>
          <a:bodyPr/>
          <a:lstStyle/>
          <a:p>
            <a:endParaRPr lang="es-CO"/>
          </a:p>
        </p:txBody>
      </p:sp>
      <p:sp>
        <p:nvSpPr>
          <p:cNvPr id="61" name="TextBox 61"/>
          <p:cNvSpPr txBox="1"/>
          <p:nvPr/>
        </p:nvSpPr>
        <p:spPr>
          <a:xfrm>
            <a:off x="5561044" y="10683867"/>
            <a:ext cx="2926080" cy="207578"/>
          </a:xfrm>
          <a:prstGeom prst="rect">
            <a:avLst/>
          </a:prstGeom>
        </p:spPr>
        <p:txBody>
          <a:bodyPr lIns="0" tIns="0" rIns="0" bIns="0" rtlCol="0" anchor="t">
            <a:spAutoFit/>
          </a:bodyPr>
          <a:lstStyle/>
          <a:p>
            <a:pPr marL="129825" lvl="1" algn="l">
              <a:lnSpc>
                <a:spcPts val="1683"/>
              </a:lnSpc>
            </a:pPr>
            <a:r>
              <a:rPr lang="en-US" sz="1202" b="1" dirty="0">
                <a:solidFill>
                  <a:srgbClr val="FFFFFF"/>
                </a:solidFill>
                <a:latin typeface="Work Sans Ultra-Bold"/>
                <a:ea typeface="Work Sans Ultra-Bold"/>
                <a:cs typeface="Work Sans Ultra-Bold"/>
                <a:sym typeface="Work Sans Ultra-Bold"/>
              </a:rPr>
              <a:t>6. BIBLIOGRAFÍA</a:t>
            </a:r>
          </a:p>
        </p:txBody>
      </p:sp>
      <p:sp>
        <p:nvSpPr>
          <p:cNvPr id="65" name="CuadroTexto 64">
            <a:extLst>
              <a:ext uri="{FF2B5EF4-FFF2-40B4-BE49-F238E27FC236}">
                <a16:creationId xmlns:a16="http://schemas.microsoft.com/office/drawing/2014/main" id="{D97A4444-CBB4-7E5D-62DB-D5C2399839A7}"/>
              </a:ext>
            </a:extLst>
          </p:cNvPr>
          <p:cNvSpPr txBox="1"/>
          <p:nvPr/>
        </p:nvSpPr>
        <p:spPr>
          <a:xfrm>
            <a:off x="456581" y="8001847"/>
            <a:ext cx="4908550" cy="1938992"/>
          </a:xfrm>
          <a:prstGeom prst="rect">
            <a:avLst/>
          </a:prstGeom>
          <a:noFill/>
        </p:spPr>
        <p:txBody>
          <a:bodyPr wrap="square">
            <a:spAutoFit/>
          </a:bodyPr>
          <a:lstStyle/>
          <a:p>
            <a:r>
              <a:rPr lang="es-CO" sz="1200" b="1" dirty="0"/>
              <a:t>Tipo de investigación</a:t>
            </a:r>
            <a:r>
              <a:rPr lang="es-CO" sz="1200" dirty="0"/>
              <a:t>: Participativa.</a:t>
            </a:r>
          </a:p>
          <a:p>
            <a:endParaRPr lang="es-CO" sz="1200" dirty="0"/>
          </a:p>
          <a:p>
            <a:r>
              <a:rPr lang="es-CO" sz="1200" b="1" dirty="0"/>
              <a:t>Enfoque metodológico: </a:t>
            </a:r>
            <a:r>
              <a:rPr lang="es-CO" sz="1200" dirty="0"/>
              <a:t>Centrado en el usuario y basado </a:t>
            </a:r>
          </a:p>
          <a:p>
            <a:r>
              <a:rPr lang="es-CO" sz="1200" dirty="0"/>
              <a:t>en datos.</a:t>
            </a:r>
          </a:p>
          <a:p>
            <a:endParaRPr lang="es-CO" sz="1200" dirty="0"/>
          </a:p>
          <a:p>
            <a:r>
              <a:rPr lang="es-CO" sz="1200" b="1" dirty="0"/>
              <a:t>Fases desarrolladas: </a:t>
            </a:r>
            <a:r>
              <a:rPr lang="es-CO" sz="1200" dirty="0"/>
              <a:t>mapeo de empatía, círculos interculturales, </a:t>
            </a:r>
          </a:p>
          <a:p>
            <a:r>
              <a:rPr lang="es-CO" sz="1200" dirty="0"/>
              <a:t>libro gráfico con RA, rutas con IA, laboratorios colaborativos.</a:t>
            </a:r>
          </a:p>
          <a:p>
            <a:endParaRPr lang="es-CO" sz="1200" dirty="0"/>
          </a:p>
          <a:p>
            <a:r>
              <a:rPr lang="es-CO" sz="1200" b="1" dirty="0"/>
              <a:t>Técnicas e instrumentos</a:t>
            </a:r>
            <a:r>
              <a:rPr lang="es-CO" sz="1200" dirty="0"/>
              <a:t>: mapeo de empatía, analítica de datos, </a:t>
            </a:r>
          </a:p>
          <a:p>
            <a:r>
              <a:rPr lang="es-CO" sz="1200" dirty="0"/>
              <a:t>inteligencia artificial y </a:t>
            </a:r>
            <a:r>
              <a:rPr lang="es-CO" sz="1200" dirty="0" err="1"/>
              <a:t>cocreación</a:t>
            </a:r>
            <a:r>
              <a:rPr lang="es-CO" sz="1200" dirty="0"/>
              <a:t>.</a:t>
            </a:r>
          </a:p>
        </p:txBody>
      </p:sp>
      <p:sp>
        <p:nvSpPr>
          <p:cNvPr id="31" name="CuadroTexto 30">
            <a:extLst>
              <a:ext uri="{FF2B5EF4-FFF2-40B4-BE49-F238E27FC236}">
                <a16:creationId xmlns:a16="http://schemas.microsoft.com/office/drawing/2014/main" id="{10E4153A-9BAC-1C81-9A15-6F0D45C291B4}"/>
              </a:ext>
            </a:extLst>
          </p:cNvPr>
          <p:cNvSpPr txBox="1"/>
          <p:nvPr/>
        </p:nvSpPr>
        <p:spPr>
          <a:xfrm>
            <a:off x="5104844" y="8072624"/>
            <a:ext cx="4905374" cy="1844992"/>
          </a:xfrm>
          <a:prstGeom prst="rect">
            <a:avLst/>
          </a:prstGeom>
          <a:noFill/>
        </p:spPr>
        <p:txBody>
          <a:bodyPr wrap="square">
            <a:spAutoFit/>
          </a:bodyPr>
          <a:lstStyle/>
          <a:p>
            <a:pPr marL="171450" marR="0" indent="-171450" algn="l">
              <a:lnSpc>
                <a:spcPts val="1800"/>
              </a:lnSpc>
              <a:spcAft>
                <a:spcPts val="600"/>
              </a:spcAft>
              <a:buFont typeface="Arial" panose="020B0604020202020204" pitchFamily="34" charset="0"/>
              <a:buChar char="•"/>
            </a:pPr>
            <a:r>
              <a:rPr lang="es-CO" sz="1200" b="0" i="0" spc="-8" dirty="0">
                <a:effectLst/>
                <a:latin typeface="+mj-lt"/>
              </a:rPr>
              <a:t>Cuento "Sarita, dibujadora de sueños</a:t>
            </a:r>
            <a:r>
              <a:rPr lang="es-CO" sz="1200" spc="-8" dirty="0">
                <a:latin typeface="+mj-lt"/>
              </a:rPr>
              <a:t>”</a:t>
            </a:r>
            <a:r>
              <a:rPr lang="es-CO" sz="1200" b="0" i="0" spc="-8" dirty="0">
                <a:effectLst/>
                <a:latin typeface="+mj-lt"/>
              </a:rPr>
              <a:t>.</a:t>
            </a:r>
          </a:p>
          <a:p>
            <a:pPr marL="171450" marR="0" indent="-171450" algn="l">
              <a:lnSpc>
                <a:spcPts val="1800"/>
              </a:lnSpc>
              <a:spcAft>
                <a:spcPts val="600"/>
              </a:spcAft>
              <a:buFont typeface="Arial" panose="020B0604020202020204" pitchFamily="34" charset="0"/>
              <a:buChar char="•"/>
            </a:pPr>
            <a:r>
              <a:rPr lang="es-CO" sz="1200" b="0" i="0" spc="-8" dirty="0">
                <a:effectLst/>
                <a:latin typeface="+mj-lt"/>
              </a:rPr>
              <a:t>Mapeo de empatía con personal del CIES</a:t>
            </a:r>
            <a:r>
              <a:rPr lang="es-CO" sz="1200" spc="-8" dirty="0">
                <a:latin typeface="+mj-lt"/>
              </a:rPr>
              <a:t>.</a:t>
            </a:r>
            <a:endParaRPr lang="es-CO" sz="1200" b="0" i="0" spc="-8" dirty="0">
              <a:effectLst/>
              <a:latin typeface="+mj-lt"/>
            </a:endParaRPr>
          </a:p>
          <a:p>
            <a:pPr marL="171450" marR="0" indent="-171450" algn="l">
              <a:lnSpc>
                <a:spcPts val="1800"/>
              </a:lnSpc>
              <a:spcAft>
                <a:spcPts val="600"/>
              </a:spcAft>
              <a:buFont typeface="Arial" panose="020B0604020202020204" pitchFamily="34" charset="0"/>
              <a:buChar char="•"/>
            </a:pPr>
            <a:r>
              <a:rPr lang="es-CO" sz="1200" b="0" i="0" spc="-8" dirty="0">
                <a:effectLst/>
                <a:latin typeface="+mj-lt"/>
              </a:rPr>
              <a:t>Decálogo de inclusión: 10 principios diseñados.</a:t>
            </a:r>
          </a:p>
          <a:p>
            <a:pPr marL="171450" marR="0" indent="-171450" algn="l">
              <a:lnSpc>
                <a:spcPts val="1800"/>
              </a:lnSpc>
              <a:spcAft>
                <a:spcPts val="600"/>
              </a:spcAft>
              <a:buFont typeface="Arial" panose="020B0604020202020204" pitchFamily="34" charset="0"/>
              <a:buChar char="•"/>
            </a:pPr>
            <a:r>
              <a:rPr lang="es-CO" sz="1200" b="0" i="0" spc="-8" dirty="0">
                <a:effectLst/>
                <a:latin typeface="+mj-lt"/>
              </a:rPr>
              <a:t>Boceto de portada del libro álbum.</a:t>
            </a:r>
          </a:p>
          <a:p>
            <a:pPr marL="171450" marR="0" indent="-171450" algn="l">
              <a:lnSpc>
                <a:spcPts val="1800"/>
              </a:lnSpc>
              <a:spcAft>
                <a:spcPts val="600"/>
              </a:spcAft>
              <a:buFont typeface="Arial" panose="020B0604020202020204" pitchFamily="34" charset="0"/>
              <a:buChar char="•"/>
            </a:pPr>
            <a:r>
              <a:rPr lang="es-CO" sz="1200" b="0" i="0" spc="-8" dirty="0">
                <a:effectLst/>
                <a:latin typeface="+mj-lt"/>
              </a:rPr>
              <a:t>Paleta de colores definida.</a:t>
            </a:r>
          </a:p>
          <a:p>
            <a:pPr marL="171450" marR="0" indent="-171450" algn="l">
              <a:lnSpc>
                <a:spcPts val="1800"/>
              </a:lnSpc>
              <a:spcAft>
                <a:spcPts val="900"/>
              </a:spcAft>
              <a:buFont typeface="Arial" panose="020B0604020202020204" pitchFamily="34" charset="0"/>
              <a:buChar char="•"/>
            </a:pPr>
            <a:r>
              <a:rPr lang="es-CO" sz="1200" b="0" i="0" spc="-8" dirty="0">
                <a:effectLst/>
                <a:latin typeface="+mj-lt"/>
              </a:rPr>
              <a:t>Tipografía definida.</a:t>
            </a:r>
          </a:p>
        </p:txBody>
      </p:sp>
      <p:sp>
        <p:nvSpPr>
          <p:cNvPr id="46" name="CuadroTexto 45">
            <a:extLst>
              <a:ext uri="{FF2B5EF4-FFF2-40B4-BE49-F238E27FC236}">
                <a16:creationId xmlns:a16="http://schemas.microsoft.com/office/drawing/2014/main" id="{23370BAA-10DE-A686-FC39-D12E16980EF0}"/>
              </a:ext>
            </a:extLst>
          </p:cNvPr>
          <p:cNvSpPr txBox="1"/>
          <p:nvPr/>
        </p:nvSpPr>
        <p:spPr>
          <a:xfrm>
            <a:off x="456581" y="4631607"/>
            <a:ext cx="4272771" cy="2462213"/>
          </a:xfrm>
          <a:prstGeom prst="rect">
            <a:avLst/>
          </a:prstGeom>
          <a:noFill/>
        </p:spPr>
        <p:txBody>
          <a:bodyPr wrap="square">
            <a:spAutoFit/>
          </a:bodyPr>
          <a:lstStyle/>
          <a:p>
            <a:r>
              <a:rPr lang="es-CO" sz="1100" dirty="0"/>
              <a:t>CIES SENA Huila: crecen aprendices con diversidad funcional, cultural y social; capacidades de atención diferencial limitadas. A pesar de los avances, aún queda camino por recorrer.</a:t>
            </a:r>
          </a:p>
          <a:p>
            <a:endParaRPr lang="es-CO" sz="1100" dirty="0"/>
          </a:p>
          <a:p>
            <a:r>
              <a:rPr lang="es-CO" sz="1100" dirty="0"/>
              <a:t>El proyecto fortalece competencias del personal y consolida cultura institucional inclusiva (Acuerdo 0010/2016, Decreto 1421/2017); también los procesos pedagógicos.</a:t>
            </a:r>
          </a:p>
          <a:p>
            <a:endParaRPr lang="es-CO" sz="1100" dirty="0"/>
          </a:p>
          <a:p>
            <a:r>
              <a:rPr lang="es-CO" sz="1100" dirty="0"/>
              <a:t>Responde a la necesidad de consolidar una cultura institucional inclusiva con acceso, permanencia y éxito de aprendices con enfoques diferenciales</a:t>
            </a:r>
          </a:p>
          <a:p>
            <a:endParaRPr lang="es-CO" sz="1100" dirty="0"/>
          </a:p>
          <a:p>
            <a:r>
              <a:rPr lang="es-CO" sz="1100" dirty="0"/>
              <a:t>Aporta al Plan Nacional de Desarrollo 2022–2026 y es replicable en otros centros del SENA.</a:t>
            </a:r>
          </a:p>
        </p:txBody>
      </p:sp>
      <p:sp>
        <p:nvSpPr>
          <p:cNvPr id="62" name="CuadroTexto 61">
            <a:extLst>
              <a:ext uri="{FF2B5EF4-FFF2-40B4-BE49-F238E27FC236}">
                <a16:creationId xmlns:a16="http://schemas.microsoft.com/office/drawing/2014/main" id="{65C51356-57F9-939A-3B35-4541DB18FC44}"/>
              </a:ext>
            </a:extLst>
          </p:cNvPr>
          <p:cNvSpPr txBox="1"/>
          <p:nvPr/>
        </p:nvSpPr>
        <p:spPr>
          <a:xfrm>
            <a:off x="469329" y="11257757"/>
            <a:ext cx="4524692" cy="1754326"/>
          </a:xfrm>
          <a:prstGeom prst="rect">
            <a:avLst/>
          </a:prstGeom>
          <a:noFill/>
        </p:spPr>
        <p:txBody>
          <a:bodyPr wrap="square">
            <a:spAutoFit/>
          </a:bodyPr>
          <a:lstStyle/>
          <a:p>
            <a:r>
              <a:rPr lang="es-CO" sz="1200" b="1" dirty="0"/>
              <a:t>Mapeo de empatía: </a:t>
            </a:r>
            <a:r>
              <a:rPr lang="es-CO" sz="1200" dirty="0"/>
              <a:t>personal requiere más formación y recursos; inclusión declarada, no aplicada.</a:t>
            </a:r>
          </a:p>
          <a:p>
            <a:endParaRPr lang="es-CO" sz="1200" dirty="0"/>
          </a:p>
          <a:p>
            <a:r>
              <a:rPr lang="es-CO" sz="1200" b="1" dirty="0"/>
              <a:t>Cuento:</a:t>
            </a:r>
            <a:r>
              <a:rPr lang="es-CO" sz="1200" dirty="0"/>
              <a:t> "Sarita, dibujadora de sueños” escrito. </a:t>
            </a:r>
          </a:p>
          <a:p>
            <a:endParaRPr lang="es-CO" sz="1200" dirty="0"/>
          </a:p>
          <a:p>
            <a:r>
              <a:rPr lang="es-CO" sz="1200" b="1" dirty="0"/>
              <a:t>Decálogo de inclusión: </a:t>
            </a:r>
            <a:r>
              <a:rPr lang="es-CO" sz="1200" dirty="0"/>
              <a:t>10 principios diseñados.</a:t>
            </a:r>
          </a:p>
          <a:p>
            <a:endParaRPr lang="es-CO" sz="1200" dirty="0"/>
          </a:p>
          <a:p>
            <a:r>
              <a:rPr lang="es-CO" sz="1200" b="1" dirty="0"/>
              <a:t>Libro álbum: </a:t>
            </a:r>
            <a:r>
              <a:rPr lang="es-CO" sz="1200" dirty="0"/>
              <a:t>portada, paleta cromática y tipografía accesibles definidas.</a:t>
            </a:r>
          </a:p>
        </p:txBody>
      </p:sp>
      <p:sp>
        <p:nvSpPr>
          <p:cNvPr id="64" name="CuadroTexto 63">
            <a:extLst>
              <a:ext uri="{FF2B5EF4-FFF2-40B4-BE49-F238E27FC236}">
                <a16:creationId xmlns:a16="http://schemas.microsoft.com/office/drawing/2014/main" id="{32C42482-D02D-3754-DF83-2E515E11F812}"/>
              </a:ext>
            </a:extLst>
          </p:cNvPr>
          <p:cNvSpPr txBox="1"/>
          <p:nvPr/>
        </p:nvSpPr>
        <p:spPr>
          <a:xfrm>
            <a:off x="5146576" y="11110081"/>
            <a:ext cx="4204386" cy="2299091"/>
          </a:xfrm>
          <a:prstGeom prst="rect">
            <a:avLst/>
          </a:prstGeom>
          <a:noFill/>
        </p:spPr>
        <p:txBody>
          <a:bodyPr wrap="square">
            <a:spAutoFit/>
          </a:bodyPr>
          <a:lstStyle/>
          <a:p>
            <a:pPr marL="0" marR="0" indent="0" algn="l">
              <a:lnSpc>
                <a:spcPts val="1800"/>
              </a:lnSpc>
              <a:spcAft>
                <a:spcPts val="600"/>
              </a:spcAft>
            </a:pPr>
            <a:r>
              <a:rPr lang="es-CO" sz="1100" b="0" i="1" spc="-8" dirty="0">
                <a:effectLst/>
                <a:latin typeface="Times New Roman" panose="02020603050405020304" pitchFamily="18" charset="0"/>
                <a:cs typeface="Times New Roman" panose="02020603050405020304" pitchFamily="18" charset="0"/>
              </a:rPr>
              <a:t>DANE. (s. f.). Estadísticas de enfoque diferencial y poblacional.</a:t>
            </a:r>
          </a:p>
          <a:p>
            <a:pPr marL="0" marR="0" indent="0" algn="l">
              <a:lnSpc>
                <a:spcPts val="1800"/>
              </a:lnSpc>
              <a:spcAft>
                <a:spcPts val="600"/>
              </a:spcAft>
            </a:pPr>
            <a:r>
              <a:rPr lang="es-CO" sz="1100" b="0" i="1" spc="-8" dirty="0">
                <a:effectLst/>
                <a:latin typeface="Times New Roman" panose="02020603050405020304" pitchFamily="18" charset="0"/>
                <a:cs typeface="Times New Roman" panose="02020603050405020304" pitchFamily="18" charset="0"/>
              </a:rPr>
              <a:t>Ministerio de Educación Nacional. (2017). Decreto 1421 de 2017.</a:t>
            </a:r>
          </a:p>
          <a:p>
            <a:pPr marL="0" marR="0" indent="0" algn="l">
              <a:lnSpc>
                <a:spcPts val="1800"/>
              </a:lnSpc>
              <a:spcAft>
                <a:spcPts val="600"/>
              </a:spcAft>
            </a:pPr>
            <a:r>
              <a:rPr lang="es-CO" sz="1100" b="0" i="1" spc="-8" dirty="0">
                <a:effectLst/>
                <a:latin typeface="Times New Roman" panose="02020603050405020304" pitchFamily="18" charset="0"/>
                <a:cs typeface="Times New Roman" panose="02020603050405020304" pitchFamily="18" charset="0"/>
              </a:rPr>
              <a:t>OECD. (2018). The future </a:t>
            </a:r>
            <a:r>
              <a:rPr lang="es-CO" sz="1100" b="0" i="1" spc="-8" dirty="0" err="1">
                <a:effectLst/>
                <a:latin typeface="Times New Roman" panose="02020603050405020304" pitchFamily="18" charset="0"/>
                <a:cs typeface="Times New Roman" panose="02020603050405020304" pitchFamily="18" charset="0"/>
              </a:rPr>
              <a:t>of</a:t>
            </a:r>
            <a:r>
              <a:rPr lang="es-CO" sz="1100" b="0" i="1" spc="-8" dirty="0">
                <a:effectLst/>
                <a:latin typeface="Times New Roman" panose="02020603050405020304" pitchFamily="18" charset="0"/>
                <a:cs typeface="Times New Roman" panose="02020603050405020304" pitchFamily="18" charset="0"/>
              </a:rPr>
              <a:t> </a:t>
            </a:r>
            <a:r>
              <a:rPr lang="es-CO" sz="1100" b="0" i="1" spc="-8" dirty="0" err="1">
                <a:effectLst/>
                <a:latin typeface="Times New Roman" panose="02020603050405020304" pitchFamily="18" charset="0"/>
                <a:cs typeface="Times New Roman" panose="02020603050405020304" pitchFamily="18" charset="0"/>
              </a:rPr>
              <a:t>education</a:t>
            </a:r>
            <a:r>
              <a:rPr lang="es-CO" sz="1100" b="0" i="1" spc="-8" dirty="0">
                <a:effectLst/>
                <a:latin typeface="Times New Roman" panose="02020603050405020304" pitchFamily="18" charset="0"/>
                <a:cs typeface="Times New Roman" panose="02020603050405020304" pitchFamily="18" charset="0"/>
              </a:rPr>
              <a:t> and </a:t>
            </a:r>
            <a:r>
              <a:rPr lang="es-CO" sz="1100" b="0" i="1" spc="-8" dirty="0" err="1">
                <a:effectLst/>
                <a:latin typeface="Times New Roman" panose="02020603050405020304" pitchFamily="18" charset="0"/>
                <a:cs typeface="Times New Roman" panose="02020603050405020304" pitchFamily="18" charset="0"/>
              </a:rPr>
              <a:t>skills</a:t>
            </a:r>
            <a:r>
              <a:rPr lang="es-CO" sz="1100" b="0" i="1" spc="-8" dirty="0">
                <a:effectLst/>
                <a:latin typeface="Times New Roman" panose="02020603050405020304" pitchFamily="18" charset="0"/>
                <a:cs typeface="Times New Roman" panose="02020603050405020304" pitchFamily="18" charset="0"/>
              </a:rPr>
              <a:t>: </a:t>
            </a:r>
            <a:r>
              <a:rPr lang="es-CO" sz="1100" b="0" i="1" spc="-8" dirty="0" err="1">
                <a:effectLst/>
                <a:latin typeface="Times New Roman" panose="02020603050405020304" pitchFamily="18" charset="0"/>
                <a:cs typeface="Times New Roman" panose="02020603050405020304" pitchFamily="18" charset="0"/>
              </a:rPr>
              <a:t>Education</a:t>
            </a:r>
            <a:r>
              <a:rPr lang="es-CO" sz="1100" b="0" i="1" spc="-8" dirty="0">
                <a:effectLst/>
                <a:latin typeface="Times New Roman" panose="02020603050405020304" pitchFamily="18" charset="0"/>
                <a:cs typeface="Times New Roman" panose="02020603050405020304" pitchFamily="18" charset="0"/>
              </a:rPr>
              <a:t> 2030.</a:t>
            </a:r>
          </a:p>
          <a:p>
            <a:pPr marL="0" marR="0" indent="0" algn="l">
              <a:lnSpc>
                <a:spcPts val="1800"/>
              </a:lnSpc>
              <a:spcAft>
                <a:spcPts val="600"/>
              </a:spcAft>
            </a:pPr>
            <a:r>
              <a:rPr lang="es-CO" sz="1100" b="0" i="1" spc="-8" dirty="0">
                <a:effectLst/>
                <a:latin typeface="Times New Roman" panose="02020603050405020304" pitchFamily="18" charset="0"/>
                <a:cs typeface="Times New Roman" panose="02020603050405020304" pitchFamily="18" charset="0"/>
              </a:rPr>
              <a:t>SENA. (2016). Acuerdo 0010 de 2016 — Política de atención con enfoque pluralista y diferencial.</a:t>
            </a:r>
          </a:p>
          <a:p>
            <a:pPr marL="0" marR="0" indent="0" algn="l">
              <a:lnSpc>
                <a:spcPts val="1800"/>
              </a:lnSpc>
              <a:spcAft>
                <a:spcPts val="600"/>
              </a:spcAft>
            </a:pPr>
            <a:r>
              <a:rPr lang="es-CO" sz="1100" b="0" i="1" spc="-8" dirty="0">
                <a:effectLst/>
                <a:latin typeface="Times New Roman" panose="02020603050405020304" pitchFamily="18" charset="0"/>
                <a:cs typeface="Times New Roman" panose="02020603050405020304" pitchFamily="18" charset="0"/>
              </a:rPr>
              <a:t>UNESCO. (2015). Informe de seguimiento de la educación en el mundo.</a:t>
            </a:r>
          </a:p>
          <a:p>
            <a:pPr marL="0" marR="0" indent="0" algn="l">
              <a:lnSpc>
                <a:spcPts val="1800"/>
              </a:lnSpc>
              <a:spcAft>
                <a:spcPts val="900"/>
              </a:spcAft>
            </a:pPr>
            <a:r>
              <a:rPr lang="es-CO" sz="1100" b="0" i="1" spc="-8" dirty="0">
                <a:effectLst/>
                <a:latin typeface="Times New Roman" panose="02020603050405020304" pitchFamily="18" charset="0"/>
                <a:cs typeface="Times New Roman" panose="02020603050405020304" pitchFamily="18" charset="0"/>
              </a:rPr>
              <a:t>UNESCO. (2023). Tecnología en la educación: ¿una herramienta en los términos de quién?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C74C6E21-B2E8-31F5-4569-78F9E628B8D0}"/>
              </a:ext>
            </a:extLst>
          </p:cNvPr>
          <p:cNvSpPr txBox="1"/>
          <p:nvPr/>
        </p:nvSpPr>
        <p:spPr>
          <a:xfrm>
            <a:off x="762000" y="838200"/>
            <a:ext cx="8458200" cy="923330"/>
          </a:xfrm>
          <a:prstGeom prst="rect">
            <a:avLst/>
          </a:prstGeom>
          <a:noFill/>
        </p:spPr>
        <p:txBody>
          <a:bodyPr wrap="square" rtlCol="0">
            <a:spAutoFit/>
          </a:bodyPr>
          <a:lstStyle/>
          <a:p>
            <a:pPr algn="ctr"/>
            <a:r>
              <a:rPr lang="es-MX" b="1" dirty="0"/>
              <a:t>INSTRUCCIONES PARA EL DILIGENCIAMIENTO DEL PÓSTER DE PRESENTACIÓN DE</a:t>
            </a:r>
          </a:p>
          <a:p>
            <a:pPr algn="ctr"/>
            <a:endParaRPr lang="es-MX" b="1" dirty="0"/>
          </a:p>
          <a:p>
            <a:pPr algn="ctr"/>
            <a:r>
              <a:rPr lang="es-MX" b="1" dirty="0"/>
              <a:t> PROYECTOS EN CURSO O EJECUCIÓN</a:t>
            </a:r>
            <a:endParaRPr lang="es-CO" b="1" dirty="0"/>
          </a:p>
        </p:txBody>
      </p:sp>
      <p:sp>
        <p:nvSpPr>
          <p:cNvPr id="3" name="CuadroTexto 2">
            <a:extLst>
              <a:ext uri="{FF2B5EF4-FFF2-40B4-BE49-F238E27FC236}">
                <a16:creationId xmlns:a16="http://schemas.microsoft.com/office/drawing/2014/main" id="{37F8775A-5A38-E54A-0F4E-846627D7EE0B}"/>
              </a:ext>
            </a:extLst>
          </p:cNvPr>
          <p:cNvSpPr txBox="1"/>
          <p:nvPr/>
        </p:nvSpPr>
        <p:spPr>
          <a:xfrm>
            <a:off x="762000" y="1799630"/>
            <a:ext cx="7893424" cy="830997"/>
          </a:xfrm>
          <a:prstGeom prst="rect">
            <a:avLst/>
          </a:prstGeom>
          <a:noFill/>
        </p:spPr>
        <p:txBody>
          <a:bodyPr wrap="square" rtlCol="0">
            <a:spAutoFit/>
          </a:bodyPr>
          <a:lstStyle/>
          <a:p>
            <a:pPr algn="just"/>
            <a:r>
              <a:rPr lang="es-CO" sz="1200" dirty="0"/>
              <a:t>El presente póster tiene como propósito divulgar el estado de avance de proyectos de investigación, desarrollo tecnológico e innovación que se encuentran en ejecución, permitiendo comunicar de manera clara, organizada y visual los avances alcanzados, los resultados preliminares obtenidos y las actividades desarrolladas hasta la fecha y que participarán en el encuentro zonal de semilleros </a:t>
            </a:r>
            <a:r>
              <a:rPr lang="es-MX" sz="1200" b="1" dirty="0"/>
              <a:t>Línea </a:t>
            </a:r>
            <a:r>
              <a:rPr lang="es-MX" sz="1200" b="1" dirty="0" err="1"/>
              <a:t>TICs</a:t>
            </a:r>
            <a:r>
              <a:rPr lang="es-MX" sz="1200" b="1" dirty="0"/>
              <a:t> e Inteligencia Artificial  Usuario, Comercialización y logística.</a:t>
            </a:r>
            <a:endParaRPr lang="es-CO" sz="1200" b="1" dirty="0"/>
          </a:p>
        </p:txBody>
      </p:sp>
      <p:sp>
        <p:nvSpPr>
          <p:cNvPr id="4" name="CuadroTexto 3">
            <a:extLst>
              <a:ext uri="{FF2B5EF4-FFF2-40B4-BE49-F238E27FC236}">
                <a16:creationId xmlns:a16="http://schemas.microsoft.com/office/drawing/2014/main" id="{9A1F0917-370C-CCB9-6F38-A337DAC5D5CE}"/>
              </a:ext>
            </a:extLst>
          </p:cNvPr>
          <p:cNvSpPr txBox="1"/>
          <p:nvPr/>
        </p:nvSpPr>
        <p:spPr>
          <a:xfrm>
            <a:off x="752475" y="2758619"/>
            <a:ext cx="8001000" cy="1754326"/>
          </a:xfrm>
          <a:prstGeom prst="rect">
            <a:avLst/>
          </a:prstGeom>
          <a:noFill/>
        </p:spPr>
        <p:txBody>
          <a:bodyPr wrap="square" rtlCol="0">
            <a:spAutoFit/>
          </a:bodyPr>
          <a:lstStyle/>
          <a:p>
            <a:r>
              <a:rPr lang="es-CO" sz="1200" b="1" dirty="0"/>
              <a:t>Instrucciones Generales</a:t>
            </a:r>
          </a:p>
          <a:p>
            <a:endParaRPr lang="es-CO" sz="1200" b="1" dirty="0"/>
          </a:p>
          <a:p>
            <a:pPr marL="342900" indent="-342900" algn="just">
              <a:buFont typeface="+mj-lt"/>
              <a:buAutoNum type="arabicPeriod"/>
            </a:pPr>
            <a:r>
              <a:rPr lang="es-CO" sz="1200" dirty="0"/>
              <a:t>Diligencie todos los apartados del formato utilizando información actualizada del proyecto.</a:t>
            </a:r>
          </a:p>
          <a:p>
            <a:pPr marL="342900" indent="-342900" algn="just">
              <a:buFont typeface="+mj-lt"/>
              <a:buAutoNum type="arabicPeriod"/>
            </a:pPr>
            <a:r>
              <a:rPr lang="es-CO" sz="1200" dirty="0"/>
              <a:t>El contenido debe corresponder únicamente al avance alcanzado hasta la fecha de elaboración del póster.</a:t>
            </a:r>
          </a:p>
          <a:p>
            <a:pPr marL="342900" indent="-342900" algn="just">
              <a:buFont typeface="+mj-lt"/>
              <a:buAutoNum type="arabicPeriod"/>
            </a:pPr>
            <a:r>
              <a:rPr lang="es-CO" sz="1200" dirty="0"/>
              <a:t>Redacte la información de forma clara, objetiva y precisa, utilizando lenguaje técnico.</a:t>
            </a:r>
          </a:p>
          <a:p>
            <a:pPr marL="342900" indent="-342900" algn="just">
              <a:buFont typeface="+mj-lt"/>
              <a:buAutoNum type="arabicPeriod"/>
            </a:pPr>
            <a:r>
              <a:rPr lang="es-CO" sz="1200" dirty="0"/>
              <a:t>Evite párrafos extensos. Utilice frases concretas y facilite la lectura mediante viñetas cuando sea pertinente.</a:t>
            </a:r>
          </a:p>
          <a:p>
            <a:pPr marL="342900" indent="-342900" algn="just">
              <a:buFont typeface="+mj-lt"/>
              <a:buAutoNum type="arabicPeriod"/>
            </a:pPr>
            <a:r>
              <a:rPr lang="es-CO" sz="1200" dirty="0"/>
              <a:t>Incluya únicamente imágenes que aporten valor a la comprensión del proyecto. Estas deben ser de buena resolución, pertinentes y legibles. Los gráficos, diagramas, tablas e imágenes deben conservar una adecuada calidad para impresión y visualización digital.</a:t>
            </a:r>
          </a:p>
        </p:txBody>
      </p:sp>
      <p:sp>
        <p:nvSpPr>
          <p:cNvPr id="5" name="CuadroTexto 4">
            <a:extLst>
              <a:ext uri="{FF2B5EF4-FFF2-40B4-BE49-F238E27FC236}">
                <a16:creationId xmlns:a16="http://schemas.microsoft.com/office/drawing/2014/main" id="{CE7C290E-5E96-B27C-9E03-11C097E5E4D8}"/>
              </a:ext>
            </a:extLst>
          </p:cNvPr>
          <p:cNvSpPr txBox="1"/>
          <p:nvPr/>
        </p:nvSpPr>
        <p:spPr>
          <a:xfrm>
            <a:off x="739588" y="5448479"/>
            <a:ext cx="8001000" cy="8032968"/>
          </a:xfrm>
          <a:prstGeom prst="rect">
            <a:avLst/>
          </a:prstGeom>
          <a:noFill/>
        </p:spPr>
        <p:txBody>
          <a:bodyPr wrap="square" rtlCol="0">
            <a:spAutoFit/>
          </a:bodyPr>
          <a:lstStyle/>
          <a:p>
            <a:pPr algn="just"/>
            <a:r>
              <a:rPr lang="es-CO" sz="1200" b="1" dirty="0"/>
              <a:t>1. Título del Proyecto: </a:t>
            </a:r>
            <a:r>
              <a:rPr lang="es-CO" sz="1200" dirty="0"/>
              <a:t>registre el nombre oficial del proyecto aprobado y ejecutado, tal como aparece en los documentos institucionales. </a:t>
            </a:r>
            <a:r>
              <a:rPr lang="es-CO" sz="1200" b="1" dirty="0"/>
              <a:t>Además, diligencie: </a:t>
            </a:r>
            <a:r>
              <a:rPr lang="es-CO" sz="1200" dirty="0"/>
              <a:t>Nombre(s) del(os) aprendiz(es), Nombre del instructor con rol de investigador, Nombre del semillero de investigación, Centro de Formación y Regional a la que pertenece.</a:t>
            </a:r>
          </a:p>
          <a:p>
            <a:pPr algn="just"/>
            <a:br>
              <a:rPr lang="es-CO" sz="1200" dirty="0"/>
            </a:br>
            <a:r>
              <a:rPr lang="es-CO" sz="1200" b="1" dirty="0"/>
              <a:t>2. Planteamiento del Problema y Justificación: </a:t>
            </a:r>
            <a:r>
              <a:rPr lang="es-CO" sz="1200" dirty="0"/>
              <a:t>describa de manera resumida:</a:t>
            </a:r>
          </a:p>
          <a:p>
            <a:pPr algn="just"/>
            <a:r>
              <a:rPr lang="es-CO" sz="1200" dirty="0"/>
              <a:t>La problemática o necesidad que dio origen al proyecto, el contexto donde se presenta, la necesidad y pertinencia de la propuesta para la comunidad, sector productivo o institución. Se recomienda una extensión aproximada entre </a:t>
            </a:r>
            <a:r>
              <a:rPr lang="es-CO" sz="1200" b="1" dirty="0"/>
              <a:t>80 y 150 palabras</a:t>
            </a:r>
            <a:r>
              <a:rPr lang="es-CO" sz="1200" dirty="0"/>
              <a:t>. Puede incorporarse una imagen que facilite la comprensión del problema, por ejemplo: fotografía del contexto, esquema conceptual, diagrama explicativo, ilustración del proceso o necesidad identificada. La imagen debe complementar el texto y no reemplazar la explicación.</a:t>
            </a:r>
          </a:p>
          <a:p>
            <a:pPr algn="just"/>
            <a:endParaRPr lang="es-CO" sz="1200" dirty="0"/>
          </a:p>
          <a:p>
            <a:pPr algn="just"/>
            <a:br>
              <a:rPr lang="es-CO" sz="1200" dirty="0"/>
            </a:br>
            <a:r>
              <a:rPr lang="es-CO" sz="1200" b="1" dirty="0"/>
              <a:t>3. Objetivos</a:t>
            </a:r>
          </a:p>
          <a:p>
            <a:pPr algn="just"/>
            <a:r>
              <a:rPr lang="es-CO" sz="1200" b="1" dirty="0"/>
              <a:t>Objetivo general: </a:t>
            </a:r>
            <a:r>
              <a:rPr lang="es-CO" sz="1200" dirty="0"/>
              <a:t>consigne el objetivo general que orientó el desarrollo del proyecto.</a:t>
            </a:r>
          </a:p>
          <a:p>
            <a:pPr algn="just"/>
            <a:r>
              <a:rPr lang="es-CO" sz="1200" b="1" dirty="0"/>
              <a:t>Objetivos específicos: </a:t>
            </a:r>
            <a:r>
              <a:rPr lang="es-CO" sz="1200" dirty="0"/>
              <a:t>relacione los objetivos específicos que orientan la ejecución del proyecto.</a:t>
            </a:r>
          </a:p>
          <a:p>
            <a:pPr algn="just"/>
            <a:endParaRPr lang="es-CO" sz="1200" dirty="0"/>
          </a:p>
          <a:p>
            <a:pPr algn="just"/>
            <a:r>
              <a:rPr lang="es-CO" sz="1200" b="1" dirty="0"/>
              <a:t>4. Metodología: </a:t>
            </a:r>
            <a:r>
              <a:rPr lang="es-CO" sz="1200" dirty="0"/>
              <a:t>describa de forma resumida el </a:t>
            </a:r>
            <a:r>
              <a:rPr lang="es-CO" sz="1200" dirty="0" err="1"/>
              <a:t>el</a:t>
            </a:r>
            <a:r>
              <a:rPr lang="es-CO" sz="1200" dirty="0"/>
              <a:t> procedimiento empleado para desarrollar el proyecto, indicando, según corresponda: tipo de investigación, enfoque metodológico, fases desarrolladas, técnicas e instrumentos utilizados para la recolección de información. Se puede incluir imágenes (Diagrama de flujo, cronograma simplificado, esquema metodológico, fotografías del proceso, instrumentos utilizados o etapas del proyecto.)</a:t>
            </a:r>
          </a:p>
          <a:p>
            <a:pPr algn="just"/>
            <a:endParaRPr lang="es-CO" sz="1200" dirty="0"/>
          </a:p>
          <a:p>
            <a:pPr algn="just"/>
            <a:r>
              <a:rPr lang="es-CO" sz="1200" b="1" dirty="0"/>
              <a:t>5. Avances: </a:t>
            </a:r>
            <a:r>
              <a:rPr lang="es-CO" sz="1200" dirty="0"/>
              <a:t>describa las actividades desarrolladas y el estado actual del proyecto. Puede incluir información como:</a:t>
            </a:r>
          </a:p>
          <a:p>
            <a:r>
              <a:rPr lang="es-CO" sz="1200" dirty="0"/>
              <a:t>actividades ejecutadas, porcentaje de avance por fases, productos parciales obtenidos, desarrollo del prototipo, componentes implementados, pruebas realizadas, validaciones efectuadas y dificultades identificadas y acciones implementadas para su gestión. </a:t>
            </a:r>
          </a:p>
          <a:p>
            <a:pPr algn="just"/>
            <a:r>
              <a:rPr lang="es-CO" sz="1200" dirty="0"/>
              <a:t>Se recomienda incluir: fotografías del prototipo parcial, capturas de pantalla del software desarrollado, diagramas del sistema, mockups, fotografías de pruebas realizadas, evidencias del proceso de construcción, gráficos de avance, tablas de seguimiento. las imágenes deben evidenciar claramente el progreso alcanzado hasta el momento.</a:t>
            </a:r>
          </a:p>
          <a:p>
            <a:pPr algn="just"/>
            <a:endParaRPr lang="es-CO" sz="1200" dirty="0"/>
          </a:p>
          <a:p>
            <a:pPr algn="just"/>
            <a:endParaRPr lang="es-CO" sz="1200" dirty="0"/>
          </a:p>
          <a:p>
            <a:r>
              <a:rPr lang="es-CO" sz="1200" b="1" dirty="0"/>
              <a:t>6. Resultados Preliminares:  </a:t>
            </a:r>
            <a:r>
              <a:rPr lang="es-CO" sz="1200" dirty="0"/>
              <a:t>Describa los principales hallazgos obtenidos durante la ejecución del proyecto, sin presentar conclusiones definitivas. Puede incluir: hallazgos iniciales, resultados de pruebas piloto, validaciones parciales, indicadores preliminares, mejoras identificadas, comportamiento observado durante las pruebas y evidencias de funcionamiento de componentes desarrollados. </a:t>
            </a:r>
          </a:p>
          <a:p>
            <a:r>
              <a:rPr lang="es-CO" sz="1200" dirty="0"/>
              <a:t>Se recomienda incorporar: Gráficos estadísticos, Fotografías de validaciones, Capturas de pantalla.</a:t>
            </a:r>
          </a:p>
          <a:p>
            <a:r>
              <a:rPr lang="es-CO" sz="1200" dirty="0"/>
              <a:t>Tablas comparativas.</a:t>
            </a:r>
          </a:p>
          <a:p>
            <a:r>
              <a:rPr lang="es-CO" sz="1200" dirty="0"/>
              <a:t>Evidencias experimentales.</a:t>
            </a:r>
          </a:p>
          <a:p>
            <a:r>
              <a:rPr lang="es-CO" sz="1200" dirty="0"/>
              <a:t>Diagramas de funcionamiento.</a:t>
            </a:r>
          </a:p>
          <a:p>
            <a:endParaRPr lang="es-CO" sz="1200" dirty="0"/>
          </a:p>
          <a:p>
            <a:pPr algn="just"/>
            <a:br>
              <a:rPr lang="es-CO" sz="1200" dirty="0"/>
            </a:br>
            <a:r>
              <a:rPr lang="es-CO" sz="1200" b="1" dirty="0"/>
              <a:t>7. Bibliografía: </a:t>
            </a:r>
            <a:r>
              <a:rPr lang="es-CO" sz="1200" dirty="0"/>
              <a:t>Relacione las principales fuentes de información utilizadas durante el desarrollo del proyecto citadas en Norma APA (7.ª edición)</a:t>
            </a:r>
          </a:p>
        </p:txBody>
      </p:sp>
    </p:spTree>
    <p:extLst>
      <p:ext uri="{BB962C8B-B14F-4D97-AF65-F5344CB8AC3E}">
        <p14:creationId xmlns:p14="http://schemas.microsoft.com/office/powerpoint/2010/main" val="647664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505</TotalTime>
  <Words>1132</Words>
  <Application>Microsoft Office PowerPoint</Application>
  <PresentationFormat>Personalizado</PresentationFormat>
  <Paragraphs>90</Paragraphs>
  <Slides>2</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2</vt:i4>
      </vt:variant>
    </vt:vector>
  </HeadingPairs>
  <TitlesOfParts>
    <vt:vector size="8" baseType="lpstr">
      <vt:lpstr>Work Sans Ultra-Bold</vt:lpstr>
      <vt:lpstr>Arial</vt:lpstr>
      <vt:lpstr>Work Sans</vt:lpstr>
      <vt:lpstr>Calibri</vt:lpstr>
      <vt:lpstr>Times New Roman</vt:lpstr>
      <vt:lpstr>Office Theme</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Copia de Línea: TICs e Inteligencia Artificial / Usuario, Comercialización y logística</dc:title>
  <cp:lastModifiedBy>Edilberto Sarmiento Andapiña</cp:lastModifiedBy>
  <cp:revision>3</cp:revision>
  <dcterms:created xsi:type="dcterms:W3CDTF">2006-08-16T00:00:00Z</dcterms:created>
  <dcterms:modified xsi:type="dcterms:W3CDTF">2026-07-18T16:16:05Z</dcterms:modified>
  <dc:identifier>DAHNZ-OtJ_c</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c111285-cafa-4fc9-8a9a-bd902089b24f_Enabled">
    <vt:lpwstr>true</vt:lpwstr>
  </property>
  <property fmtid="{D5CDD505-2E9C-101B-9397-08002B2CF9AE}" pid="3" name="MSIP_Label_fc111285-cafa-4fc9-8a9a-bd902089b24f_SetDate">
    <vt:lpwstr>2026-06-30T00:37:55Z</vt:lpwstr>
  </property>
  <property fmtid="{D5CDD505-2E9C-101B-9397-08002B2CF9AE}" pid="4" name="MSIP_Label_fc111285-cafa-4fc9-8a9a-bd902089b24f_Method">
    <vt:lpwstr>Privileged</vt:lpwstr>
  </property>
  <property fmtid="{D5CDD505-2E9C-101B-9397-08002B2CF9AE}" pid="5" name="MSIP_Label_fc111285-cafa-4fc9-8a9a-bd902089b24f_Name">
    <vt:lpwstr>Public</vt:lpwstr>
  </property>
  <property fmtid="{D5CDD505-2E9C-101B-9397-08002B2CF9AE}" pid="6" name="MSIP_Label_fc111285-cafa-4fc9-8a9a-bd902089b24f_SiteId">
    <vt:lpwstr>cbc2c381-2f2e-4d93-91d1-506c9316ace7</vt:lpwstr>
  </property>
  <property fmtid="{D5CDD505-2E9C-101B-9397-08002B2CF9AE}" pid="7" name="MSIP_Label_fc111285-cafa-4fc9-8a9a-bd902089b24f_ActionId">
    <vt:lpwstr>d2d1b4f0-d17e-48d6-9df1-405e67bc3558</vt:lpwstr>
  </property>
  <property fmtid="{D5CDD505-2E9C-101B-9397-08002B2CF9AE}" pid="8" name="MSIP_Label_fc111285-cafa-4fc9-8a9a-bd902089b24f_ContentBits">
    <vt:lpwstr>0</vt:lpwstr>
  </property>
  <property fmtid="{D5CDD505-2E9C-101B-9397-08002B2CF9AE}" pid="9" name="MSIP_Label_fc111285-cafa-4fc9-8a9a-bd902089b24f_Tag">
    <vt:lpwstr>10, 0, 1, 1</vt:lpwstr>
  </property>
</Properties>
</file>
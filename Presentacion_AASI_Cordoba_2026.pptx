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94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ilberto Sarmiento Andapiña" userId="47b20a230de45c34" providerId="LiveId" clId="{605625CE-3080-4F3B-B6D5-AA9E52637EE6}"/>
    <pc:docChg chg="undo custSel addSld delSld modSld">
      <pc:chgData name="Edilberto Sarmiento Andapiña" userId="47b20a230de45c34" providerId="LiveId" clId="{605625CE-3080-4F3B-B6D5-AA9E52637EE6}" dt="2026-07-15T14:20:14.865" v="4" actId="21"/>
      <pc:docMkLst>
        <pc:docMk/>
      </pc:docMkLst>
      <pc:sldChg chg="modSp mod">
        <pc:chgData name="Edilberto Sarmiento Andapiña" userId="47b20a230de45c34" providerId="LiveId" clId="{605625CE-3080-4F3B-B6D5-AA9E52637EE6}" dt="2026-07-15T14:20:14.865" v="4" actId="21"/>
        <pc:sldMkLst>
          <pc:docMk/>
          <pc:sldMk cId="0" sldId="259"/>
        </pc:sldMkLst>
        <pc:spChg chg="mod">
          <ac:chgData name="Edilberto Sarmiento Andapiña" userId="47b20a230de45c34" providerId="LiveId" clId="{605625CE-3080-4F3B-B6D5-AA9E52637EE6}" dt="2026-07-15T14:20:14.865" v="4" actId="21"/>
          <ac:spMkLst>
            <pc:docMk/>
            <pc:sldMk cId="0" sldId="259"/>
            <ac:spMk id="22" creationId="{00000000-0000-0000-0000-000000000000}"/>
          </ac:spMkLst>
        </pc:spChg>
      </pc:sldChg>
      <pc:sldChg chg="del">
        <pc:chgData name="Edilberto Sarmiento Andapiña" userId="47b20a230de45c34" providerId="LiveId" clId="{605625CE-3080-4F3B-B6D5-AA9E52637EE6}" dt="2026-07-15T14:14:55.559" v="2" actId="47"/>
        <pc:sldMkLst>
          <pc:docMk/>
          <pc:sldMk cId="0" sldId="261"/>
        </pc:sldMkLst>
      </pc:sldChg>
      <pc:sldChg chg="new del">
        <pc:chgData name="Edilberto Sarmiento Andapiña" userId="47b20a230de45c34" providerId="LiveId" clId="{605625CE-3080-4F3B-B6D5-AA9E52637EE6}" dt="2026-07-15T14:14:55.460" v="1" actId="47"/>
        <pc:sldMkLst>
          <pc:docMk/>
          <pc:sldMk cId="3490802116"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891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Buenas tardes a todos. Mi nombre es Daniel Pencue, soy aprendiz investigador del Semillero AASI del SENA Neiva. Hoy les quiero contar el proyecto que estamos adelantando para que el SENA sea un lugar más inclusivo y respetuoso de la diversidad. Son 12 laminas, mas o menos 10 minutos. Si me preguntan al final, con gusto respondo.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La idea central es esta: en el SENA cada vez llegan mas aprendices con historias y condiciones muy diferentes, y nuestro proyecto quiere que el centro este preparado para recibirlos a todos. Tres palabras lo resumen: Inclusion, diversidad y equidad. Inclusion: que nadie quede por fuera. Diversidad: que cada diferencia sea valorada. Equidad: que cada quien reciba lo que necesita.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Cual es el problema? Son tres cosas. Primero, llegan mas personas diversas al centro. Segundo, el personal sabe que debe incluirlas pero no siempre tiene como. Y tercero, cuando un aprendiz se siente fuera de lugar, termina abandonando sus estudios. En pocas palabras: la inclusion esta declarada, pero todavia no esta aplicada del todo.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Lo que queremos es concreto: que el SENA Neiva tenga la capacidad de atender a todos sus aprendices con respeto. Y para eso estamos trabajando en 5 lineas de accion que les cuento en la siguiente lamina. Tomenle una foto a esta si quieren, aqui queda el plan completo.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Este es un proyecto de investigacion participativa: con personas reales, con historias reales. Y lo organizamos en 5 fases: empezamos escuchando a los instructores, seguimos con espacios interculturales, despues viene el libro con realidad aumentada, luego las rutas con inteligencia artificial, y cerramos con laboratorios de innovacion donde todos cocrean soluciones. Todo esto respaldado por el Decreto 1421 de 2017 y el Acuerdo 0010 de 2016 del SENA.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Sarita es el corazon del proyecto. Es la historia de una nina timida que cumple su sueno de ser ilustradora. La escribimos para que cualquier persona, sin importar su condicion, pueda verse reflejada. La leccion mas fuerte es esta: ser diferente no es algo que deba ocultar, es una parte valiosa de quien soy. Y la inclusion importa porque cuando alguien te escucha y te acompana, los suenos dejan de ser solo suenos. El libro va a salir con texto, Braille y un QR al audiolibro.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Este es el decalogo que creamos con el semillero: 10 principios para vivir la inclusion cada dia. Lo bonito es que son faciles de recordar, no son frases bonitas, son compromisos reales. Por ejemplo: Valoro la diversidad, Promuevo el respeto, Empatizo con los demas. Es algo que cualquier instructor puede tener presente en su clase. Ya lo estamos socializando con el personal del CIES.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Para el libro album seguimos las mismas reglas que se usan para personas con baja vision. La tipografia es Atkinson Hyperlegible, creada especialmente para eso. Tamano de 18 puntos, interlineado 1.5, alineado a la izquierda, lineas cortas. Y la paleta de colores la verificamos con simulador de daltonismo para que se vea bien para todos. El contraste entre el negro del texto y el crema del fondo es de 15.6 a 1, que es el nivel mas alto, AAA. Esto se hizo con consulta a la British Dyslexia Association, al RNIB y a las WCAG 2.2.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Aqui esta lo que nos contaron los instructores cuando hicimos el mapa de empatia. Lo que mas nos llamo la atencion es esto: si quieren incluir, pero les faltan herramientas, recursos y les da miedo equivocarse. Por eso el proyecto no es solo para los aprendices, tambien es para acompanar a los instructores. La inclusion no se decreta, se construye con formacion, tiempo y apoyo.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Que esperamos lograr? Primero, que el 80% del personal del centro este capacitado en inclusion. Segundo, que tengamos herramientas pedagogicas nuevas. Tercero, que la tecnologia sea aliada: realidad aumentada, datos e inteligencia artificial. Cuarto, que baje la desercion de los aprendices diversos. Y quinto, que esto se pueda replicar en otros centros del SENA del pais. Ese es el sueno grande.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rPr sz="1200"/>
              <a:t>Bueno, eso es todo. Les agradezco de corazon por escucharme. Si quieren saber mas del proyecto, del cuento Sarita, del semillero o tienen ideas para sumar, mi correo esta aqui en la pantalla. Muchas gracias y buen resto de jornada.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Rounded Rectangle 1"/>
          <p:cNvSpPr/>
          <p:nvPr/>
        </p:nvSpPr>
        <p:spPr>
          <a:xfrm>
            <a:off x="0" y="0"/>
            <a:ext cx="502920" cy="6858000"/>
          </a:xfrm>
          <a:prstGeom prst="roundRect">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601200" y="0"/>
            <a:ext cx="2587752" cy="2194560"/>
          </a:xfrm>
          <a:prstGeom prst="roundRect">
            <a:avLst/>
          </a:prstGeom>
          <a:solidFill>
            <a:srgbClr val="DDD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601200" y="2194560"/>
            <a:ext cx="2587752" cy="1280160"/>
          </a:xfrm>
          <a:prstGeom prst="roundRect">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601200" y="3474720"/>
            <a:ext cx="2587752" cy="1188720"/>
          </a:xfrm>
          <a:prstGeom prst="roundRect">
            <a:avLst/>
          </a:prstGeom>
          <a:solidFill>
            <a:srgbClr val="D9C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502920"/>
            <a:ext cx="8229600" cy="365760"/>
          </a:xfrm>
          <a:prstGeom prst="rect">
            <a:avLst/>
          </a:prstGeom>
          <a:noFill/>
        </p:spPr>
        <p:txBody>
          <a:bodyPr wrap="square" lIns="45720" tIns="18288" rIns="45720" bIns="18288" anchor="t">
            <a:spAutoFit/>
          </a:bodyPr>
          <a:lstStyle/>
          <a:p>
            <a:pPr algn="l"/>
            <a:r>
              <a:rPr sz="1200" b="1" i="0">
                <a:solidFill>
                  <a:srgbClr val="022873"/>
                </a:solidFill>
                <a:latin typeface="Atkinson Hyperlegible"/>
                <a:ea typeface="Atkinson Hyperlegible"/>
                <a:cs typeface="Atkinson Hyperlegible"/>
              </a:rPr>
              <a:t>ENCUENTRO DE SEMILLEROS  ·  CORDOBA  ·  LINEA TICs E INTELIGENCIA ARTIFICIAL</a:t>
            </a:r>
          </a:p>
        </p:txBody>
      </p:sp>
      <p:sp>
        <p:nvSpPr>
          <p:cNvPr id="7" name="TextBox 6"/>
          <p:cNvSpPr txBox="1"/>
          <p:nvPr/>
        </p:nvSpPr>
        <p:spPr>
          <a:xfrm>
            <a:off x="914400" y="1280160"/>
            <a:ext cx="8412480" cy="1645920"/>
          </a:xfrm>
          <a:prstGeom prst="rect">
            <a:avLst/>
          </a:prstGeom>
          <a:noFill/>
        </p:spPr>
        <p:txBody>
          <a:bodyPr wrap="square" lIns="45720" tIns="18288" rIns="45720" bIns="18288" anchor="t">
            <a:spAutoFit/>
          </a:bodyPr>
          <a:lstStyle/>
          <a:p>
            <a:pPr algn="l"/>
            <a:r>
              <a:rPr sz="3600" b="1" i="0">
                <a:solidFill>
                  <a:srgbClr val="0A0A0A"/>
                </a:solidFill>
                <a:latin typeface="Atkinson Hyperlegible"/>
                <a:ea typeface="Atkinson Hyperlegible"/>
                <a:cs typeface="Atkinson Hyperlegible"/>
              </a:rPr>
              <a:t>Atencion con Enfoque Pluralista y Diferencial</a:t>
            </a:r>
          </a:p>
        </p:txBody>
      </p:sp>
      <p:sp>
        <p:nvSpPr>
          <p:cNvPr id="8" name="TextBox 7"/>
          <p:cNvSpPr txBox="1"/>
          <p:nvPr/>
        </p:nvSpPr>
        <p:spPr>
          <a:xfrm>
            <a:off x="914400" y="2606040"/>
            <a:ext cx="8412480" cy="548640"/>
          </a:xfrm>
          <a:prstGeom prst="rect">
            <a:avLst/>
          </a:prstGeom>
          <a:noFill/>
        </p:spPr>
        <p:txBody>
          <a:bodyPr wrap="square" lIns="45720" tIns="18288" rIns="45720" bIns="18288" anchor="t">
            <a:spAutoFit/>
          </a:bodyPr>
          <a:lstStyle/>
          <a:p>
            <a:pPr algn="l"/>
            <a:r>
              <a:rPr sz="2600" b="0" i="1">
                <a:solidFill>
                  <a:srgbClr val="022873"/>
                </a:solidFill>
                <a:latin typeface="Atkinson Hyperlegible"/>
                <a:ea typeface="Atkinson Hyperlegible"/>
                <a:cs typeface="Atkinson Hyperlegible"/>
              </a:rPr>
              <a:t>en el SENA Regional Huila</a:t>
            </a:r>
          </a:p>
        </p:txBody>
      </p:sp>
      <p:sp>
        <p:nvSpPr>
          <p:cNvPr id="9" name="Rectangle 8"/>
          <p:cNvSpPr/>
          <p:nvPr/>
        </p:nvSpPr>
        <p:spPr>
          <a:xfrm>
            <a:off x="914400" y="3291840"/>
            <a:ext cx="2011680" cy="54864"/>
          </a:xfrm>
          <a:prstGeom prst="rect">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520440"/>
            <a:ext cx="8229600" cy="457200"/>
          </a:xfrm>
          <a:prstGeom prst="rect">
            <a:avLst/>
          </a:prstGeom>
          <a:noFill/>
        </p:spPr>
        <p:txBody>
          <a:bodyPr wrap="square" lIns="45720" tIns="18288" rIns="45720" bIns="18288" anchor="t">
            <a:spAutoFit/>
          </a:bodyPr>
          <a:lstStyle/>
          <a:p>
            <a:pPr algn="l"/>
            <a:r>
              <a:rPr sz="1800" b="0" i="0">
                <a:solidFill>
                  <a:srgbClr val="4A4A4A"/>
                </a:solidFill>
                <a:latin typeface="Atkinson Hyperlegible"/>
                <a:ea typeface="Atkinson Hyperlegible"/>
                <a:cs typeface="Atkinson Hyperlegible"/>
              </a:rPr>
              <a:t>Como hacer que el SENA sea un lugar donde TODOS los aprendices quepan,</a:t>
            </a:r>
          </a:p>
        </p:txBody>
      </p:sp>
      <p:sp>
        <p:nvSpPr>
          <p:cNvPr id="11" name="TextBox 10"/>
          <p:cNvSpPr txBox="1"/>
          <p:nvPr/>
        </p:nvSpPr>
        <p:spPr>
          <a:xfrm>
            <a:off x="914400" y="3886200"/>
            <a:ext cx="8229600" cy="457200"/>
          </a:xfrm>
          <a:prstGeom prst="rect">
            <a:avLst/>
          </a:prstGeom>
          <a:noFill/>
        </p:spPr>
        <p:txBody>
          <a:bodyPr wrap="square" lIns="45720" tIns="18288" rIns="45720" bIns="18288" anchor="t">
            <a:spAutoFit/>
          </a:bodyPr>
          <a:lstStyle/>
          <a:p>
            <a:pPr algn="l"/>
            <a:r>
              <a:rPr sz="1800" b="0" i="0">
                <a:solidFill>
                  <a:srgbClr val="4A4A4A"/>
                </a:solidFill>
                <a:latin typeface="Atkinson Hyperlegible"/>
                <a:ea typeface="Atkinson Hyperlegible"/>
                <a:cs typeface="Atkinson Hyperlegible"/>
              </a:rPr>
              <a:t>aprendan y se sientan bienvenidos.</a:t>
            </a:r>
          </a:p>
        </p:txBody>
      </p:sp>
      <p:sp>
        <p:nvSpPr>
          <p:cNvPr id="12" name="Rounded Rectangle 11"/>
          <p:cNvSpPr/>
          <p:nvPr/>
        </p:nvSpPr>
        <p:spPr>
          <a:xfrm>
            <a:off x="914400" y="4663440"/>
            <a:ext cx="7863840" cy="1371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4800600"/>
            <a:ext cx="7498079" cy="365760"/>
          </a:xfrm>
          <a:prstGeom prst="rect">
            <a:avLst/>
          </a:prstGeom>
          <a:noFill/>
        </p:spPr>
        <p:txBody>
          <a:bodyPr wrap="square" lIns="45720" tIns="18288" rIns="45720" bIns="18288" anchor="t">
            <a:spAutoFit/>
          </a:bodyPr>
          <a:lstStyle/>
          <a:p>
            <a:pPr algn="l"/>
            <a:r>
              <a:rPr sz="1100" b="1" i="0">
                <a:solidFill>
                  <a:srgbClr val="F28F16"/>
                </a:solidFill>
                <a:latin typeface="Atkinson Hyperlegible"/>
                <a:ea typeface="Atkinson Hyperlegible"/>
                <a:cs typeface="Atkinson Hyperlegible"/>
              </a:rPr>
              <a:t>PRESENTADO POR</a:t>
            </a:r>
          </a:p>
        </p:txBody>
      </p:sp>
      <p:sp>
        <p:nvSpPr>
          <p:cNvPr id="14" name="TextBox 13"/>
          <p:cNvSpPr txBox="1"/>
          <p:nvPr/>
        </p:nvSpPr>
        <p:spPr>
          <a:xfrm>
            <a:off x="1143000" y="5074920"/>
            <a:ext cx="7498079" cy="411480"/>
          </a:xfrm>
          <a:prstGeom prst="rect">
            <a:avLst/>
          </a:prstGeom>
          <a:noFill/>
        </p:spPr>
        <p:txBody>
          <a:bodyPr wrap="square" lIns="45720" tIns="18288" rIns="45720" bIns="18288" anchor="t">
            <a:spAutoFit/>
          </a:bodyPr>
          <a:lstStyle/>
          <a:p>
            <a:pPr algn="l"/>
            <a:r>
              <a:rPr sz="1800" b="1" i="0">
                <a:solidFill>
                  <a:srgbClr val="0A0A0A"/>
                </a:solidFill>
                <a:latin typeface="Atkinson Hyperlegible"/>
                <a:ea typeface="Atkinson Hyperlegible"/>
                <a:cs typeface="Atkinson Hyperlegible"/>
              </a:rPr>
              <a:t>Jesus Daniel Pencue Tejada</a:t>
            </a:r>
          </a:p>
        </p:txBody>
      </p:sp>
      <p:sp>
        <p:nvSpPr>
          <p:cNvPr id="15" name="TextBox 14"/>
          <p:cNvSpPr txBox="1"/>
          <p:nvPr/>
        </p:nvSpPr>
        <p:spPr>
          <a:xfrm>
            <a:off x="1143000" y="5486400"/>
            <a:ext cx="7498079" cy="365760"/>
          </a:xfrm>
          <a:prstGeom prst="rect">
            <a:avLst/>
          </a:prstGeom>
          <a:noFill/>
        </p:spPr>
        <p:txBody>
          <a:bodyPr wrap="square" lIns="45720" tIns="18288" rIns="45720" bIns="18288" anchor="t">
            <a:spAutoFit/>
          </a:bodyPr>
          <a:lstStyle/>
          <a:p>
            <a:pPr algn="l"/>
            <a:r>
              <a:rPr sz="1200" b="0" i="0">
                <a:solidFill>
                  <a:srgbClr val="4A4A4A"/>
                </a:solidFill>
                <a:latin typeface="Atkinson Hyperlegible"/>
                <a:ea typeface="Atkinson Hyperlegible"/>
                <a:cs typeface="Atkinson Hyperlegible"/>
              </a:rPr>
              <a:t>Aprendiz investigador del Semillero AASI  -  SENA Centro de la Industria, la Empresa y los Servicios  -  Neiva, Huila</a:t>
            </a:r>
          </a:p>
        </p:txBody>
      </p:sp>
      <p:sp>
        <p:nvSpPr>
          <p:cNvPr id="16" name="TextBox 15"/>
          <p:cNvSpPr txBox="1"/>
          <p:nvPr/>
        </p:nvSpPr>
        <p:spPr>
          <a:xfrm>
            <a:off x="1143000" y="5806440"/>
            <a:ext cx="7498079" cy="274320"/>
          </a:xfrm>
          <a:prstGeom prst="rect">
            <a:avLst/>
          </a:prstGeom>
          <a:noFill/>
        </p:spPr>
        <p:txBody>
          <a:bodyPr wrap="square" lIns="45720" tIns="18288" rIns="45720" bIns="18288" anchor="t">
            <a:spAutoFit/>
          </a:bodyPr>
          <a:lstStyle/>
          <a:p>
            <a:pPr algn="l"/>
            <a:r>
              <a:rPr sz="1100" b="0" i="1">
                <a:solidFill>
                  <a:srgbClr val="4A4A4A"/>
                </a:solidFill>
                <a:latin typeface="Atkinson Hyperlegible"/>
                <a:ea typeface="Atkinson Hyperlegible"/>
                <a:cs typeface="Atkinson Hyperlegible"/>
              </a:rPr>
              <a:t>Investigadores: Erika Johanna Brand  ·  Alberto Enrique Oviedo</a:t>
            </a:r>
          </a:p>
        </p:txBody>
      </p:sp>
      <p:sp>
        <p:nvSpPr>
          <p:cNvPr id="17" name="TextBox 16"/>
          <p:cNvSpPr txBox="1"/>
          <p:nvPr/>
        </p:nvSpPr>
        <p:spPr>
          <a:xfrm>
            <a:off x="914400" y="6263640"/>
            <a:ext cx="7315200" cy="365760"/>
          </a:xfrm>
          <a:prstGeom prst="rect">
            <a:avLst/>
          </a:prstGeom>
          <a:noFill/>
        </p:spPr>
        <p:txBody>
          <a:bodyPr wrap="square" lIns="45720" tIns="18288" rIns="45720" bIns="18288" anchor="t">
            <a:spAutoFit/>
          </a:bodyPr>
          <a:lstStyle/>
          <a:p>
            <a:pPr algn="l"/>
            <a:r>
              <a:rPr sz="1200" b="0" i="0">
                <a:solidFill>
                  <a:srgbClr val="4A4A4A"/>
                </a:solidFill>
                <a:latin typeface="Atkinson Hyperlegible"/>
                <a:ea typeface="Atkinson Hyperlegible"/>
                <a:cs typeface="Atkinson Hyperlegible"/>
              </a:rPr>
              <a:t>Presentado por Jesus Daniel Pencue Tejada  ·  Julio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EN POCAS PALABRAS</a:t>
            </a:r>
          </a:p>
        </p:txBody>
      </p:sp>
      <p:sp>
        <p:nvSpPr>
          <p:cNvPr id="3" name="TextBox 2"/>
          <p:cNvSpPr txBox="1"/>
          <p:nvPr/>
        </p:nvSpPr>
        <p:spPr>
          <a:xfrm>
            <a:off x="548640" y="685800"/>
            <a:ext cx="11155680" cy="91440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De que se trata este proyecto</a:t>
            </a:r>
          </a:p>
        </p:txBody>
      </p:sp>
      <p:sp>
        <p:nvSpPr>
          <p:cNvPr id="4" name="Rounded Rectangle 3"/>
          <p:cNvSpPr/>
          <p:nvPr/>
        </p:nvSpPr>
        <p:spPr>
          <a:xfrm>
            <a:off x="548640" y="1828800"/>
            <a:ext cx="11064240" cy="2377440"/>
          </a:xfrm>
          <a:prstGeom prst="roundRect">
            <a:avLst>
              <a:gd name="adj" fmla="val 10000"/>
            </a:avLst>
          </a:prstGeom>
          <a:solidFill>
            <a:srgbClr val="DDD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2011680"/>
            <a:ext cx="10515600" cy="2103120"/>
          </a:xfrm>
          <a:prstGeom prst="rect">
            <a:avLst/>
          </a:prstGeom>
          <a:noFill/>
        </p:spPr>
        <p:txBody>
          <a:bodyPr wrap="square" lIns="45720" tIns="18288" rIns="45720" bIns="18288" anchor="t">
            <a:spAutoFit/>
          </a:bodyPr>
          <a:lstStyle/>
          <a:p>
            <a:pPr algn="l"/>
            <a:r>
              <a:rPr sz="2000" b="0" i="0">
                <a:solidFill>
                  <a:srgbClr val="0A0A0A"/>
                </a:solidFill>
                <a:latin typeface="Atkinson Hyperlegible"/>
                <a:ea typeface="Atkinson Hyperlegible"/>
                <a:cs typeface="Atkinson Hyperlegible"/>
              </a:rPr>
              <a:t>En el SENA llegan cada vez mas aprendices diferentes: algunos tienen una discapacidad, otros vienen de culturas lejanas, otros han pasado por situaciones duras de vida.</a:t>
            </a:r>
          </a:p>
          <a:p>
            <a:pPr algn="l"/>
            <a:endParaRPr sz="2000" b="0" i="0">
              <a:solidFill>
                <a:srgbClr val="0A0A0A"/>
              </a:solidFill>
              <a:latin typeface="Atkinson Hyperlegible"/>
              <a:ea typeface="Atkinson Hyperlegible"/>
              <a:cs typeface="Atkinson Hyperlegible"/>
            </a:endParaRPr>
          </a:p>
          <a:p>
            <a:pPr algn="l"/>
            <a:r>
              <a:rPr sz="2000" b="0" i="0">
                <a:solidFill>
                  <a:srgbClr val="0A0A0A"/>
                </a:solidFill>
                <a:latin typeface="Atkinson Hyperlegible"/>
                <a:ea typeface="Atkinson Hyperlegible"/>
                <a:cs typeface="Atkinson Hyperlegible"/>
              </a:rPr>
              <a:t>Nuestro proyecto quiere que el SENA este preparado para recibirlos a TODOS y para que nadie se quede en el camino por no encajar en un solo molde.</a:t>
            </a:r>
          </a:p>
        </p:txBody>
      </p:sp>
      <p:sp>
        <p:nvSpPr>
          <p:cNvPr id="6" name="Rounded Rectangle 5"/>
          <p:cNvSpPr/>
          <p:nvPr/>
        </p:nvSpPr>
        <p:spPr>
          <a:xfrm>
            <a:off x="548640" y="4572000"/>
            <a:ext cx="3566160" cy="1645920"/>
          </a:xfrm>
          <a:prstGeom prst="roundRect">
            <a:avLst>
              <a:gd name="adj" fmla="val 12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4754880"/>
            <a:ext cx="3108960" cy="411480"/>
          </a:xfrm>
          <a:prstGeom prst="rect">
            <a:avLst/>
          </a:prstGeom>
          <a:noFill/>
        </p:spPr>
        <p:txBody>
          <a:bodyPr wrap="square" lIns="45720" tIns="18288" rIns="45720" bIns="18288" anchor="t">
            <a:spAutoFit/>
          </a:bodyPr>
          <a:lstStyle/>
          <a:p>
            <a:pPr algn="l"/>
            <a:r>
              <a:rPr sz="1400" b="1" i="0">
                <a:solidFill>
                  <a:srgbClr val="022873"/>
                </a:solidFill>
                <a:latin typeface="Atkinson Hyperlegible"/>
                <a:ea typeface="Atkinson Hyperlegible"/>
                <a:cs typeface="Atkinson Hyperlegible"/>
              </a:rPr>
              <a:t>INCLUSION</a:t>
            </a:r>
          </a:p>
        </p:txBody>
      </p:sp>
      <p:sp>
        <p:nvSpPr>
          <p:cNvPr id="8" name="TextBox 7"/>
          <p:cNvSpPr txBox="1"/>
          <p:nvPr/>
        </p:nvSpPr>
        <p:spPr>
          <a:xfrm>
            <a:off x="777240" y="5257800"/>
            <a:ext cx="3108960" cy="82296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Que nadie quede por fuera.</a:t>
            </a:r>
          </a:p>
        </p:txBody>
      </p:sp>
      <p:sp>
        <p:nvSpPr>
          <p:cNvPr id="9" name="Rounded Rectangle 8"/>
          <p:cNvSpPr/>
          <p:nvPr/>
        </p:nvSpPr>
        <p:spPr>
          <a:xfrm>
            <a:off x="4297680" y="4572000"/>
            <a:ext cx="3566160" cy="1645920"/>
          </a:xfrm>
          <a:prstGeom prst="roundRect">
            <a:avLst>
              <a:gd name="adj" fmla="val 12000"/>
            </a:avLst>
          </a:prstGeom>
          <a:solidFill>
            <a:srgbClr val="D9C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4754880"/>
            <a:ext cx="3108960" cy="411480"/>
          </a:xfrm>
          <a:prstGeom prst="rect">
            <a:avLst/>
          </a:prstGeom>
          <a:noFill/>
        </p:spPr>
        <p:txBody>
          <a:bodyPr wrap="square" lIns="45720" tIns="18288" rIns="45720" bIns="18288" anchor="t">
            <a:spAutoFit/>
          </a:bodyPr>
          <a:lstStyle/>
          <a:p>
            <a:pPr algn="l"/>
            <a:r>
              <a:rPr sz="1400" b="1" i="0">
                <a:solidFill>
                  <a:srgbClr val="28401D"/>
                </a:solidFill>
                <a:latin typeface="Atkinson Hyperlegible"/>
                <a:ea typeface="Atkinson Hyperlegible"/>
                <a:cs typeface="Atkinson Hyperlegible"/>
              </a:rPr>
              <a:t>DIVERSIDAD</a:t>
            </a:r>
          </a:p>
        </p:txBody>
      </p:sp>
      <p:sp>
        <p:nvSpPr>
          <p:cNvPr id="11" name="TextBox 10"/>
          <p:cNvSpPr txBox="1"/>
          <p:nvPr/>
        </p:nvSpPr>
        <p:spPr>
          <a:xfrm>
            <a:off x="4526280" y="5257800"/>
            <a:ext cx="3108960" cy="82296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Que cada diferencia sea valorada.</a:t>
            </a:r>
          </a:p>
        </p:txBody>
      </p:sp>
      <p:sp>
        <p:nvSpPr>
          <p:cNvPr id="12" name="Rounded Rectangle 11"/>
          <p:cNvSpPr/>
          <p:nvPr/>
        </p:nvSpPr>
        <p:spPr>
          <a:xfrm>
            <a:off x="8046720" y="4572000"/>
            <a:ext cx="3566160" cy="1645920"/>
          </a:xfrm>
          <a:prstGeom prst="roundRect">
            <a:avLst>
              <a:gd name="adj" fmla="val 12000"/>
            </a:avLst>
          </a:prstGeom>
          <a:solidFill>
            <a:srgbClr val="F3D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5320" y="4754880"/>
            <a:ext cx="3108960" cy="411480"/>
          </a:xfrm>
          <a:prstGeom prst="rect">
            <a:avLst/>
          </a:prstGeom>
          <a:noFill/>
        </p:spPr>
        <p:txBody>
          <a:bodyPr wrap="square" lIns="45720" tIns="18288" rIns="45720" bIns="18288" anchor="t">
            <a:spAutoFit/>
          </a:bodyPr>
          <a:lstStyle/>
          <a:p>
            <a:pPr algn="l"/>
            <a:r>
              <a:rPr sz="1400" b="1" i="0">
                <a:solidFill>
                  <a:srgbClr val="F28F16"/>
                </a:solidFill>
                <a:latin typeface="Atkinson Hyperlegible"/>
                <a:ea typeface="Atkinson Hyperlegible"/>
                <a:cs typeface="Atkinson Hyperlegible"/>
              </a:rPr>
              <a:t>EQUIDAD</a:t>
            </a:r>
          </a:p>
        </p:txBody>
      </p:sp>
      <p:sp>
        <p:nvSpPr>
          <p:cNvPr id="14" name="TextBox 13"/>
          <p:cNvSpPr txBox="1"/>
          <p:nvPr/>
        </p:nvSpPr>
        <p:spPr>
          <a:xfrm>
            <a:off x="8275320" y="5257800"/>
            <a:ext cx="3108960" cy="82296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Que cada quien reciba lo que necesita.</a:t>
            </a:r>
          </a:p>
        </p:txBody>
      </p:sp>
      <p:sp>
        <p:nvSpPr>
          <p:cNvPr id="15" name="TextBox 14"/>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16" name="TextBox 15"/>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2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EL PUNTO DE PARTIDA</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400" b="1" i="0">
                <a:solidFill>
                  <a:srgbClr val="022873"/>
                </a:solidFill>
                <a:latin typeface="Atkinson Hyperlegible"/>
                <a:ea typeface="Atkinson Hyperlegible"/>
                <a:cs typeface="Atkinson Hyperlegible"/>
              </a:rPr>
              <a:t>Cual es el problema que vemos</a:t>
            </a:r>
          </a:p>
        </p:txBody>
      </p:sp>
      <p:sp>
        <p:nvSpPr>
          <p:cNvPr id="4" name="TextBox 3"/>
          <p:cNvSpPr txBox="1"/>
          <p:nvPr/>
        </p:nvSpPr>
        <p:spPr>
          <a:xfrm>
            <a:off x="548640" y="1691640"/>
            <a:ext cx="11155680" cy="1463040"/>
          </a:xfrm>
          <a:prstGeom prst="rect">
            <a:avLst/>
          </a:prstGeom>
          <a:noFill/>
        </p:spPr>
        <p:txBody>
          <a:bodyPr wrap="square" lIns="45720" tIns="18288" rIns="45720" bIns="18288" anchor="t">
            <a:spAutoFit/>
          </a:bodyPr>
          <a:lstStyle/>
          <a:p>
            <a:pPr algn="l"/>
            <a:r>
              <a:rPr sz="1800" b="0" i="0">
                <a:solidFill>
                  <a:srgbClr val="0A0A0A"/>
                </a:solidFill>
                <a:latin typeface="Atkinson Hyperlegible"/>
                <a:ea typeface="Atkinson Hyperlegible"/>
                <a:cs typeface="Atkinson Hyperlegible"/>
              </a:rPr>
              <a:t>En el Centro de Formacion del SENA en Neiva cada vez llegan mas aprendices con historias, capacidades y condiciones diferentes. Pero el centro todavia no tiene todas las herramientas ni el conocimiento para atenderlos bien a todos.</a:t>
            </a:r>
          </a:p>
        </p:txBody>
      </p:sp>
      <p:sp>
        <p:nvSpPr>
          <p:cNvPr id="5" name="Rounded Rectangle 4"/>
          <p:cNvSpPr/>
          <p:nvPr/>
        </p:nvSpPr>
        <p:spPr>
          <a:xfrm>
            <a:off x="548640" y="3383280"/>
            <a:ext cx="3657600" cy="26517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3383280"/>
            <a:ext cx="3657600" cy="411480"/>
          </a:xfrm>
          <a:prstGeom prst="roundRect">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3429000"/>
            <a:ext cx="3200400" cy="365760"/>
          </a:xfrm>
          <a:prstGeom prst="rect">
            <a:avLst/>
          </a:prstGeom>
          <a:noFill/>
        </p:spPr>
        <p:txBody>
          <a:bodyPr wrap="square" lIns="45720" tIns="18288" rIns="45720" bIns="18288" anchor="t">
            <a:spAutoFit/>
          </a:bodyPr>
          <a:lstStyle/>
          <a:p>
            <a:pPr algn="l"/>
            <a:r>
              <a:rPr sz="1200" b="1" i="0">
                <a:solidFill>
                  <a:srgbClr val="FFFFFF"/>
                </a:solidFill>
                <a:latin typeface="Atkinson Hyperlegible"/>
                <a:ea typeface="Atkinson Hyperlegible"/>
                <a:cs typeface="Atkinson Hyperlegible"/>
              </a:rPr>
              <a:t>MAS PERSONAS DIVERSAS</a:t>
            </a:r>
          </a:p>
        </p:txBody>
      </p:sp>
      <p:sp>
        <p:nvSpPr>
          <p:cNvPr id="8" name="TextBox 7"/>
          <p:cNvSpPr txBox="1"/>
          <p:nvPr/>
        </p:nvSpPr>
        <p:spPr>
          <a:xfrm>
            <a:off x="777240" y="3977640"/>
            <a:ext cx="3200400" cy="1920240"/>
          </a:xfrm>
          <a:prstGeom prst="rect">
            <a:avLst/>
          </a:prstGeom>
          <a:noFill/>
        </p:spPr>
        <p:txBody>
          <a:bodyPr wrap="square" lIns="45720" tIns="18288" rIns="45720" bIns="18288" anchor="t">
            <a:spAutoFit/>
          </a:bodyPr>
          <a:lstStyle/>
          <a:p>
            <a:pPr algn="l"/>
            <a:r>
              <a:rPr sz="1400" b="0" i="0">
                <a:solidFill>
                  <a:srgbClr val="0A0A0A"/>
                </a:solidFill>
                <a:latin typeface="Atkinson Hyperlegible"/>
                <a:ea typeface="Atkinson Hyperlegible"/>
                <a:cs typeface="Atkinson Hyperlegible"/>
              </a:rPr>
              <a:t>Cada oferta educativa recibe aprendices con condiciones distintas: discapacidad, culturas diversas, situaciones sociales complejas.</a:t>
            </a:r>
          </a:p>
        </p:txBody>
      </p:sp>
      <p:sp>
        <p:nvSpPr>
          <p:cNvPr id="9" name="Rounded Rectangle 8"/>
          <p:cNvSpPr/>
          <p:nvPr/>
        </p:nvSpPr>
        <p:spPr>
          <a:xfrm>
            <a:off x="4343400" y="3383280"/>
            <a:ext cx="3657600" cy="26517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43400" y="3383280"/>
            <a:ext cx="3657600" cy="411480"/>
          </a:xfrm>
          <a:prstGeom prst="roundRect">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3429000"/>
            <a:ext cx="3200400" cy="365760"/>
          </a:xfrm>
          <a:prstGeom prst="rect">
            <a:avLst/>
          </a:prstGeom>
          <a:noFill/>
        </p:spPr>
        <p:txBody>
          <a:bodyPr wrap="square" lIns="45720" tIns="18288" rIns="45720" bIns="18288" anchor="t">
            <a:spAutoFit/>
          </a:bodyPr>
          <a:lstStyle/>
          <a:p>
            <a:pPr algn="l"/>
            <a:r>
              <a:rPr sz="1200" b="1" i="0">
                <a:solidFill>
                  <a:srgbClr val="FFFFFF"/>
                </a:solidFill>
                <a:latin typeface="Atkinson Hyperlegible"/>
                <a:ea typeface="Atkinson Hyperlegible"/>
                <a:cs typeface="Atkinson Hyperlegible"/>
              </a:rPr>
              <a:t>FALTA DE PREPARACION</a:t>
            </a:r>
          </a:p>
        </p:txBody>
      </p:sp>
      <p:sp>
        <p:nvSpPr>
          <p:cNvPr id="12" name="TextBox 11"/>
          <p:cNvSpPr txBox="1"/>
          <p:nvPr/>
        </p:nvSpPr>
        <p:spPr>
          <a:xfrm>
            <a:off x="4572000" y="3977640"/>
            <a:ext cx="3200400" cy="1920240"/>
          </a:xfrm>
          <a:prstGeom prst="rect">
            <a:avLst/>
          </a:prstGeom>
          <a:noFill/>
        </p:spPr>
        <p:txBody>
          <a:bodyPr wrap="square" lIns="45720" tIns="18288" rIns="45720" bIns="18288" anchor="t">
            <a:spAutoFit/>
          </a:bodyPr>
          <a:lstStyle/>
          <a:p>
            <a:pPr algn="l"/>
            <a:r>
              <a:rPr sz="1400" b="0" i="0">
                <a:solidFill>
                  <a:srgbClr val="0A0A0A"/>
                </a:solidFill>
                <a:latin typeface="Atkinson Hyperlegible"/>
                <a:ea typeface="Atkinson Hyperlegible"/>
                <a:cs typeface="Atkinson Hyperlegible"/>
              </a:rPr>
              <a:t>El personal del centro sabe que la inclusion es importante, pero no siempre tiene formacion, recursos ni acompanamiento para aplicarla.</a:t>
            </a:r>
          </a:p>
        </p:txBody>
      </p:sp>
      <p:sp>
        <p:nvSpPr>
          <p:cNvPr id="13" name="Rounded Rectangle 12"/>
          <p:cNvSpPr/>
          <p:nvPr/>
        </p:nvSpPr>
        <p:spPr>
          <a:xfrm>
            <a:off x="8138160" y="3383280"/>
            <a:ext cx="3657600" cy="26517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38160" y="3383280"/>
            <a:ext cx="3657600" cy="411480"/>
          </a:xfrm>
          <a:prstGeom prst="roundRect">
            <a:avLst/>
          </a:prstGeom>
          <a:solidFill>
            <a:srgbClr val="284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3429000"/>
            <a:ext cx="3200400" cy="365760"/>
          </a:xfrm>
          <a:prstGeom prst="rect">
            <a:avLst/>
          </a:prstGeom>
          <a:noFill/>
        </p:spPr>
        <p:txBody>
          <a:bodyPr wrap="square" lIns="45720" tIns="18288" rIns="45720" bIns="18288" anchor="t">
            <a:spAutoFit/>
          </a:bodyPr>
          <a:lstStyle/>
          <a:p>
            <a:pPr algn="l"/>
            <a:r>
              <a:rPr sz="1200" b="1" i="0">
                <a:solidFill>
                  <a:srgbClr val="FFFFFF"/>
                </a:solidFill>
                <a:latin typeface="Atkinson Hyperlegible"/>
                <a:ea typeface="Atkinson Hyperlegible"/>
                <a:cs typeface="Atkinson Hyperlegible"/>
              </a:rPr>
              <a:t>RIESGO DE DESERCION</a:t>
            </a:r>
          </a:p>
        </p:txBody>
      </p:sp>
      <p:sp>
        <p:nvSpPr>
          <p:cNvPr id="16" name="TextBox 15"/>
          <p:cNvSpPr txBox="1"/>
          <p:nvPr/>
        </p:nvSpPr>
        <p:spPr>
          <a:xfrm>
            <a:off x="8366760" y="3977640"/>
            <a:ext cx="3200400" cy="1920240"/>
          </a:xfrm>
          <a:prstGeom prst="rect">
            <a:avLst/>
          </a:prstGeom>
          <a:noFill/>
        </p:spPr>
        <p:txBody>
          <a:bodyPr wrap="square" lIns="45720" tIns="18288" rIns="45720" bIns="18288" anchor="t">
            <a:spAutoFit/>
          </a:bodyPr>
          <a:lstStyle/>
          <a:p>
            <a:pPr algn="l"/>
            <a:r>
              <a:rPr sz="1400" b="0" i="0">
                <a:solidFill>
                  <a:srgbClr val="0A0A0A"/>
                </a:solidFill>
                <a:latin typeface="Atkinson Hyperlegible"/>
                <a:ea typeface="Atkinson Hyperlegible"/>
                <a:cs typeface="Atkinson Hyperlegible"/>
              </a:rPr>
              <a:t>Cuando un aprendiz se siente fuera de lugar, termina abandonando sus estudios. Eso le cierra puertas a el y le quita talento al pais.</a:t>
            </a:r>
          </a:p>
        </p:txBody>
      </p:sp>
      <p:sp>
        <p:nvSpPr>
          <p:cNvPr id="17" name="Rounded Rectangle 16"/>
          <p:cNvSpPr/>
          <p:nvPr/>
        </p:nvSpPr>
        <p:spPr>
          <a:xfrm>
            <a:off x="548640" y="5989320"/>
            <a:ext cx="11064240" cy="457200"/>
          </a:xfrm>
          <a:prstGeom prst="roundRect">
            <a:avLst>
              <a:gd name="adj" fmla="val 8000"/>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035040"/>
            <a:ext cx="10789920" cy="411480"/>
          </a:xfrm>
          <a:prstGeom prst="rect">
            <a:avLst/>
          </a:prstGeom>
          <a:noFill/>
        </p:spPr>
        <p:txBody>
          <a:bodyPr wrap="square" lIns="45720" tIns="18288" rIns="45720" bIns="18288" anchor="t">
            <a:spAutoFit/>
          </a:bodyPr>
          <a:lstStyle/>
          <a:p>
            <a:pPr algn="l"/>
            <a:r>
              <a:rPr sz="1400" b="1" i="0">
                <a:solidFill>
                  <a:srgbClr val="FFFFFF"/>
                </a:solidFill>
                <a:latin typeface="Atkinson Hyperlegible"/>
                <a:ea typeface="Atkinson Hyperlegible"/>
                <a:cs typeface="Atkinson Hyperlegible"/>
              </a:rPr>
              <a:t>En pocas palabras: la inclusion esta declarada, pero todavia no esta aplicada del todo.</a:t>
            </a:r>
          </a:p>
        </p:txBody>
      </p:sp>
      <p:sp>
        <p:nvSpPr>
          <p:cNvPr id="19" name="TextBox 18"/>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20" name="TextBox 19"/>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3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PARA QUE HACEMOS ESTO</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Que queremos lograr</a:t>
            </a:r>
          </a:p>
        </p:txBody>
      </p:sp>
      <p:sp>
        <p:nvSpPr>
          <p:cNvPr id="4" name="Rounded Rectangle 3"/>
          <p:cNvSpPr/>
          <p:nvPr/>
        </p:nvSpPr>
        <p:spPr>
          <a:xfrm>
            <a:off x="548640" y="1783080"/>
            <a:ext cx="11064240" cy="1920240"/>
          </a:xfrm>
          <a:prstGeom prst="roundRect">
            <a:avLst>
              <a:gd name="adj" fmla="val 10000"/>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920240"/>
            <a:ext cx="10515600" cy="457200"/>
          </a:xfrm>
          <a:prstGeom prst="rect">
            <a:avLst/>
          </a:prstGeom>
          <a:noFill/>
        </p:spPr>
        <p:txBody>
          <a:bodyPr wrap="square" lIns="45720" tIns="18288" rIns="45720" bIns="18288" anchor="t">
            <a:spAutoFit/>
          </a:bodyPr>
          <a:lstStyle/>
          <a:p>
            <a:pPr algn="l"/>
            <a:r>
              <a:rPr sz="1200" b="1" i="0">
                <a:solidFill>
                  <a:srgbClr val="D9C179"/>
                </a:solidFill>
                <a:latin typeface="Atkinson Hyperlegible"/>
                <a:ea typeface="Atkinson Hyperlegible"/>
                <a:cs typeface="Atkinson Hyperlegible"/>
              </a:rPr>
              <a:t>OBJETIVO GENERAL</a:t>
            </a:r>
          </a:p>
        </p:txBody>
      </p:sp>
      <p:sp>
        <p:nvSpPr>
          <p:cNvPr id="6" name="TextBox 5"/>
          <p:cNvSpPr txBox="1"/>
          <p:nvPr/>
        </p:nvSpPr>
        <p:spPr>
          <a:xfrm>
            <a:off x="868680" y="2286000"/>
            <a:ext cx="10515600" cy="1371600"/>
          </a:xfrm>
          <a:prstGeom prst="rect">
            <a:avLst/>
          </a:prstGeom>
          <a:noFill/>
        </p:spPr>
        <p:txBody>
          <a:bodyPr wrap="square" lIns="45720" tIns="18288" rIns="45720" bIns="18288" anchor="t">
            <a:spAutoFit/>
          </a:bodyPr>
          <a:lstStyle/>
          <a:p>
            <a:pPr algn="l"/>
            <a:r>
              <a:rPr sz="2000" b="1" i="0">
                <a:solidFill>
                  <a:srgbClr val="FFFFFF"/>
                </a:solidFill>
                <a:latin typeface="Atkinson Hyperlegible"/>
                <a:ea typeface="Atkinson Hyperlegible"/>
                <a:cs typeface="Atkinson Hyperlegible"/>
              </a:rPr>
              <a:t>Fortalecer al SENA Neiva para que pueda atender con inclusion y respeto a la diversidad a todos sus aprendices, sin que nadie se quede afuera.</a:t>
            </a:r>
          </a:p>
        </p:txBody>
      </p:sp>
      <p:sp>
        <p:nvSpPr>
          <p:cNvPr id="7" name="TextBox 6"/>
          <p:cNvSpPr txBox="1"/>
          <p:nvPr/>
        </p:nvSpPr>
        <p:spPr>
          <a:xfrm>
            <a:off x="548640" y="3977639"/>
            <a:ext cx="10972800" cy="365760"/>
          </a:xfrm>
          <a:prstGeom prst="rect">
            <a:avLst/>
          </a:prstGeom>
          <a:noFill/>
        </p:spPr>
        <p:txBody>
          <a:bodyPr wrap="square" lIns="45720" tIns="18288" rIns="45720" bIns="18288" anchor="t">
            <a:spAutoFit/>
          </a:bodyPr>
          <a:lstStyle/>
          <a:p>
            <a:pPr algn="l"/>
            <a:r>
              <a:rPr sz="1600" b="0" i="0">
                <a:solidFill>
                  <a:srgbClr val="0A0A0A"/>
                </a:solidFill>
                <a:latin typeface="Atkinson Hyperlegible"/>
                <a:ea typeface="Atkinson Hyperlegible"/>
                <a:cs typeface="Atkinson Hyperlegible"/>
              </a:rPr>
              <a:t>Para esto, trabajamos en 5 lineas de accion:</a:t>
            </a:r>
          </a:p>
        </p:txBody>
      </p:sp>
      <p:sp>
        <p:nvSpPr>
          <p:cNvPr id="8" name="Oval 7"/>
          <p:cNvSpPr/>
          <p:nvPr/>
        </p:nvSpPr>
        <p:spPr>
          <a:xfrm>
            <a:off x="548640" y="4434840"/>
            <a:ext cx="292608" cy="292608"/>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4453128"/>
            <a:ext cx="292608" cy="292608"/>
          </a:xfrm>
          <a:prstGeom prst="rect">
            <a:avLst/>
          </a:prstGeom>
          <a:noFill/>
        </p:spPr>
        <p:txBody>
          <a:bodyPr wrap="square" lIns="45720" tIns="18288" rIns="45720" bIns="18288" anchor="t">
            <a:spAutoFit/>
          </a:bodyPr>
          <a:lstStyle/>
          <a:p>
            <a:pPr algn="ctr"/>
            <a:r>
              <a:rPr sz="1300" b="1" i="0">
                <a:solidFill>
                  <a:srgbClr val="FFFFFF"/>
                </a:solidFill>
                <a:latin typeface="Atkinson Hyperlegible"/>
                <a:ea typeface="Atkinson Hyperlegible"/>
                <a:cs typeface="Atkinson Hyperlegible"/>
              </a:rPr>
              <a:t>1</a:t>
            </a:r>
          </a:p>
        </p:txBody>
      </p:sp>
      <p:sp>
        <p:nvSpPr>
          <p:cNvPr id="10" name="TextBox 9"/>
          <p:cNvSpPr txBox="1"/>
          <p:nvPr/>
        </p:nvSpPr>
        <p:spPr>
          <a:xfrm>
            <a:off x="960120" y="4416552"/>
            <a:ext cx="5943600" cy="365760"/>
          </a:xfrm>
          <a:prstGeom prst="rect">
            <a:avLst/>
          </a:prstGeom>
          <a:noFill/>
        </p:spPr>
        <p:txBody>
          <a:bodyPr wrap="square" lIns="45720" tIns="18288" rIns="45720" bIns="18288" anchor="t">
            <a:spAutoFit/>
          </a:bodyPr>
          <a:lstStyle/>
          <a:p>
            <a:pPr algn="l"/>
            <a:r>
              <a:rPr sz="1400" b="1" i="0">
                <a:solidFill>
                  <a:srgbClr val="0A0A0A"/>
                </a:solidFill>
                <a:latin typeface="Atkinson Hyperlegible"/>
                <a:ea typeface="Atkinson Hyperlegible"/>
                <a:cs typeface="Atkinson Hyperlegible"/>
              </a:rPr>
              <a:t>Conocer a fondo a instructores y administrativos</a:t>
            </a:r>
          </a:p>
        </p:txBody>
      </p:sp>
      <p:sp>
        <p:nvSpPr>
          <p:cNvPr id="11" name="TextBox 10"/>
          <p:cNvSpPr txBox="1"/>
          <p:nvPr/>
        </p:nvSpPr>
        <p:spPr>
          <a:xfrm>
            <a:off x="6949440" y="4416552"/>
            <a:ext cx="4846320" cy="365760"/>
          </a:xfrm>
          <a:prstGeom prst="rect">
            <a:avLst/>
          </a:prstGeom>
          <a:noFill/>
        </p:spPr>
        <p:txBody>
          <a:bodyPr wrap="square" lIns="45720" tIns="18288" rIns="45720" bIns="18288" anchor="t">
            <a:spAutoFit/>
          </a:bodyPr>
          <a:lstStyle/>
          <a:p>
            <a:pPr algn="l"/>
            <a:r>
              <a:rPr sz="1200" b="0" i="0">
                <a:solidFill>
                  <a:srgbClr val="4A4A4A"/>
                </a:solidFill>
                <a:latin typeface="Atkinson Hyperlegible"/>
                <a:ea typeface="Atkinson Hyperlegible"/>
                <a:cs typeface="Atkinson Hyperlegible"/>
              </a:rPr>
              <a:t>Hicimos un mapa de empatia para escuchar sus realidades.</a:t>
            </a:r>
          </a:p>
        </p:txBody>
      </p:sp>
      <p:sp>
        <p:nvSpPr>
          <p:cNvPr id="12" name="Oval 11"/>
          <p:cNvSpPr/>
          <p:nvPr/>
        </p:nvSpPr>
        <p:spPr>
          <a:xfrm>
            <a:off x="548640" y="4818888"/>
            <a:ext cx="292608" cy="292608"/>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4837176"/>
            <a:ext cx="292608" cy="292608"/>
          </a:xfrm>
          <a:prstGeom prst="rect">
            <a:avLst/>
          </a:prstGeom>
          <a:noFill/>
        </p:spPr>
        <p:txBody>
          <a:bodyPr wrap="square" lIns="45720" tIns="18288" rIns="45720" bIns="18288" anchor="t">
            <a:spAutoFit/>
          </a:bodyPr>
          <a:lstStyle/>
          <a:p>
            <a:pPr algn="ctr"/>
            <a:r>
              <a:rPr sz="1300" b="1" i="0">
                <a:solidFill>
                  <a:srgbClr val="FFFFFF"/>
                </a:solidFill>
                <a:latin typeface="Atkinson Hyperlegible"/>
                <a:ea typeface="Atkinson Hyperlegible"/>
                <a:cs typeface="Atkinson Hyperlegible"/>
              </a:rPr>
              <a:t>2</a:t>
            </a:r>
          </a:p>
        </p:txBody>
      </p:sp>
      <p:sp>
        <p:nvSpPr>
          <p:cNvPr id="14" name="TextBox 13"/>
          <p:cNvSpPr txBox="1"/>
          <p:nvPr/>
        </p:nvSpPr>
        <p:spPr>
          <a:xfrm>
            <a:off x="960120" y="4800600"/>
            <a:ext cx="5943600" cy="365760"/>
          </a:xfrm>
          <a:prstGeom prst="rect">
            <a:avLst/>
          </a:prstGeom>
          <a:noFill/>
        </p:spPr>
        <p:txBody>
          <a:bodyPr wrap="square" lIns="45720" tIns="18288" rIns="45720" bIns="18288" anchor="t">
            <a:spAutoFit/>
          </a:bodyPr>
          <a:lstStyle/>
          <a:p>
            <a:pPr algn="l"/>
            <a:r>
              <a:rPr sz="1400" b="1" i="0" dirty="0">
                <a:solidFill>
                  <a:srgbClr val="0A0A0A"/>
                </a:solidFill>
                <a:latin typeface="Atkinson Hyperlegible"/>
                <a:ea typeface="Atkinson Hyperlegible"/>
                <a:cs typeface="Atkinson Hyperlegible"/>
              </a:rPr>
              <a:t>Crear </a:t>
            </a:r>
            <a:r>
              <a:rPr sz="1400" b="1" i="0" dirty="0" err="1">
                <a:solidFill>
                  <a:srgbClr val="0A0A0A"/>
                </a:solidFill>
                <a:latin typeface="Atkinson Hyperlegible"/>
                <a:ea typeface="Atkinson Hyperlegible"/>
                <a:cs typeface="Atkinson Hyperlegible"/>
              </a:rPr>
              <a:t>espacios</a:t>
            </a:r>
            <a:r>
              <a:rPr sz="1400" b="1" i="0" dirty="0">
                <a:solidFill>
                  <a:srgbClr val="0A0A0A"/>
                </a:solidFill>
                <a:latin typeface="Atkinson Hyperlegible"/>
                <a:ea typeface="Atkinson Hyperlegible"/>
                <a:cs typeface="Atkinson Hyperlegible"/>
              </a:rPr>
              <a:t> de </a:t>
            </a:r>
            <a:r>
              <a:rPr sz="1400" b="1" i="0" dirty="0" err="1">
                <a:solidFill>
                  <a:srgbClr val="0A0A0A"/>
                </a:solidFill>
                <a:latin typeface="Atkinson Hyperlegible"/>
                <a:ea typeface="Atkinson Hyperlegible"/>
                <a:cs typeface="Atkinson Hyperlegible"/>
              </a:rPr>
              <a:t>aprendizaje</a:t>
            </a:r>
            <a:r>
              <a:rPr sz="1400" b="1" i="0" dirty="0">
                <a:solidFill>
                  <a:srgbClr val="0A0A0A"/>
                </a:solidFill>
                <a:latin typeface="Atkinson Hyperlegible"/>
                <a:ea typeface="Atkinson Hyperlegible"/>
                <a:cs typeface="Atkinson Hyperlegible"/>
              </a:rPr>
              <a:t> intercultural</a:t>
            </a:r>
          </a:p>
        </p:txBody>
      </p:sp>
      <p:sp>
        <p:nvSpPr>
          <p:cNvPr id="15" name="TextBox 14"/>
          <p:cNvSpPr txBox="1"/>
          <p:nvPr/>
        </p:nvSpPr>
        <p:spPr>
          <a:xfrm>
            <a:off x="6949440" y="4800600"/>
            <a:ext cx="4846320" cy="365760"/>
          </a:xfrm>
          <a:prstGeom prst="rect">
            <a:avLst/>
          </a:prstGeom>
          <a:noFill/>
        </p:spPr>
        <p:txBody>
          <a:bodyPr wrap="square" lIns="45720" tIns="18288" rIns="45720" bIns="18288" anchor="t">
            <a:spAutoFit/>
          </a:bodyPr>
          <a:lstStyle/>
          <a:p>
            <a:pPr algn="l"/>
            <a:r>
              <a:rPr sz="1200" b="0" i="0" dirty="0">
                <a:solidFill>
                  <a:srgbClr val="4A4A4A"/>
                </a:solidFill>
                <a:latin typeface="Atkinson Hyperlegible"/>
                <a:ea typeface="Atkinson Hyperlegible"/>
                <a:cs typeface="Atkinson Hyperlegible"/>
              </a:rPr>
              <a:t>Para </a:t>
            </a:r>
            <a:r>
              <a:rPr sz="1200" b="0" i="0" dirty="0" err="1">
                <a:solidFill>
                  <a:srgbClr val="4A4A4A"/>
                </a:solidFill>
                <a:latin typeface="Atkinson Hyperlegible"/>
                <a:ea typeface="Atkinson Hyperlegible"/>
                <a:cs typeface="Atkinson Hyperlegible"/>
              </a:rPr>
              <a:t>que</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distintas</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culturas</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convivan</a:t>
            </a:r>
            <a:r>
              <a:rPr sz="1200" b="0" i="0" dirty="0">
                <a:solidFill>
                  <a:srgbClr val="4A4A4A"/>
                </a:solidFill>
                <a:latin typeface="Atkinson Hyperlegible"/>
                <a:ea typeface="Atkinson Hyperlegible"/>
                <a:cs typeface="Atkinson Hyperlegible"/>
              </a:rPr>
              <a:t> y se </a:t>
            </a:r>
            <a:r>
              <a:rPr sz="1200" b="0" i="0" dirty="0" err="1">
                <a:solidFill>
                  <a:srgbClr val="4A4A4A"/>
                </a:solidFill>
                <a:latin typeface="Atkinson Hyperlegible"/>
                <a:ea typeface="Atkinson Hyperlegible"/>
                <a:cs typeface="Atkinson Hyperlegible"/>
              </a:rPr>
              <a:t>enriquezcan</a:t>
            </a:r>
            <a:r>
              <a:rPr sz="1200" b="0" i="0" dirty="0">
                <a:solidFill>
                  <a:srgbClr val="4A4A4A"/>
                </a:solidFill>
                <a:latin typeface="Atkinson Hyperlegible"/>
                <a:ea typeface="Atkinson Hyperlegible"/>
                <a:cs typeface="Atkinson Hyperlegible"/>
              </a:rPr>
              <a:t>.</a:t>
            </a:r>
          </a:p>
        </p:txBody>
      </p:sp>
      <p:sp>
        <p:nvSpPr>
          <p:cNvPr id="16" name="Oval 15"/>
          <p:cNvSpPr/>
          <p:nvPr/>
        </p:nvSpPr>
        <p:spPr>
          <a:xfrm>
            <a:off x="548640" y="5202936"/>
            <a:ext cx="292608" cy="292608"/>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5221224"/>
            <a:ext cx="292608" cy="292608"/>
          </a:xfrm>
          <a:prstGeom prst="rect">
            <a:avLst/>
          </a:prstGeom>
          <a:noFill/>
        </p:spPr>
        <p:txBody>
          <a:bodyPr wrap="square" lIns="45720" tIns="18288" rIns="45720" bIns="18288" anchor="t">
            <a:spAutoFit/>
          </a:bodyPr>
          <a:lstStyle/>
          <a:p>
            <a:pPr algn="ctr"/>
            <a:r>
              <a:rPr sz="1300" b="1" i="0">
                <a:solidFill>
                  <a:srgbClr val="FFFFFF"/>
                </a:solidFill>
                <a:latin typeface="Atkinson Hyperlegible"/>
                <a:ea typeface="Atkinson Hyperlegible"/>
                <a:cs typeface="Atkinson Hyperlegible"/>
              </a:rPr>
              <a:t>3</a:t>
            </a:r>
          </a:p>
        </p:txBody>
      </p:sp>
      <p:sp>
        <p:nvSpPr>
          <p:cNvPr id="18" name="TextBox 17"/>
          <p:cNvSpPr txBox="1"/>
          <p:nvPr/>
        </p:nvSpPr>
        <p:spPr>
          <a:xfrm>
            <a:off x="960120" y="5184648"/>
            <a:ext cx="5943600" cy="365760"/>
          </a:xfrm>
          <a:prstGeom prst="rect">
            <a:avLst/>
          </a:prstGeom>
          <a:noFill/>
        </p:spPr>
        <p:txBody>
          <a:bodyPr wrap="square" lIns="45720" tIns="18288" rIns="45720" bIns="18288" anchor="t">
            <a:spAutoFit/>
          </a:bodyPr>
          <a:lstStyle/>
          <a:p>
            <a:pPr algn="l"/>
            <a:r>
              <a:rPr sz="1400" b="1" i="0" dirty="0" err="1">
                <a:solidFill>
                  <a:srgbClr val="0A0A0A"/>
                </a:solidFill>
                <a:latin typeface="Atkinson Hyperlegible"/>
                <a:ea typeface="Atkinson Hyperlegible"/>
                <a:cs typeface="Atkinson Hyperlegible"/>
              </a:rPr>
              <a:t>Construir</a:t>
            </a:r>
            <a:r>
              <a:rPr sz="1400" b="1" i="0" dirty="0">
                <a:solidFill>
                  <a:srgbClr val="0A0A0A"/>
                </a:solidFill>
                <a:latin typeface="Atkinson Hyperlegible"/>
                <a:ea typeface="Atkinson Hyperlegible"/>
                <a:cs typeface="Atkinson Hyperlegible"/>
              </a:rPr>
              <a:t> un </a:t>
            </a:r>
            <a:r>
              <a:rPr sz="1400" b="1" i="0" dirty="0" err="1">
                <a:solidFill>
                  <a:srgbClr val="0A0A0A"/>
                </a:solidFill>
                <a:latin typeface="Atkinson Hyperlegible"/>
                <a:ea typeface="Atkinson Hyperlegible"/>
                <a:cs typeface="Atkinson Hyperlegible"/>
              </a:rPr>
              <a:t>libro</a:t>
            </a:r>
            <a:r>
              <a:rPr sz="1400" b="1" i="0" dirty="0">
                <a:solidFill>
                  <a:srgbClr val="0A0A0A"/>
                </a:solidFill>
                <a:latin typeface="Atkinson Hyperlegible"/>
                <a:ea typeface="Atkinson Hyperlegible"/>
                <a:cs typeface="Atkinson Hyperlegible"/>
              </a:rPr>
              <a:t> </a:t>
            </a:r>
            <a:r>
              <a:rPr sz="1400" b="1" i="0" dirty="0" err="1">
                <a:solidFill>
                  <a:srgbClr val="0A0A0A"/>
                </a:solidFill>
                <a:latin typeface="Atkinson Hyperlegible"/>
                <a:ea typeface="Atkinson Hyperlegible"/>
                <a:cs typeface="Atkinson Hyperlegible"/>
              </a:rPr>
              <a:t>grafico</a:t>
            </a:r>
            <a:r>
              <a:rPr sz="1400" b="1" i="0" dirty="0">
                <a:solidFill>
                  <a:srgbClr val="0A0A0A"/>
                </a:solidFill>
                <a:latin typeface="Atkinson Hyperlegible"/>
                <a:ea typeface="Atkinson Hyperlegible"/>
                <a:cs typeface="Atkinson Hyperlegible"/>
              </a:rPr>
              <a:t> con </a:t>
            </a:r>
            <a:r>
              <a:rPr sz="1400" b="1" i="0" dirty="0" err="1">
                <a:solidFill>
                  <a:srgbClr val="0A0A0A"/>
                </a:solidFill>
                <a:latin typeface="Atkinson Hyperlegible"/>
                <a:ea typeface="Atkinson Hyperlegible"/>
                <a:cs typeface="Atkinson Hyperlegible"/>
              </a:rPr>
              <a:t>Realidad</a:t>
            </a:r>
            <a:r>
              <a:rPr sz="1400" b="1" i="0" dirty="0">
                <a:solidFill>
                  <a:srgbClr val="0A0A0A"/>
                </a:solidFill>
                <a:latin typeface="Atkinson Hyperlegible"/>
                <a:ea typeface="Atkinson Hyperlegible"/>
                <a:cs typeface="Atkinson Hyperlegible"/>
              </a:rPr>
              <a:t> </a:t>
            </a:r>
            <a:r>
              <a:rPr sz="1400" b="1" i="0" dirty="0" err="1">
                <a:solidFill>
                  <a:srgbClr val="0A0A0A"/>
                </a:solidFill>
                <a:latin typeface="Atkinson Hyperlegible"/>
                <a:ea typeface="Atkinson Hyperlegible"/>
                <a:cs typeface="Atkinson Hyperlegible"/>
              </a:rPr>
              <a:t>Aumentada</a:t>
            </a:r>
            <a:endParaRPr sz="1400" b="1" i="0" dirty="0">
              <a:solidFill>
                <a:srgbClr val="0A0A0A"/>
              </a:solidFill>
              <a:latin typeface="Atkinson Hyperlegible"/>
              <a:ea typeface="Atkinson Hyperlegible"/>
              <a:cs typeface="Atkinson Hyperlegible"/>
            </a:endParaRPr>
          </a:p>
        </p:txBody>
      </p:sp>
      <p:sp>
        <p:nvSpPr>
          <p:cNvPr id="19" name="TextBox 18"/>
          <p:cNvSpPr txBox="1"/>
          <p:nvPr/>
        </p:nvSpPr>
        <p:spPr>
          <a:xfrm>
            <a:off x="6949440" y="5184648"/>
            <a:ext cx="4846320" cy="365760"/>
          </a:xfrm>
          <a:prstGeom prst="rect">
            <a:avLst/>
          </a:prstGeom>
          <a:noFill/>
        </p:spPr>
        <p:txBody>
          <a:bodyPr wrap="square" lIns="45720" tIns="18288" rIns="45720" bIns="18288" anchor="t">
            <a:spAutoFit/>
          </a:bodyPr>
          <a:lstStyle/>
          <a:p>
            <a:pPr algn="l"/>
            <a:r>
              <a:rPr sz="1200" b="0" i="0" dirty="0">
                <a:solidFill>
                  <a:srgbClr val="4A4A4A"/>
                </a:solidFill>
                <a:latin typeface="Atkinson Hyperlegible"/>
                <a:ea typeface="Atkinson Hyperlegible"/>
                <a:cs typeface="Atkinson Hyperlegible"/>
              </a:rPr>
              <a:t>Una </a:t>
            </a:r>
            <a:r>
              <a:rPr sz="1200" b="0" i="0" dirty="0" err="1">
                <a:solidFill>
                  <a:srgbClr val="4A4A4A"/>
                </a:solidFill>
                <a:latin typeface="Atkinson Hyperlegible"/>
                <a:ea typeface="Atkinson Hyperlegible"/>
                <a:cs typeface="Atkinson Hyperlegible"/>
              </a:rPr>
              <a:t>herramienta</a:t>
            </a:r>
            <a:r>
              <a:rPr sz="1200" b="0" i="0" dirty="0">
                <a:solidFill>
                  <a:srgbClr val="4A4A4A"/>
                </a:solidFill>
                <a:latin typeface="Atkinson Hyperlegible"/>
                <a:ea typeface="Atkinson Hyperlegible"/>
                <a:cs typeface="Atkinson Hyperlegible"/>
              </a:rPr>
              <a:t> moderna para </a:t>
            </a:r>
            <a:r>
              <a:rPr sz="1200" b="0" i="0" dirty="0" err="1">
                <a:solidFill>
                  <a:srgbClr val="4A4A4A"/>
                </a:solidFill>
                <a:latin typeface="Atkinson Hyperlegible"/>
                <a:ea typeface="Atkinson Hyperlegible"/>
                <a:cs typeface="Atkinson Hyperlegible"/>
              </a:rPr>
              <a:t>formar</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en</a:t>
            </a:r>
            <a:r>
              <a:rPr sz="1200" b="0" i="0" dirty="0">
                <a:solidFill>
                  <a:srgbClr val="4A4A4A"/>
                </a:solidFill>
                <a:latin typeface="Atkinson Hyperlegible"/>
                <a:ea typeface="Atkinson Hyperlegible"/>
                <a:cs typeface="Atkinson Hyperlegible"/>
              </a:rPr>
              <a:t> inclusion.</a:t>
            </a:r>
          </a:p>
        </p:txBody>
      </p:sp>
      <p:sp>
        <p:nvSpPr>
          <p:cNvPr id="20" name="Oval 19"/>
          <p:cNvSpPr/>
          <p:nvPr/>
        </p:nvSpPr>
        <p:spPr>
          <a:xfrm>
            <a:off x="548640" y="5586984"/>
            <a:ext cx="292608" cy="292608"/>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5605272"/>
            <a:ext cx="292608" cy="292608"/>
          </a:xfrm>
          <a:prstGeom prst="rect">
            <a:avLst/>
          </a:prstGeom>
          <a:noFill/>
        </p:spPr>
        <p:txBody>
          <a:bodyPr wrap="square" lIns="45720" tIns="18288" rIns="45720" bIns="18288" anchor="t">
            <a:spAutoFit/>
          </a:bodyPr>
          <a:lstStyle/>
          <a:p>
            <a:pPr algn="ctr"/>
            <a:r>
              <a:rPr sz="1300" b="1" i="0">
                <a:solidFill>
                  <a:srgbClr val="FFFFFF"/>
                </a:solidFill>
                <a:latin typeface="Atkinson Hyperlegible"/>
                <a:ea typeface="Atkinson Hyperlegible"/>
                <a:cs typeface="Atkinson Hyperlegible"/>
              </a:rPr>
              <a:t>4</a:t>
            </a:r>
          </a:p>
        </p:txBody>
      </p:sp>
      <p:sp>
        <p:nvSpPr>
          <p:cNvPr id="22" name="TextBox 21"/>
          <p:cNvSpPr txBox="1"/>
          <p:nvPr/>
        </p:nvSpPr>
        <p:spPr>
          <a:xfrm>
            <a:off x="960120" y="5568696"/>
            <a:ext cx="5943600" cy="365760"/>
          </a:xfrm>
          <a:prstGeom prst="rect">
            <a:avLst/>
          </a:prstGeom>
          <a:noFill/>
        </p:spPr>
        <p:txBody>
          <a:bodyPr wrap="square" lIns="45720" tIns="18288" rIns="45720" bIns="18288" anchor="t">
            <a:spAutoFit/>
          </a:bodyPr>
          <a:lstStyle/>
          <a:p>
            <a:pPr algn="l"/>
            <a:r>
              <a:rPr lang="es-ES" sz="1400" b="1" i="0" dirty="0" err="1">
                <a:solidFill>
                  <a:srgbClr val="0A0A0A"/>
                </a:solidFill>
                <a:latin typeface="Atkinson Hyperlegible"/>
                <a:ea typeface="Atkinson Hyperlegible"/>
                <a:cs typeface="Atkinson Hyperlegible"/>
              </a:rPr>
              <a:t>Disenar</a:t>
            </a:r>
            <a:r>
              <a:rPr lang="es-ES" sz="1400" b="1" i="0" dirty="0">
                <a:solidFill>
                  <a:srgbClr val="0A0A0A"/>
                </a:solidFill>
                <a:latin typeface="Atkinson Hyperlegible"/>
                <a:ea typeface="Atkinson Hyperlegible"/>
                <a:cs typeface="Atkinson Hyperlegible"/>
              </a:rPr>
              <a:t> rutas de apoyo con datos e inteligencia artificial</a:t>
            </a:r>
          </a:p>
        </p:txBody>
      </p:sp>
      <p:sp>
        <p:nvSpPr>
          <p:cNvPr id="23" name="TextBox 22"/>
          <p:cNvSpPr txBox="1"/>
          <p:nvPr/>
        </p:nvSpPr>
        <p:spPr>
          <a:xfrm>
            <a:off x="6949440" y="5568696"/>
            <a:ext cx="4846320" cy="365760"/>
          </a:xfrm>
          <a:prstGeom prst="rect">
            <a:avLst/>
          </a:prstGeom>
          <a:noFill/>
        </p:spPr>
        <p:txBody>
          <a:bodyPr wrap="square" lIns="45720" tIns="18288" rIns="45720" bIns="18288" anchor="t">
            <a:spAutoFit/>
          </a:bodyPr>
          <a:lstStyle/>
          <a:p>
            <a:pPr algn="l"/>
            <a:r>
              <a:rPr sz="1200" b="0" i="0" dirty="0">
                <a:solidFill>
                  <a:srgbClr val="4A4A4A"/>
                </a:solidFill>
                <a:latin typeface="Atkinson Hyperlegible"/>
                <a:ea typeface="Atkinson Hyperlegible"/>
                <a:cs typeface="Atkinson Hyperlegible"/>
              </a:rPr>
              <a:t>Para </a:t>
            </a:r>
            <a:r>
              <a:rPr sz="1200" b="0" i="0" dirty="0" err="1">
                <a:solidFill>
                  <a:srgbClr val="4A4A4A"/>
                </a:solidFill>
                <a:latin typeface="Atkinson Hyperlegible"/>
                <a:ea typeface="Atkinson Hyperlegible"/>
                <a:cs typeface="Atkinson Hyperlegible"/>
              </a:rPr>
              <a:t>identificar</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rapidamente</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que</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necesita</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cada</a:t>
            </a:r>
            <a:r>
              <a:rPr sz="1200" b="0" i="0" dirty="0">
                <a:solidFill>
                  <a:srgbClr val="4A4A4A"/>
                </a:solidFill>
                <a:latin typeface="Atkinson Hyperlegible"/>
                <a:ea typeface="Atkinson Hyperlegible"/>
                <a:cs typeface="Atkinson Hyperlegible"/>
              </a:rPr>
              <a:t> </a:t>
            </a:r>
            <a:r>
              <a:rPr sz="1200" b="0" i="0" dirty="0" err="1">
                <a:solidFill>
                  <a:srgbClr val="4A4A4A"/>
                </a:solidFill>
                <a:latin typeface="Atkinson Hyperlegible"/>
                <a:ea typeface="Atkinson Hyperlegible"/>
                <a:cs typeface="Atkinson Hyperlegible"/>
              </a:rPr>
              <a:t>aprendiz</a:t>
            </a:r>
            <a:r>
              <a:rPr sz="1200" b="0" i="0" dirty="0">
                <a:solidFill>
                  <a:srgbClr val="4A4A4A"/>
                </a:solidFill>
                <a:latin typeface="Atkinson Hyperlegible"/>
                <a:ea typeface="Atkinson Hyperlegible"/>
                <a:cs typeface="Atkinson Hyperlegible"/>
              </a:rPr>
              <a:t>.</a:t>
            </a:r>
          </a:p>
        </p:txBody>
      </p:sp>
      <p:sp>
        <p:nvSpPr>
          <p:cNvPr id="24" name="Oval 23"/>
          <p:cNvSpPr/>
          <p:nvPr/>
        </p:nvSpPr>
        <p:spPr>
          <a:xfrm>
            <a:off x="548640" y="5971032"/>
            <a:ext cx="292608" cy="292608"/>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5989320"/>
            <a:ext cx="292608" cy="292608"/>
          </a:xfrm>
          <a:prstGeom prst="rect">
            <a:avLst/>
          </a:prstGeom>
          <a:noFill/>
        </p:spPr>
        <p:txBody>
          <a:bodyPr wrap="square" lIns="45720" tIns="18288" rIns="45720" bIns="18288" anchor="t">
            <a:spAutoFit/>
          </a:bodyPr>
          <a:lstStyle/>
          <a:p>
            <a:pPr algn="ctr"/>
            <a:r>
              <a:rPr sz="1300" b="1" i="0">
                <a:solidFill>
                  <a:srgbClr val="FFFFFF"/>
                </a:solidFill>
                <a:latin typeface="Atkinson Hyperlegible"/>
                <a:ea typeface="Atkinson Hyperlegible"/>
                <a:cs typeface="Atkinson Hyperlegible"/>
              </a:rPr>
              <a:t>5</a:t>
            </a:r>
          </a:p>
        </p:txBody>
      </p:sp>
      <p:sp>
        <p:nvSpPr>
          <p:cNvPr id="26" name="TextBox 25"/>
          <p:cNvSpPr txBox="1"/>
          <p:nvPr/>
        </p:nvSpPr>
        <p:spPr>
          <a:xfrm>
            <a:off x="960120" y="5952744"/>
            <a:ext cx="5943600" cy="365760"/>
          </a:xfrm>
          <a:prstGeom prst="rect">
            <a:avLst/>
          </a:prstGeom>
          <a:noFill/>
        </p:spPr>
        <p:txBody>
          <a:bodyPr wrap="square" lIns="45720" tIns="18288" rIns="45720" bIns="18288" anchor="t">
            <a:spAutoFit/>
          </a:bodyPr>
          <a:lstStyle/>
          <a:p>
            <a:pPr algn="l"/>
            <a:r>
              <a:rPr sz="1400" b="1" i="0">
                <a:solidFill>
                  <a:srgbClr val="0A0A0A"/>
                </a:solidFill>
                <a:latin typeface="Atkinson Hyperlegible"/>
                <a:ea typeface="Atkinson Hyperlegible"/>
                <a:cs typeface="Atkinson Hyperlegible"/>
              </a:rPr>
              <a:t>Montar laboratorios de innovacion colaborativa</a:t>
            </a:r>
          </a:p>
        </p:txBody>
      </p:sp>
      <p:sp>
        <p:nvSpPr>
          <p:cNvPr id="27" name="TextBox 26"/>
          <p:cNvSpPr txBox="1"/>
          <p:nvPr/>
        </p:nvSpPr>
        <p:spPr>
          <a:xfrm>
            <a:off x="6949440" y="5952744"/>
            <a:ext cx="4846320" cy="365760"/>
          </a:xfrm>
          <a:prstGeom prst="rect">
            <a:avLst/>
          </a:prstGeom>
          <a:noFill/>
        </p:spPr>
        <p:txBody>
          <a:bodyPr wrap="square" lIns="45720" tIns="18288" rIns="45720" bIns="18288" anchor="t">
            <a:spAutoFit/>
          </a:bodyPr>
          <a:lstStyle/>
          <a:p>
            <a:pPr algn="l"/>
            <a:r>
              <a:rPr sz="1200" b="0" i="0">
                <a:solidFill>
                  <a:srgbClr val="4A4A4A"/>
                </a:solidFill>
                <a:latin typeface="Atkinson Hyperlegible"/>
                <a:ea typeface="Atkinson Hyperlegible"/>
                <a:cs typeface="Atkinson Hyperlegible"/>
              </a:rPr>
              <a:t>Donde instructores, aprendices y expertos cocrean soluciones.</a:t>
            </a:r>
          </a:p>
        </p:txBody>
      </p:sp>
      <p:sp>
        <p:nvSpPr>
          <p:cNvPr id="28" name="TextBox 27"/>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29" name="TextBox 28"/>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4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EL CAMINO</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Como lo estamos haciendo</a:t>
            </a:r>
          </a:p>
        </p:txBody>
      </p:sp>
      <p:sp>
        <p:nvSpPr>
          <p:cNvPr id="4" name="TextBox 3"/>
          <p:cNvSpPr txBox="1"/>
          <p:nvPr/>
        </p:nvSpPr>
        <p:spPr>
          <a:xfrm>
            <a:off x="548640" y="1737360"/>
            <a:ext cx="10972800" cy="365760"/>
          </a:xfrm>
          <a:prstGeom prst="rect">
            <a:avLst/>
          </a:prstGeom>
          <a:noFill/>
        </p:spPr>
        <p:txBody>
          <a:bodyPr wrap="square" lIns="45720" tIns="18288" rIns="45720" bIns="18288" anchor="t">
            <a:spAutoFit/>
          </a:bodyPr>
          <a:lstStyle/>
          <a:p>
            <a:pPr algn="l"/>
            <a:r>
              <a:rPr sz="1400" b="1" i="0">
                <a:solidFill>
                  <a:srgbClr val="F28F16"/>
                </a:solidFill>
                <a:latin typeface="Atkinson Hyperlegible"/>
                <a:ea typeface="Atkinson Hyperlegible"/>
                <a:cs typeface="Atkinson Hyperlegible"/>
              </a:rPr>
              <a:t>Tipo de investigacion</a:t>
            </a:r>
          </a:p>
        </p:txBody>
      </p:sp>
      <p:sp>
        <p:nvSpPr>
          <p:cNvPr id="5" name="TextBox 4"/>
          <p:cNvSpPr txBox="1"/>
          <p:nvPr/>
        </p:nvSpPr>
        <p:spPr>
          <a:xfrm>
            <a:off x="548640" y="2103120"/>
            <a:ext cx="10972800" cy="548640"/>
          </a:xfrm>
          <a:prstGeom prst="rect">
            <a:avLst/>
          </a:prstGeom>
          <a:noFill/>
        </p:spPr>
        <p:txBody>
          <a:bodyPr wrap="square" lIns="45720" tIns="18288" rIns="45720" bIns="18288" anchor="t">
            <a:spAutoFit/>
          </a:bodyPr>
          <a:lstStyle/>
          <a:p>
            <a:pPr algn="l"/>
            <a:r>
              <a:rPr sz="1600" b="0" i="0">
                <a:solidFill>
                  <a:srgbClr val="0A0A0A"/>
                </a:solidFill>
                <a:latin typeface="Atkinson Hyperlegible"/>
                <a:ea typeface="Atkinson Hyperlegible"/>
                <a:cs typeface="Atkinson Hyperlegible"/>
              </a:rPr>
              <a:t>Participativa. Personas reales, con historias reales, aportan sus voces para mejorar el SENA.</a:t>
            </a:r>
          </a:p>
        </p:txBody>
      </p:sp>
      <p:sp>
        <p:nvSpPr>
          <p:cNvPr id="6" name="TextBox 5"/>
          <p:cNvSpPr txBox="1"/>
          <p:nvPr/>
        </p:nvSpPr>
        <p:spPr>
          <a:xfrm>
            <a:off x="548640" y="2834640"/>
            <a:ext cx="10972800" cy="365760"/>
          </a:xfrm>
          <a:prstGeom prst="rect">
            <a:avLst/>
          </a:prstGeom>
          <a:noFill/>
        </p:spPr>
        <p:txBody>
          <a:bodyPr wrap="square" lIns="45720" tIns="18288" rIns="45720" bIns="18288" anchor="t">
            <a:spAutoFit/>
          </a:bodyPr>
          <a:lstStyle/>
          <a:p>
            <a:pPr algn="l"/>
            <a:r>
              <a:rPr sz="1400" b="1" i="0">
                <a:solidFill>
                  <a:srgbClr val="F28F16"/>
                </a:solidFill>
                <a:latin typeface="Atkinson Hyperlegible"/>
                <a:ea typeface="Atkinson Hyperlegible"/>
                <a:cs typeface="Atkinson Hyperlegible"/>
              </a:rPr>
              <a:t>Fases del proyecto</a:t>
            </a:r>
          </a:p>
        </p:txBody>
      </p:sp>
      <p:sp>
        <p:nvSpPr>
          <p:cNvPr id="7" name="Rounded Rectangle 6"/>
          <p:cNvSpPr/>
          <p:nvPr/>
        </p:nvSpPr>
        <p:spPr>
          <a:xfrm>
            <a:off x="548640" y="3291840"/>
            <a:ext cx="2103120" cy="265176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3429000"/>
            <a:ext cx="1828800" cy="548640"/>
          </a:xfrm>
          <a:prstGeom prst="rect">
            <a:avLst/>
          </a:prstGeom>
          <a:noFill/>
        </p:spPr>
        <p:txBody>
          <a:bodyPr wrap="square" lIns="45720" tIns="18288" rIns="45720" bIns="18288" anchor="t">
            <a:spAutoFit/>
          </a:bodyPr>
          <a:lstStyle/>
          <a:p>
            <a:pPr algn="l"/>
            <a:r>
              <a:rPr sz="1000" b="1" i="0">
                <a:solidFill>
                  <a:srgbClr val="28401D"/>
                </a:solidFill>
                <a:latin typeface="Atkinson Hyperlegible"/>
                <a:ea typeface="Atkinson Hyperlegible"/>
                <a:cs typeface="Atkinson Hyperlegible"/>
              </a:rPr>
              <a:t>PASO 1</a:t>
            </a:r>
          </a:p>
        </p:txBody>
      </p:sp>
      <p:sp>
        <p:nvSpPr>
          <p:cNvPr id="9" name="TextBox 8"/>
          <p:cNvSpPr txBox="1"/>
          <p:nvPr/>
        </p:nvSpPr>
        <p:spPr>
          <a:xfrm>
            <a:off x="685800" y="3703320"/>
            <a:ext cx="1828800" cy="731520"/>
          </a:xfrm>
          <a:prstGeom prst="rect">
            <a:avLst/>
          </a:prstGeom>
          <a:noFill/>
        </p:spPr>
        <p:txBody>
          <a:bodyPr wrap="square" lIns="45720" tIns="18288" rIns="45720" bIns="18288" anchor="t">
            <a:spAutoFit/>
          </a:bodyPr>
          <a:lstStyle/>
          <a:p>
            <a:pPr algn="l"/>
            <a:r>
              <a:rPr sz="1300" b="1" i="0" dirty="0">
                <a:solidFill>
                  <a:srgbClr val="0A0A0A"/>
                </a:solidFill>
                <a:latin typeface="Atkinson Hyperlegible"/>
                <a:ea typeface="Atkinson Hyperlegible"/>
                <a:cs typeface="Atkinson Hyperlegible"/>
              </a:rPr>
              <a:t>Mapa de </a:t>
            </a:r>
            <a:r>
              <a:rPr sz="1300" b="1" i="0" dirty="0" err="1">
                <a:solidFill>
                  <a:srgbClr val="0A0A0A"/>
                </a:solidFill>
                <a:latin typeface="Atkinson Hyperlegible"/>
                <a:ea typeface="Atkinson Hyperlegible"/>
                <a:cs typeface="Atkinson Hyperlegible"/>
              </a:rPr>
              <a:t>empatia</a:t>
            </a:r>
            <a:endParaRPr sz="1300" b="1" i="0" dirty="0">
              <a:solidFill>
                <a:srgbClr val="0A0A0A"/>
              </a:solidFill>
              <a:latin typeface="Atkinson Hyperlegible"/>
              <a:ea typeface="Atkinson Hyperlegible"/>
              <a:cs typeface="Atkinson Hyperlegible"/>
            </a:endParaRPr>
          </a:p>
        </p:txBody>
      </p:sp>
      <p:sp>
        <p:nvSpPr>
          <p:cNvPr id="10" name="TextBox 9"/>
          <p:cNvSpPr txBox="1"/>
          <p:nvPr/>
        </p:nvSpPr>
        <p:spPr>
          <a:xfrm>
            <a:off x="685800" y="4434840"/>
            <a:ext cx="1828800" cy="1417320"/>
          </a:xfrm>
          <a:prstGeom prst="rect">
            <a:avLst/>
          </a:prstGeom>
          <a:noFill/>
        </p:spPr>
        <p:txBody>
          <a:bodyPr wrap="square" lIns="45720" tIns="18288" rIns="45720" bIns="18288" anchor="t">
            <a:spAutoFit/>
          </a:bodyPr>
          <a:lstStyle/>
          <a:p>
            <a:pPr algn="l"/>
            <a:r>
              <a:rPr sz="1100" b="0" i="0">
                <a:solidFill>
                  <a:srgbClr val="4A4A4A"/>
                </a:solidFill>
                <a:latin typeface="Atkinson Hyperlegible"/>
                <a:ea typeface="Atkinson Hyperlegible"/>
                <a:cs typeface="Atkinson Hyperlegible"/>
              </a:rPr>
              <a:t>Escuchamos a instructores y administrativos para entender su dia a dia.</a:t>
            </a:r>
          </a:p>
        </p:txBody>
      </p:sp>
      <p:sp>
        <p:nvSpPr>
          <p:cNvPr id="11" name="Rounded Rectangle 10"/>
          <p:cNvSpPr/>
          <p:nvPr/>
        </p:nvSpPr>
        <p:spPr>
          <a:xfrm>
            <a:off x="2834640" y="3291840"/>
            <a:ext cx="2103120" cy="265176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3429000"/>
            <a:ext cx="1828800" cy="548640"/>
          </a:xfrm>
          <a:prstGeom prst="rect">
            <a:avLst/>
          </a:prstGeom>
          <a:noFill/>
        </p:spPr>
        <p:txBody>
          <a:bodyPr wrap="square" lIns="45720" tIns="18288" rIns="45720" bIns="18288" anchor="t">
            <a:spAutoFit/>
          </a:bodyPr>
          <a:lstStyle/>
          <a:p>
            <a:pPr algn="l"/>
            <a:r>
              <a:rPr sz="1000" b="1" i="0">
                <a:solidFill>
                  <a:srgbClr val="28401D"/>
                </a:solidFill>
                <a:latin typeface="Atkinson Hyperlegible"/>
                <a:ea typeface="Atkinson Hyperlegible"/>
                <a:cs typeface="Atkinson Hyperlegible"/>
              </a:rPr>
              <a:t>PASO 2</a:t>
            </a:r>
          </a:p>
        </p:txBody>
      </p:sp>
      <p:sp>
        <p:nvSpPr>
          <p:cNvPr id="13" name="TextBox 12"/>
          <p:cNvSpPr txBox="1"/>
          <p:nvPr/>
        </p:nvSpPr>
        <p:spPr>
          <a:xfrm>
            <a:off x="2971800" y="3703320"/>
            <a:ext cx="1828800" cy="731520"/>
          </a:xfrm>
          <a:prstGeom prst="rect">
            <a:avLst/>
          </a:prstGeom>
          <a:noFill/>
        </p:spPr>
        <p:txBody>
          <a:bodyPr wrap="square" lIns="45720" tIns="18288" rIns="45720" bIns="18288" anchor="t">
            <a:spAutoFit/>
          </a:bodyPr>
          <a:lstStyle/>
          <a:p>
            <a:pPr algn="l"/>
            <a:r>
              <a:rPr sz="1300" b="1" i="0">
                <a:solidFill>
                  <a:srgbClr val="0A0A0A"/>
                </a:solidFill>
                <a:latin typeface="Atkinson Hyperlegible"/>
                <a:ea typeface="Atkinson Hyperlegible"/>
                <a:cs typeface="Atkinson Hyperlegible"/>
              </a:rPr>
              <a:t>Circulos interculturales</a:t>
            </a:r>
          </a:p>
        </p:txBody>
      </p:sp>
      <p:sp>
        <p:nvSpPr>
          <p:cNvPr id="14" name="TextBox 13"/>
          <p:cNvSpPr txBox="1"/>
          <p:nvPr/>
        </p:nvSpPr>
        <p:spPr>
          <a:xfrm>
            <a:off x="2971800" y="4434840"/>
            <a:ext cx="1828800" cy="1417320"/>
          </a:xfrm>
          <a:prstGeom prst="rect">
            <a:avLst/>
          </a:prstGeom>
          <a:noFill/>
        </p:spPr>
        <p:txBody>
          <a:bodyPr wrap="square" lIns="45720" tIns="18288" rIns="45720" bIns="18288" anchor="t">
            <a:spAutoFit/>
          </a:bodyPr>
          <a:lstStyle/>
          <a:p>
            <a:pPr algn="l"/>
            <a:r>
              <a:rPr sz="1100" b="0" i="0">
                <a:solidFill>
                  <a:srgbClr val="4A4A4A"/>
                </a:solidFill>
                <a:latin typeface="Atkinson Hyperlegible"/>
                <a:ea typeface="Atkinson Hyperlegible"/>
                <a:cs typeface="Atkinson Hyperlegible"/>
              </a:rPr>
              <a:t>Creamos espacios donde personas de distintos origenes comparten y aprenden.</a:t>
            </a:r>
          </a:p>
        </p:txBody>
      </p:sp>
      <p:sp>
        <p:nvSpPr>
          <p:cNvPr id="15" name="Rounded Rectangle 14"/>
          <p:cNvSpPr/>
          <p:nvPr/>
        </p:nvSpPr>
        <p:spPr>
          <a:xfrm>
            <a:off x="5120640" y="3291840"/>
            <a:ext cx="2103120" cy="265176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57800" y="3429000"/>
            <a:ext cx="1828800" cy="548640"/>
          </a:xfrm>
          <a:prstGeom prst="rect">
            <a:avLst/>
          </a:prstGeom>
          <a:noFill/>
        </p:spPr>
        <p:txBody>
          <a:bodyPr wrap="square" lIns="45720" tIns="18288" rIns="45720" bIns="18288" anchor="t">
            <a:spAutoFit/>
          </a:bodyPr>
          <a:lstStyle/>
          <a:p>
            <a:pPr algn="l"/>
            <a:r>
              <a:rPr sz="1000" b="1" i="0">
                <a:solidFill>
                  <a:srgbClr val="28401D"/>
                </a:solidFill>
                <a:latin typeface="Atkinson Hyperlegible"/>
                <a:ea typeface="Atkinson Hyperlegible"/>
                <a:cs typeface="Atkinson Hyperlegible"/>
              </a:rPr>
              <a:t>PASO 3</a:t>
            </a:r>
          </a:p>
        </p:txBody>
      </p:sp>
      <p:sp>
        <p:nvSpPr>
          <p:cNvPr id="17" name="TextBox 16"/>
          <p:cNvSpPr txBox="1"/>
          <p:nvPr/>
        </p:nvSpPr>
        <p:spPr>
          <a:xfrm>
            <a:off x="5257800" y="3703320"/>
            <a:ext cx="1828800" cy="731520"/>
          </a:xfrm>
          <a:prstGeom prst="rect">
            <a:avLst/>
          </a:prstGeom>
          <a:noFill/>
        </p:spPr>
        <p:txBody>
          <a:bodyPr wrap="square" lIns="45720" tIns="18288" rIns="45720" bIns="18288" anchor="t">
            <a:spAutoFit/>
          </a:bodyPr>
          <a:lstStyle/>
          <a:p>
            <a:pPr algn="l"/>
            <a:r>
              <a:rPr sz="1300" b="1" i="0">
                <a:solidFill>
                  <a:srgbClr val="0A0A0A"/>
                </a:solidFill>
                <a:latin typeface="Atkinson Hyperlegible"/>
                <a:ea typeface="Atkinson Hyperlegible"/>
                <a:cs typeface="Atkinson Hyperlegible"/>
              </a:rPr>
              <a:t>Libro grafico con RA</a:t>
            </a:r>
          </a:p>
        </p:txBody>
      </p:sp>
      <p:sp>
        <p:nvSpPr>
          <p:cNvPr id="18" name="TextBox 17"/>
          <p:cNvSpPr txBox="1"/>
          <p:nvPr/>
        </p:nvSpPr>
        <p:spPr>
          <a:xfrm>
            <a:off x="5257800" y="4434840"/>
            <a:ext cx="1828800" cy="1417320"/>
          </a:xfrm>
          <a:prstGeom prst="rect">
            <a:avLst/>
          </a:prstGeom>
          <a:noFill/>
        </p:spPr>
        <p:txBody>
          <a:bodyPr wrap="square" lIns="45720" tIns="18288" rIns="45720" bIns="18288" anchor="t">
            <a:spAutoFit/>
          </a:bodyPr>
          <a:lstStyle/>
          <a:p>
            <a:pPr algn="l"/>
            <a:r>
              <a:rPr sz="1100" b="0" i="0">
                <a:solidFill>
                  <a:srgbClr val="4A4A4A"/>
                </a:solidFill>
                <a:latin typeface="Atkinson Hyperlegible"/>
                <a:ea typeface="Atkinson Hyperlegible"/>
                <a:cs typeface="Atkinson Hyperlegible"/>
              </a:rPr>
              <a:t>Escribimos un cuento ilustrado y le pusimos Realidad Aumentada para capacitar.</a:t>
            </a:r>
          </a:p>
        </p:txBody>
      </p:sp>
      <p:sp>
        <p:nvSpPr>
          <p:cNvPr id="19" name="Rounded Rectangle 18"/>
          <p:cNvSpPr/>
          <p:nvPr/>
        </p:nvSpPr>
        <p:spPr>
          <a:xfrm>
            <a:off x="7406640" y="3291840"/>
            <a:ext cx="2103120" cy="265176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3429000"/>
            <a:ext cx="1828800" cy="548640"/>
          </a:xfrm>
          <a:prstGeom prst="rect">
            <a:avLst/>
          </a:prstGeom>
          <a:noFill/>
        </p:spPr>
        <p:txBody>
          <a:bodyPr wrap="square" lIns="45720" tIns="18288" rIns="45720" bIns="18288" anchor="t">
            <a:spAutoFit/>
          </a:bodyPr>
          <a:lstStyle/>
          <a:p>
            <a:pPr algn="l"/>
            <a:r>
              <a:rPr sz="1000" b="1" i="0">
                <a:solidFill>
                  <a:srgbClr val="28401D"/>
                </a:solidFill>
                <a:latin typeface="Atkinson Hyperlegible"/>
                <a:ea typeface="Atkinson Hyperlegible"/>
                <a:cs typeface="Atkinson Hyperlegible"/>
              </a:rPr>
              <a:t>PASO 4</a:t>
            </a:r>
          </a:p>
        </p:txBody>
      </p:sp>
      <p:sp>
        <p:nvSpPr>
          <p:cNvPr id="21" name="TextBox 20"/>
          <p:cNvSpPr txBox="1"/>
          <p:nvPr/>
        </p:nvSpPr>
        <p:spPr>
          <a:xfrm>
            <a:off x="7543800" y="3703320"/>
            <a:ext cx="1828800" cy="731520"/>
          </a:xfrm>
          <a:prstGeom prst="rect">
            <a:avLst/>
          </a:prstGeom>
          <a:noFill/>
        </p:spPr>
        <p:txBody>
          <a:bodyPr wrap="square" lIns="45720" tIns="18288" rIns="45720" bIns="18288" anchor="t">
            <a:spAutoFit/>
          </a:bodyPr>
          <a:lstStyle/>
          <a:p>
            <a:pPr algn="l"/>
            <a:r>
              <a:rPr sz="1300" b="1" i="0">
                <a:solidFill>
                  <a:srgbClr val="0A0A0A"/>
                </a:solidFill>
                <a:latin typeface="Atkinson Hyperlegible"/>
                <a:ea typeface="Atkinson Hyperlegible"/>
                <a:cs typeface="Atkinson Hyperlegible"/>
              </a:rPr>
              <a:t>Rutas de apoyo con IA</a:t>
            </a:r>
          </a:p>
        </p:txBody>
      </p:sp>
      <p:sp>
        <p:nvSpPr>
          <p:cNvPr id="22" name="TextBox 21"/>
          <p:cNvSpPr txBox="1"/>
          <p:nvPr/>
        </p:nvSpPr>
        <p:spPr>
          <a:xfrm>
            <a:off x="7543800" y="4434840"/>
            <a:ext cx="1828800" cy="1417320"/>
          </a:xfrm>
          <a:prstGeom prst="rect">
            <a:avLst/>
          </a:prstGeom>
          <a:noFill/>
        </p:spPr>
        <p:txBody>
          <a:bodyPr wrap="square" lIns="45720" tIns="18288" rIns="45720" bIns="18288" anchor="t">
            <a:spAutoFit/>
          </a:bodyPr>
          <a:lstStyle/>
          <a:p>
            <a:pPr algn="l"/>
            <a:r>
              <a:rPr sz="1100" b="0" i="0">
                <a:solidFill>
                  <a:srgbClr val="4A4A4A"/>
                </a:solidFill>
                <a:latin typeface="Atkinson Hyperlegible"/>
                <a:ea typeface="Atkinson Hyperlegible"/>
                <a:cs typeface="Atkinson Hyperlegible"/>
              </a:rPr>
              <a:t>Usamos datos e inteligencia artificial para detectar y atender necesidades.</a:t>
            </a:r>
          </a:p>
        </p:txBody>
      </p:sp>
      <p:sp>
        <p:nvSpPr>
          <p:cNvPr id="23" name="Rounded Rectangle 22"/>
          <p:cNvSpPr/>
          <p:nvPr/>
        </p:nvSpPr>
        <p:spPr>
          <a:xfrm>
            <a:off x="9692640" y="3291840"/>
            <a:ext cx="2103120" cy="265176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829800" y="3429000"/>
            <a:ext cx="1828800" cy="548640"/>
          </a:xfrm>
          <a:prstGeom prst="rect">
            <a:avLst/>
          </a:prstGeom>
          <a:noFill/>
        </p:spPr>
        <p:txBody>
          <a:bodyPr wrap="square" lIns="45720" tIns="18288" rIns="45720" bIns="18288" anchor="t">
            <a:spAutoFit/>
          </a:bodyPr>
          <a:lstStyle/>
          <a:p>
            <a:pPr algn="l"/>
            <a:r>
              <a:rPr sz="1000" b="1" i="0">
                <a:solidFill>
                  <a:srgbClr val="28401D"/>
                </a:solidFill>
                <a:latin typeface="Atkinson Hyperlegible"/>
                <a:ea typeface="Atkinson Hyperlegible"/>
                <a:cs typeface="Atkinson Hyperlegible"/>
              </a:rPr>
              <a:t>PASO 5</a:t>
            </a:r>
          </a:p>
        </p:txBody>
      </p:sp>
      <p:sp>
        <p:nvSpPr>
          <p:cNvPr id="25" name="TextBox 24"/>
          <p:cNvSpPr txBox="1"/>
          <p:nvPr/>
        </p:nvSpPr>
        <p:spPr>
          <a:xfrm>
            <a:off x="9829800" y="3703320"/>
            <a:ext cx="1828800" cy="731520"/>
          </a:xfrm>
          <a:prstGeom prst="rect">
            <a:avLst/>
          </a:prstGeom>
          <a:noFill/>
        </p:spPr>
        <p:txBody>
          <a:bodyPr wrap="square" lIns="45720" tIns="18288" rIns="45720" bIns="18288" anchor="t">
            <a:spAutoFit/>
          </a:bodyPr>
          <a:lstStyle/>
          <a:p>
            <a:pPr algn="l"/>
            <a:r>
              <a:rPr sz="1300" b="1" i="0">
                <a:solidFill>
                  <a:srgbClr val="0A0A0A"/>
                </a:solidFill>
                <a:latin typeface="Atkinson Hyperlegible"/>
                <a:ea typeface="Atkinson Hyperlegible"/>
                <a:cs typeface="Atkinson Hyperlegible"/>
              </a:rPr>
              <a:t>Laboratorios colaborativos</a:t>
            </a:r>
          </a:p>
        </p:txBody>
      </p:sp>
      <p:sp>
        <p:nvSpPr>
          <p:cNvPr id="26" name="TextBox 25"/>
          <p:cNvSpPr txBox="1"/>
          <p:nvPr/>
        </p:nvSpPr>
        <p:spPr>
          <a:xfrm>
            <a:off x="9829800" y="4434840"/>
            <a:ext cx="1828800" cy="1417320"/>
          </a:xfrm>
          <a:prstGeom prst="rect">
            <a:avLst/>
          </a:prstGeom>
          <a:noFill/>
        </p:spPr>
        <p:txBody>
          <a:bodyPr wrap="square" lIns="45720" tIns="18288" rIns="45720" bIns="18288" anchor="t">
            <a:spAutoFit/>
          </a:bodyPr>
          <a:lstStyle/>
          <a:p>
            <a:pPr algn="l"/>
            <a:r>
              <a:rPr sz="1100" b="0" i="0" dirty="0" err="1">
                <a:solidFill>
                  <a:srgbClr val="4A4A4A"/>
                </a:solidFill>
                <a:latin typeface="Atkinson Hyperlegible"/>
                <a:ea typeface="Atkinson Hyperlegible"/>
                <a:cs typeface="Atkinson Hyperlegible"/>
              </a:rPr>
              <a:t>Instructores</a:t>
            </a:r>
            <a:r>
              <a:rPr sz="1100" b="0" i="0" dirty="0">
                <a:solidFill>
                  <a:srgbClr val="4A4A4A"/>
                </a:solidFill>
                <a:latin typeface="Atkinson Hyperlegible"/>
                <a:ea typeface="Atkinson Hyperlegible"/>
                <a:cs typeface="Atkinson Hyperlegible"/>
              </a:rPr>
              <a:t>, </a:t>
            </a:r>
            <a:r>
              <a:rPr sz="1100" b="0" i="0" dirty="0" err="1">
                <a:solidFill>
                  <a:srgbClr val="4A4A4A"/>
                </a:solidFill>
                <a:latin typeface="Atkinson Hyperlegible"/>
                <a:ea typeface="Atkinson Hyperlegible"/>
                <a:cs typeface="Atkinson Hyperlegible"/>
              </a:rPr>
              <a:t>aprendices</a:t>
            </a:r>
            <a:r>
              <a:rPr sz="1100" b="0" i="0" dirty="0">
                <a:solidFill>
                  <a:srgbClr val="4A4A4A"/>
                </a:solidFill>
                <a:latin typeface="Atkinson Hyperlegible"/>
                <a:ea typeface="Atkinson Hyperlegible"/>
                <a:cs typeface="Atkinson Hyperlegible"/>
              </a:rPr>
              <a:t> y </a:t>
            </a:r>
            <a:r>
              <a:rPr sz="1100" b="0" i="0" dirty="0" err="1">
                <a:solidFill>
                  <a:srgbClr val="4A4A4A"/>
                </a:solidFill>
                <a:latin typeface="Atkinson Hyperlegible"/>
                <a:ea typeface="Atkinson Hyperlegible"/>
                <a:cs typeface="Atkinson Hyperlegible"/>
              </a:rPr>
              <a:t>expertos</a:t>
            </a:r>
            <a:r>
              <a:rPr sz="1100" b="0" i="0" dirty="0">
                <a:solidFill>
                  <a:srgbClr val="4A4A4A"/>
                </a:solidFill>
                <a:latin typeface="Atkinson Hyperlegible"/>
                <a:ea typeface="Atkinson Hyperlegible"/>
                <a:cs typeface="Atkinson Hyperlegible"/>
              </a:rPr>
              <a:t> </a:t>
            </a:r>
            <a:r>
              <a:rPr sz="1100" b="0" i="0" dirty="0" err="1">
                <a:solidFill>
                  <a:srgbClr val="4A4A4A"/>
                </a:solidFill>
                <a:latin typeface="Atkinson Hyperlegible"/>
                <a:ea typeface="Atkinson Hyperlegible"/>
                <a:cs typeface="Atkinson Hyperlegible"/>
              </a:rPr>
              <a:t>cocrean</a:t>
            </a:r>
            <a:r>
              <a:rPr sz="1100" b="0" i="0" dirty="0">
                <a:solidFill>
                  <a:srgbClr val="4A4A4A"/>
                </a:solidFill>
                <a:latin typeface="Atkinson Hyperlegible"/>
                <a:ea typeface="Atkinson Hyperlegible"/>
                <a:cs typeface="Atkinson Hyperlegible"/>
              </a:rPr>
              <a:t> </a:t>
            </a:r>
            <a:r>
              <a:rPr sz="1100" b="0" i="0" dirty="0" err="1">
                <a:solidFill>
                  <a:srgbClr val="4A4A4A"/>
                </a:solidFill>
                <a:latin typeface="Atkinson Hyperlegible"/>
                <a:ea typeface="Atkinson Hyperlegible"/>
                <a:cs typeface="Atkinson Hyperlegible"/>
              </a:rPr>
              <a:t>soluciones</a:t>
            </a:r>
            <a:r>
              <a:rPr sz="1100" b="0" i="0" dirty="0">
                <a:solidFill>
                  <a:srgbClr val="4A4A4A"/>
                </a:solidFill>
                <a:latin typeface="Atkinson Hyperlegible"/>
                <a:ea typeface="Atkinson Hyperlegible"/>
                <a:cs typeface="Atkinson Hyperlegible"/>
              </a:rPr>
              <a:t> </a:t>
            </a:r>
            <a:r>
              <a:rPr sz="1100" b="0" i="0" dirty="0" err="1">
                <a:solidFill>
                  <a:srgbClr val="4A4A4A"/>
                </a:solidFill>
                <a:latin typeface="Atkinson Hyperlegible"/>
                <a:ea typeface="Atkinson Hyperlegible"/>
                <a:cs typeface="Atkinson Hyperlegible"/>
              </a:rPr>
              <a:t>concretas</a:t>
            </a:r>
            <a:r>
              <a:rPr sz="1100" b="0" i="0" dirty="0">
                <a:solidFill>
                  <a:srgbClr val="4A4A4A"/>
                </a:solidFill>
                <a:latin typeface="Atkinson Hyperlegible"/>
                <a:ea typeface="Atkinson Hyperlegible"/>
                <a:cs typeface="Atkinson Hyperlegible"/>
              </a:rPr>
              <a:t>.</a:t>
            </a:r>
          </a:p>
        </p:txBody>
      </p:sp>
      <p:sp>
        <p:nvSpPr>
          <p:cNvPr id="27" name="TextBox 26"/>
          <p:cNvSpPr txBox="1"/>
          <p:nvPr/>
        </p:nvSpPr>
        <p:spPr>
          <a:xfrm>
            <a:off x="548640" y="6126480"/>
            <a:ext cx="11064240" cy="365760"/>
          </a:xfrm>
          <a:prstGeom prst="rect">
            <a:avLst/>
          </a:prstGeom>
          <a:noFill/>
        </p:spPr>
        <p:txBody>
          <a:bodyPr wrap="square" lIns="45720" tIns="18288" rIns="45720" bIns="18288" anchor="t">
            <a:spAutoFit/>
          </a:bodyPr>
          <a:lstStyle/>
          <a:p>
            <a:pPr algn="l"/>
            <a:r>
              <a:rPr sz="1100" b="0" i="1">
                <a:solidFill>
                  <a:srgbClr val="4A4A4A"/>
                </a:solidFill>
                <a:latin typeface="Atkinson Hyperlegible"/>
                <a:ea typeface="Atkinson Hyperlegible"/>
                <a:cs typeface="Atkinson Hyperlegible"/>
              </a:rPr>
              <a:t>Ademas, el proyecto se apoya en normas colombianas (Decreto 1421 de 2017) y en politicas del SENA (Acuerdo 0010 de 2016).</a:t>
            </a:r>
          </a:p>
        </p:txBody>
      </p:sp>
      <p:sp>
        <p:nvSpPr>
          <p:cNvPr id="28" name="TextBox 27"/>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29" name="TextBox 28"/>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5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CONOCE A SARITA</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Sarita, dibujadora de suenos</a:t>
            </a:r>
          </a:p>
        </p:txBody>
      </p:sp>
      <p:sp>
        <p:nvSpPr>
          <p:cNvPr id="4" name="Rounded Rectangle 3"/>
          <p:cNvSpPr/>
          <p:nvPr/>
        </p:nvSpPr>
        <p:spPr>
          <a:xfrm>
            <a:off x="548640" y="1783080"/>
            <a:ext cx="4114800" cy="4206240"/>
          </a:xfrm>
          <a:prstGeom prst="roundRect">
            <a:avLst>
              <a:gd name="adj" fmla="val 10000"/>
            </a:avLst>
          </a:prstGeom>
          <a:solidFill>
            <a:srgbClr val="F3D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783080"/>
            <a:ext cx="4114800" cy="640080"/>
          </a:xfrm>
          <a:prstGeom prst="roundRect">
            <a:avLst/>
          </a:prstGeom>
          <a:solidFill>
            <a:srgbClr val="BF2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74519"/>
            <a:ext cx="4114800" cy="548640"/>
          </a:xfrm>
          <a:prstGeom prst="rect">
            <a:avLst/>
          </a:prstGeom>
          <a:noFill/>
        </p:spPr>
        <p:txBody>
          <a:bodyPr wrap="square" lIns="45720" tIns="18288" rIns="45720" bIns="18288" anchor="t">
            <a:spAutoFit/>
          </a:bodyPr>
          <a:lstStyle/>
          <a:p>
            <a:pPr algn="ctr"/>
            <a:r>
              <a:rPr sz="1400" b="1" i="0">
                <a:solidFill>
                  <a:srgbClr val="FFFFFF"/>
                </a:solidFill>
                <a:latin typeface="Atkinson Hyperlegible"/>
                <a:ea typeface="Atkinson Hyperlegible"/>
                <a:cs typeface="Atkinson Hyperlegible"/>
              </a:rPr>
              <a:t>Portada del libro album</a:t>
            </a:r>
          </a:p>
        </p:txBody>
      </p:sp>
      <p:sp>
        <p:nvSpPr>
          <p:cNvPr id="7" name="TextBox 6"/>
          <p:cNvSpPr txBox="1"/>
          <p:nvPr/>
        </p:nvSpPr>
        <p:spPr>
          <a:xfrm>
            <a:off x="777240" y="2743200"/>
            <a:ext cx="3657600" cy="2926080"/>
          </a:xfrm>
          <a:prstGeom prst="rect">
            <a:avLst/>
          </a:prstGeom>
          <a:noFill/>
        </p:spPr>
        <p:txBody>
          <a:bodyPr wrap="square" lIns="45720" tIns="18288" rIns="45720" bIns="18288" anchor="t">
            <a:spAutoFit/>
          </a:bodyPr>
          <a:lstStyle/>
          <a:p>
            <a:pPr algn="l"/>
            <a:r>
              <a:rPr sz="1300" b="0" i="1">
                <a:solidFill>
                  <a:srgbClr val="0A0A0A"/>
                </a:solidFill>
                <a:latin typeface="Atkinson Hyperlegible"/>
                <a:ea typeface="Atkinson Hyperlegible"/>
                <a:cs typeface="Atkinson Hyperlegible"/>
              </a:rPr>
              <a:t>Sarita siempre fue timida. Le costaba hablar con desconocidos y preferia expresarse dibujando. Le decian 'miedosa' en su casa y 'muda' en el barrio.</a:t>
            </a:r>
          </a:p>
          <a:p>
            <a:pPr algn="l"/>
            <a:endParaRPr sz="1300" b="0" i="1">
              <a:solidFill>
                <a:srgbClr val="0A0A0A"/>
              </a:solidFill>
              <a:latin typeface="Atkinson Hyperlegible"/>
              <a:ea typeface="Atkinson Hyperlegible"/>
              <a:cs typeface="Atkinson Hyperlegible"/>
            </a:endParaRPr>
          </a:p>
          <a:p>
            <a:pPr algn="l"/>
            <a:r>
              <a:rPr sz="1300" b="0" i="1">
                <a:solidFill>
                  <a:srgbClr val="0A0A0A"/>
                </a:solidFill>
                <a:latin typeface="Atkinson Hyperlegible"/>
                <a:ea typeface="Atkinson Hyperlegible"/>
                <a:cs typeface="Atkinson Hyperlegible"/>
              </a:rPr>
              <a:t>Un dia decidio cumplir su sueno: ser ilustradora. Ingreso al SENA, pero sufrio burlas que la alejaron.</a:t>
            </a:r>
          </a:p>
          <a:p>
            <a:pPr algn="l"/>
            <a:endParaRPr sz="1300" b="0" i="1">
              <a:solidFill>
                <a:srgbClr val="0A0A0A"/>
              </a:solidFill>
              <a:latin typeface="Atkinson Hyperlegible"/>
              <a:ea typeface="Atkinson Hyperlegible"/>
              <a:cs typeface="Atkinson Hyperlegible"/>
            </a:endParaRPr>
          </a:p>
          <a:p>
            <a:pPr algn="l"/>
            <a:r>
              <a:rPr sz="1300" b="0" i="1">
                <a:solidFill>
                  <a:srgbClr val="0A0A0A"/>
                </a:solidFill>
                <a:latin typeface="Atkinson Hyperlegible"/>
                <a:ea typeface="Atkinson Hyperlegible"/>
                <a:cs typeface="Atkinson Hyperlegible"/>
              </a:rPr>
              <a:t>Gracias a un instructor que la escucho y a companeros que la acompanaron, Sarita volvio a confiar en si misma y descubrio que ser diferente no es algo a esconder.</a:t>
            </a:r>
          </a:p>
        </p:txBody>
      </p:sp>
      <p:sp>
        <p:nvSpPr>
          <p:cNvPr id="8" name="TextBox 7"/>
          <p:cNvSpPr txBox="1"/>
          <p:nvPr/>
        </p:nvSpPr>
        <p:spPr>
          <a:xfrm>
            <a:off x="5029200" y="1783080"/>
            <a:ext cx="6858000" cy="457200"/>
          </a:xfrm>
          <a:prstGeom prst="rect">
            <a:avLst/>
          </a:prstGeom>
          <a:noFill/>
        </p:spPr>
        <p:txBody>
          <a:bodyPr wrap="square" lIns="45720" tIns="18288" rIns="45720" bIns="18288" anchor="t">
            <a:spAutoFit/>
          </a:bodyPr>
          <a:lstStyle/>
          <a:p>
            <a:pPr algn="l"/>
            <a:r>
              <a:rPr sz="2000" b="1" i="0">
                <a:solidFill>
                  <a:srgbClr val="022873"/>
                </a:solidFill>
                <a:latin typeface="Atkinson Hyperlegible"/>
                <a:ea typeface="Atkinson Hyperlegible"/>
                <a:cs typeface="Atkinson Hyperlegible"/>
              </a:rPr>
              <a:t>Que nos deja esta historia</a:t>
            </a:r>
          </a:p>
        </p:txBody>
      </p:sp>
      <p:sp>
        <p:nvSpPr>
          <p:cNvPr id="9" name="TextBox 8"/>
          <p:cNvSpPr txBox="1"/>
          <p:nvPr/>
        </p:nvSpPr>
        <p:spPr>
          <a:xfrm>
            <a:off x="5029200" y="2331720"/>
            <a:ext cx="6858000" cy="3657600"/>
          </a:xfrm>
          <a:prstGeom prst="rect">
            <a:avLst/>
          </a:prstGeom>
          <a:noFill/>
        </p:spPr>
        <p:txBody>
          <a:bodyPr wrap="square" lIns="45720" rIns="45720">
            <a:spAutoFit/>
          </a:bodyPr>
          <a:lstStyle/>
          <a:p>
            <a:pPr algn="l">
              <a:lnSpc>
                <a:spcPct val="125000"/>
              </a:lnSpc>
            </a:pPr>
            <a:r>
              <a:rPr sz="1500" b="1">
                <a:solidFill>
                  <a:srgbClr val="F28F16"/>
                </a:solidFill>
                <a:latin typeface="Atkinson Hyperlegible"/>
                <a:ea typeface="Atkinson Hyperlegible"/>
                <a:cs typeface="Atkinson Hyperlegible"/>
              </a:rPr>
              <a:t>■  </a:t>
            </a:r>
            <a:r>
              <a:rPr sz="1500">
                <a:solidFill>
                  <a:srgbClr val="0A0A0A"/>
                </a:solidFill>
                <a:latin typeface="Atkinson Hyperlegible"/>
                <a:ea typeface="Atkinson Hyperlegible"/>
                <a:cs typeface="Atkinson Hyperlegible"/>
              </a:rPr>
              <a:t>Ser diferente NO es un defecto: es una parte valiosa de quien somos.</a:t>
            </a:r>
          </a:p>
          <a:p>
            <a:pPr algn="l">
              <a:lnSpc>
                <a:spcPct val="125000"/>
              </a:lnSpc>
            </a:pPr>
            <a:r>
              <a:rPr sz="1500" b="1">
                <a:solidFill>
                  <a:srgbClr val="F28F16"/>
                </a:solidFill>
                <a:latin typeface="Atkinson Hyperlegible"/>
                <a:ea typeface="Atkinson Hyperlegible"/>
                <a:cs typeface="Atkinson Hyperlegible"/>
              </a:rPr>
              <a:t>■  </a:t>
            </a:r>
            <a:r>
              <a:rPr sz="1500">
                <a:solidFill>
                  <a:srgbClr val="0A0A0A"/>
                </a:solidFill>
                <a:latin typeface="Atkinson Hyperlegible"/>
                <a:ea typeface="Atkinson Hyperlegible"/>
                <a:cs typeface="Atkinson Hyperlegible"/>
              </a:rPr>
              <a:t>Un instructor que escucha y un companero que acompana pueden cambiar una vida.</a:t>
            </a:r>
          </a:p>
          <a:p>
            <a:pPr algn="l">
              <a:lnSpc>
                <a:spcPct val="125000"/>
              </a:lnSpc>
            </a:pPr>
            <a:r>
              <a:rPr sz="1500" b="1">
                <a:solidFill>
                  <a:srgbClr val="F28F16"/>
                </a:solidFill>
                <a:latin typeface="Atkinson Hyperlegible"/>
                <a:ea typeface="Atkinson Hyperlegible"/>
                <a:cs typeface="Atkinson Hyperlegible"/>
              </a:rPr>
              <a:t>■  </a:t>
            </a:r>
            <a:r>
              <a:rPr sz="1500">
                <a:solidFill>
                  <a:srgbClr val="0A0A0A"/>
                </a:solidFill>
                <a:latin typeface="Atkinson Hyperlegible"/>
                <a:ea typeface="Atkinson Hyperlegible"/>
                <a:cs typeface="Atkinson Hyperlegible"/>
              </a:rPr>
              <a:t>Los espacios seguros no se hacen solos: se construyen con empatia y respeto.</a:t>
            </a:r>
          </a:p>
          <a:p>
            <a:pPr algn="l">
              <a:lnSpc>
                <a:spcPct val="125000"/>
              </a:lnSpc>
            </a:pPr>
            <a:r>
              <a:rPr sz="1500" b="1">
                <a:solidFill>
                  <a:srgbClr val="F28F16"/>
                </a:solidFill>
                <a:latin typeface="Atkinson Hyperlegible"/>
                <a:ea typeface="Atkinson Hyperlegible"/>
                <a:cs typeface="Atkinson Hyperlegible"/>
              </a:rPr>
              <a:t>■  </a:t>
            </a:r>
            <a:r>
              <a:rPr sz="1500">
                <a:solidFill>
                  <a:srgbClr val="0A0A0A"/>
                </a:solidFill>
                <a:latin typeface="Atkinson Hyperlegible"/>
                <a:ea typeface="Atkinson Hyperlegible"/>
                <a:cs typeface="Atkinson Hyperlegible"/>
              </a:rPr>
              <a:t>Cumplir un sueno es posible cuando alguien cree en nosotros.</a:t>
            </a:r>
          </a:p>
        </p:txBody>
      </p:sp>
      <p:sp>
        <p:nvSpPr>
          <p:cNvPr id="10" name="Rounded Rectangle 9"/>
          <p:cNvSpPr/>
          <p:nvPr/>
        </p:nvSpPr>
        <p:spPr>
          <a:xfrm>
            <a:off x="5029200" y="5532120"/>
            <a:ext cx="6858000" cy="822960"/>
          </a:xfrm>
          <a:prstGeom prst="roundRect">
            <a:avLst>
              <a:gd name="adj" fmla="val 8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12080" y="5623560"/>
            <a:ext cx="6583680" cy="365760"/>
          </a:xfrm>
          <a:prstGeom prst="rect">
            <a:avLst/>
          </a:prstGeom>
          <a:noFill/>
        </p:spPr>
        <p:txBody>
          <a:bodyPr wrap="square" lIns="45720" tIns="18288" rIns="45720" bIns="18288" anchor="t">
            <a:spAutoFit/>
          </a:bodyPr>
          <a:lstStyle/>
          <a:p>
            <a:pPr algn="l"/>
            <a:r>
              <a:rPr sz="1100" b="1" i="0">
                <a:solidFill>
                  <a:srgbClr val="28401D"/>
                </a:solidFill>
                <a:latin typeface="Atkinson Hyperlegible"/>
                <a:ea typeface="Atkinson Hyperlegible"/>
                <a:cs typeface="Atkinson Hyperlegible"/>
              </a:rPr>
              <a:t>VERSION INCLUIDA EN EL LIBRO</a:t>
            </a:r>
          </a:p>
        </p:txBody>
      </p:sp>
      <p:sp>
        <p:nvSpPr>
          <p:cNvPr id="12" name="TextBox 11"/>
          <p:cNvSpPr txBox="1"/>
          <p:nvPr/>
        </p:nvSpPr>
        <p:spPr>
          <a:xfrm>
            <a:off x="5212080" y="5897880"/>
            <a:ext cx="6583680" cy="457200"/>
          </a:xfrm>
          <a:prstGeom prst="rect">
            <a:avLst/>
          </a:prstGeom>
          <a:noFill/>
        </p:spPr>
        <p:txBody>
          <a:bodyPr wrap="square" lIns="45720" tIns="18288" rIns="45720" bIns="18288" anchor="t">
            <a:spAutoFit/>
          </a:bodyPr>
          <a:lstStyle/>
          <a:p>
            <a:pPr algn="l"/>
            <a:r>
              <a:rPr sz="1400" b="0" i="0">
                <a:solidFill>
                  <a:srgbClr val="0A0A0A"/>
                </a:solidFill>
                <a:latin typeface="Atkinson Hyperlegible"/>
                <a:ea typeface="Atkinson Hyperlegible"/>
                <a:cs typeface="Atkinson Hyperlegible"/>
              </a:rPr>
              <a:t>Texto  +  Braille en relieve  +  Codigo QR al audiolibro</a:t>
            </a:r>
          </a:p>
        </p:txBody>
      </p:sp>
      <p:sp>
        <p:nvSpPr>
          <p:cNvPr id="13" name="TextBox 12"/>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14" name="TextBox 13"/>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7 / 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10 COMPROMISOS</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Decalogo de inclusion</a:t>
            </a:r>
          </a:p>
        </p:txBody>
      </p:sp>
      <p:sp>
        <p:nvSpPr>
          <p:cNvPr id="4" name="TextBox 3"/>
          <p:cNvSpPr txBox="1"/>
          <p:nvPr/>
        </p:nvSpPr>
        <p:spPr>
          <a:xfrm>
            <a:off x="548640" y="1554480"/>
            <a:ext cx="11155680" cy="457200"/>
          </a:xfrm>
          <a:prstGeom prst="rect">
            <a:avLst/>
          </a:prstGeom>
          <a:noFill/>
        </p:spPr>
        <p:txBody>
          <a:bodyPr wrap="square" lIns="45720" tIns="18288" rIns="45720" bIns="18288" anchor="t">
            <a:spAutoFit/>
          </a:bodyPr>
          <a:lstStyle/>
          <a:p>
            <a:pPr algn="l"/>
            <a:r>
              <a:rPr sz="1400" b="0" i="0">
                <a:solidFill>
                  <a:srgbClr val="4A4A4A"/>
                </a:solidFill>
                <a:latin typeface="Atkinson Hyperlegible"/>
                <a:ea typeface="Atkinson Hyperlegible"/>
                <a:cs typeface="Atkinson Hyperlegible"/>
              </a:rPr>
              <a:t>10 principios faciles de recordar para vivir la inclusion cada dia en el SENA:</a:t>
            </a:r>
          </a:p>
        </p:txBody>
      </p:sp>
      <p:sp>
        <p:nvSpPr>
          <p:cNvPr id="5" name="Rounded Rectangle 4"/>
          <p:cNvSpPr/>
          <p:nvPr/>
        </p:nvSpPr>
        <p:spPr>
          <a:xfrm>
            <a:off x="548640" y="2194560"/>
            <a:ext cx="2240280" cy="1463040"/>
          </a:xfrm>
          <a:prstGeom prst="roundRect">
            <a:avLst>
              <a:gd name="adj" fmla="val 10000"/>
            </a:avLst>
          </a:prstGeom>
          <a:solidFill>
            <a:srgbClr val="DDD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85800" y="2331720"/>
            <a:ext cx="502920" cy="502920"/>
          </a:xfrm>
          <a:prstGeom prst="ellipse">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3591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1</a:t>
            </a:r>
          </a:p>
        </p:txBody>
      </p:sp>
      <p:sp>
        <p:nvSpPr>
          <p:cNvPr id="8" name="TextBox 7"/>
          <p:cNvSpPr txBox="1"/>
          <p:nvPr/>
        </p:nvSpPr>
        <p:spPr>
          <a:xfrm>
            <a:off x="685800" y="29260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Valoro la diversidad</a:t>
            </a:r>
          </a:p>
        </p:txBody>
      </p:sp>
      <p:sp>
        <p:nvSpPr>
          <p:cNvPr id="9" name="Rounded Rectangle 8"/>
          <p:cNvSpPr/>
          <p:nvPr/>
        </p:nvSpPr>
        <p:spPr>
          <a:xfrm>
            <a:off x="2880360" y="2194560"/>
            <a:ext cx="2240280" cy="1463040"/>
          </a:xfrm>
          <a:prstGeom prst="roundRect">
            <a:avLst>
              <a:gd name="adj" fmla="val 10000"/>
            </a:avLst>
          </a:prstGeom>
          <a:solidFill>
            <a:srgbClr val="D9C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017520" y="2331720"/>
            <a:ext cx="502920" cy="50292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0" y="23591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2</a:t>
            </a:r>
          </a:p>
        </p:txBody>
      </p:sp>
      <p:sp>
        <p:nvSpPr>
          <p:cNvPr id="12" name="TextBox 11"/>
          <p:cNvSpPr txBox="1"/>
          <p:nvPr/>
        </p:nvSpPr>
        <p:spPr>
          <a:xfrm>
            <a:off x="3017520" y="29260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Promuevo el respeto</a:t>
            </a:r>
          </a:p>
        </p:txBody>
      </p:sp>
      <p:sp>
        <p:nvSpPr>
          <p:cNvPr id="13" name="Rounded Rectangle 12"/>
          <p:cNvSpPr/>
          <p:nvPr/>
        </p:nvSpPr>
        <p:spPr>
          <a:xfrm>
            <a:off x="5212080" y="2194560"/>
            <a:ext cx="2240280" cy="146304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349240" y="2331720"/>
            <a:ext cx="502920" cy="502920"/>
          </a:xfrm>
          <a:prstGeom prst="ellipse">
            <a:avLst/>
          </a:prstGeom>
          <a:solidFill>
            <a:srgbClr val="284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49240" y="23591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3</a:t>
            </a:r>
          </a:p>
        </p:txBody>
      </p:sp>
      <p:sp>
        <p:nvSpPr>
          <p:cNvPr id="16" name="TextBox 15"/>
          <p:cNvSpPr txBox="1"/>
          <p:nvPr/>
        </p:nvSpPr>
        <p:spPr>
          <a:xfrm>
            <a:off x="5349240" y="29260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Empatizo con los demas</a:t>
            </a:r>
          </a:p>
        </p:txBody>
      </p:sp>
      <p:sp>
        <p:nvSpPr>
          <p:cNvPr id="17" name="Rounded Rectangle 16"/>
          <p:cNvSpPr/>
          <p:nvPr/>
        </p:nvSpPr>
        <p:spPr>
          <a:xfrm>
            <a:off x="7543800" y="2194560"/>
            <a:ext cx="2240280" cy="1463040"/>
          </a:xfrm>
          <a:prstGeom prst="roundRect">
            <a:avLst>
              <a:gd name="adj" fmla="val 10000"/>
            </a:avLst>
          </a:prstGeom>
          <a:solidFill>
            <a:srgbClr val="F3D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680960" y="2331720"/>
            <a:ext cx="502920" cy="502920"/>
          </a:xfrm>
          <a:prstGeom prst="ellipse">
            <a:avLst/>
          </a:prstGeom>
          <a:solidFill>
            <a:srgbClr val="BF2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0" y="23591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4</a:t>
            </a:r>
          </a:p>
        </p:txBody>
      </p:sp>
      <p:sp>
        <p:nvSpPr>
          <p:cNvPr id="20" name="TextBox 19"/>
          <p:cNvSpPr txBox="1"/>
          <p:nvPr/>
        </p:nvSpPr>
        <p:spPr>
          <a:xfrm>
            <a:off x="7680960" y="29260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Reconozco la inclusion</a:t>
            </a:r>
          </a:p>
        </p:txBody>
      </p:sp>
      <p:sp>
        <p:nvSpPr>
          <p:cNvPr id="21" name="Rounded Rectangle 20"/>
          <p:cNvSpPr/>
          <p:nvPr/>
        </p:nvSpPr>
        <p:spPr>
          <a:xfrm>
            <a:off x="9875520" y="2194560"/>
            <a:ext cx="2240280" cy="1463040"/>
          </a:xfrm>
          <a:prstGeom prst="roundRect">
            <a:avLst>
              <a:gd name="adj" fmla="val 10000"/>
            </a:avLst>
          </a:prstGeom>
          <a:solidFill>
            <a:srgbClr val="DDD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12680" y="2331720"/>
            <a:ext cx="502920" cy="502920"/>
          </a:xfrm>
          <a:prstGeom prst="ellipse">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12680" y="23591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5</a:t>
            </a:r>
          </a:p>
        </p:txBody>
      </p:sp>
      <p:sp>
        <p:nvSpPr>
          <p:cNvPr id="24" name="TextBox 23"/>
          <p:cNvSpPr txBox="1"/>
          <p:nvPr/>
        </p:nvSpPr>
        <p:spPr>
          <a:xfrm>
            <a:off x="10012680" y="29260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Promuevo entornos inclusivos</a:t>
            </a:r>
          </a:p>
        </p:txBody>
      </p:sp>
      <p:sp>
        <p:nvSpPr>
          <p:cNvPr id="25" name="Rounded Rectangle 24"/>
          <p:cNvSpPr/>
          <p:nvPr/>
        </p:nvSpPr>
        <p:spPr>
          <a:xfrm>
            <a:off x="548640" y="3794760"/>
            <a:ext cx="2240280" cy="1463040"/>
          </a:xfrm>
          <a:prstGeom prst="roundRect">
            <a:avLst>
              <a:gd name="adj" fmla="val 10000"/>
            </a:avLst>
          </a:prstGeom>
          <a:solidFill>
            <a:srgbClr val="D9C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85800" y="3931920"/>
            <a:ext cx="502920" cy="50292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9593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6</a:t>
            </a:r>
          </a:p>
        </p:txBody>
      </p:sp>
      <p:sp>
        <p:nvSpPr>
          <p:cNvPr id="28" name="TextBox 27"/>
          <p:cNvSpPr txBox="1"/>
          <p:nvPr/>
        </p:nvSpPr>
        <p:spPr>
          <a:xfrm>
            <a:off x="685800" y="45262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Empleo lenguaje respetuoso</a:t>
            </a:r>
          </a:p>
        </p:txBody>
      </p:sp>
      <p:sp>
        <p:nvSpPr>
          <p:cNvPr id="29" name="Rounded Rectangle 28"/>
          <p:cNvSpPr/>
          <p:nvPr/>
        </p:nvSpPr>
        <p:spPr>
          <a:xfrm>
            <a:off x="2880360" y="3794760"/>
            <a:ext cx="2240280" cy="146304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17520" y="3931920"/>
            <a:ext cx="502920" cy="502920"/>
          </a:xfrm>
          <a:prstGeom prst="ellipse">
            <a:avLst/>
          </a:prstGeom>
          <a:solidFill>
            <a:srgbClr val="284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17520" y="39593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7</a:t>
            </a:r>
          </a:p>
        </p:txBody>
      </p:sp>
      <p:sp>
        <p:nvSpPr>
          <p:cNvPr id="32" name="TextBox 31"/>
          <p:cNvSpPr txBox="1"/>
          <p:nvPr/>
        </p:nvSpPr>
        <p:spPr>
          <a:xfrm>
            <a:off x="3017520" y="45262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Empoderamos a las personas</a:t>
            </a:r>
          </a:p>
        </p:txBody>
      </p:sp>
      <p:sp>
        <p:nvSpPr>
          <p:cNvPr id="33" name="Rounded Rectangle 32"/>
          <p:cNvSpPr/>
          <p:nvPr/>
        </p:nvSpPr>
        <p:spPr>
          <a:xfrm>
            <a:off x="5212080" y="3794760"/>
            <a:ext cx="2240280" cy="1463040"/>
          </a:xfrm>
          <a:prstGeom prst="roundRect">
            <a:avLst>
              <a:gd name="adj" fmla="val 10000"/>
            </a:avLst>
          </a:prstGeom>
          <a:solidFill>
            <a:srgbClr val="F3D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349240" y="3931920"/>
            <a:ext cx="502920" cy="502920"/>
          </a:xfrm>
          <a:prstGeom prst="ellipse">
            <a:avLst/>
          </a:prstGeom>
          <a:solidFill>
            <a:srgbClr val="BF2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49240" y="39593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8</a:t>
            </a:r>
          </a:p>
        </p:txBody>
      </p:sp>
      <p:sp>
        <p:nvSpPr>
          <p:cNvPr id="36" name="TextBox 35"/>
          <p:cNvSpPr txBox="1"/>
          <p:nvPr/>
        </p:nvSpPr>
        <p:spPr>
          <a:xfrm>
            <a:off x="5349240" y="45262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Busco apoyo cuando lo necesito</a:t>
            </a:r>
          </a:p>
        </p:txBody>
      </p:sp>
      <p:sp>
        <p:nvSpPr>
          <p:cNvPr id="37" name="Rounded Rectangle 36"/>
          <p:cNvSpPr/>
          <p:nvPr/>
        </p:nvSpPr>
        <p:spPr>
          <a:xfrm>
            <a:off x="7543800" y="3794760"/>
            <a:ext cx="2240280" cy="1463040"/>
          </a:xfrm>
          <a:prstGeom prst="roundRect">
            <a:avLst>
              <a:gd name="adj" fmla="val 10000"/>
            </a:avLst>
          </a:prstGeom>
          <a:solidFill>
            <a:srgbClr val="DDD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80960" y="3931920"/>
            <a:ext cx="502920" cy="502920"/>
          </a:xfrm>
          <a:prstGeom prst="ellipse">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80960" y="39593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9</a:t>
            </a:r>
          </a:p>
        </p:txBody>
      </p:sp>
      <p:sp>
        <p:nvSpPr>
          <p:cNvPr id="40" name="TextBox 39"/>
          <p:cNvSpPr txBox="1"/>
          <p:nvPr/>
        </p:nvSpPr>
        <p:spPr>
          <a:xfrm>
            <a:off x="7680960" y="45262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Me capacito en inclusion</a:t>
            </a:r>
          </a:p>
        </p:txBody>
      </p:sp>
      <p:sp>
        <p:nvSpPr>
          <p:cNvPr id="41" name="Rounded Rectangle 40"/>
          <p:cNvSpPr/>
          <p:nvPr/>
        </p:nvSpPr>
        <p:spPr>
          <a:xfrm>
            <a:off x="9875520" y="3794760"/>
            <a:ext cx="2240280" cy="1463040"/>
          </a:xfrm>
          <a:prstGeom prst="roundRect">
            <a:avLst>
              <a:gd name="adj" fmla="val 10000"/>
            </a:avLst>
          </a:prstGeom>
          <a:solidFill>
            <a:srgbClr val="D9C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012680" y="3931920"/>
            <a:ext cx="502920" cy="50292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012680" y="3959352"/>
            <a:ext cx="502920" cy="457200"/>
          </a:xfrm>
          <a:prstGeom prst="rect">
            <a:avLst/>
          </a:prstGeom>
          <a:noFill/>
        </p:spPr>
        <p:txBody>
          <a:bodyPr wrap="square" lIns="45720" tIns="18288" rIns="45720" bIns="18288" anchor="t">
            <a:spAutoFit/>
          </a:bodyPr>
          <a:lstStyle/>
          <a:p>
            <a:pPr algn="ctr"/>
            <a:r>
              <a:rPr sz="1800" b="1" i="0">
                <a:solidFill>
                  <a:srgbClr val="FFFFFF"/>
                </a:solidFill>
                <a:latin typeface="Atkinson Hyperlegible"/>
                <a:ea typeface="Atkinson Hyperlegible"/>
                <a:cs typeface="Atkinson Hyperlegible"/>
              </a:rPr>
              <a:t>10</a:t>
            </a:r>
          </a:p>
        </p:txBody>
      </p:sp>
      <p:sp>
        <p:nvSpPr>
          <p:cNvPr id="44" name="TextBox 43"/>
          <p:cNvSpPr txBox="1"/>
          <p:nvPr/>
        </p:nvSpPr>
        <p:spPr>
          <a:xfrm>
            <a:off x="10012680" y="4526280"/>
            <a:ext cx="1965960" cy="685800"/>
          </a:xfrm>
          <a:prstGeom prst="rect">
            <a:avLst/>
          </a:prstGeom>
          <a:noFill/>
        </p:spPr>
        <p:txBody>
          <a:bodyPr wrap="square" lIns="45720" tIns="18288" rIns="45720" bIns="18288" anchor="t">
            <a:spAutoFit/>
          </a:bodyPr>
          <a:lstStyle/>
          <a:p>
            <a:pPr algn="ctr"/>
            <a:r>
              <a:rPr sz="1200" b="1" i="0">
                <a:solidFill>
                  <a:srgbClr val="0A0A0A"/>
                </a:solidFill>
                <a:latin typeface="Atkinson Hyperlegible"/>
                <a:ea typeface="Atkinson Hyperlegible"/>
                <a:cs typeface="Atkinson Hyperlegible"/>
              </a:rPr>
              <a:t>Realizo ajustes razonables</a:t>
            </a:r>
          </a:p>
        </p:txBody>
      </p:sp>
      <p:sp>
        <p:nvSpPr>
          <p:cNvPr id="45" name="TextBox 44"/>
          <p:cNvSpPr txBox="1"/>
          <p:nvPr/>
        </p:nvSpPr>
        <p:spPr>
          <a:xfrm>
            <a:off x="548640" y="6035040"/>
            <a:ext cx="11155680" cy="457200"/>
          </a:xfrm>
          <a:prstGeom prst="rect">
            <a:avLst/>
          </a:prstGeom>
          <a:noFill/>
        </p:spPr>
        <p:txBody>
          <a:bodyPr wrap="square" lIns="45720" tIns="18288" rIns="45720" bIns="18288" anchor="t">
            <a:spAutoFit/>
          </a:bodyPr>
          <a:lstStyle/>
          <a:p>
            <a:pPr algn="ctr"/>
            <a:r>
              <a:rPr sz="1200" b="0" i="1">
                <a:solidFill>
                  <a:srgbClr val="4A4A4A"/>
                </a:solidFill>
                <a:latin typeface="Atkinson Hyperlegible"/>
                <a:ea typeface="Atkinson Hyperlegible"/>
                <a:cs typeface="Atkinson Hyperlegible"/>
              </a:rPr>
              <a:t>SENA Neiva - Territorio con Enfoque Pluralista y Diferencial.</a:t>
            </a:r>
          </a:p>
        </p:txBody>
      </p:sp>
      <p:sp>
        <p:nvSpPr>
          <p:cNvPr id="46" name="TextBox 45"/>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47" name="TextBox 46"/>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8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UN LIBRO PARA TODOS</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200" b="1" i="0">
                <a:solidFill>
                  <a:srgbClr val="022873"/>
                </a:solidFill>
                <a:latin typeface="Atkinson Hyperlegible"/>
                <a:ea typeface="Atkinson Hyperlegible"/>
                <a:cs typeface="Atkinson Hyperlegible"/>
              </a:rPr>
              <a:t>Diseno accesible del libro album</a:t>
            </a:r>
          </a:p>
        </p:txBody>
      </p:sp>
      <p:sp>
        <p:nvSpPr>
          <p:cNvPr id="4" name="Rounded Rectangle 3"/>
          <p:cNvSpPr/>
          <p:nvPr/>
        </p:nvSpPr>
        <p:spPr>
          <a:xfrm>
            <a:off x="548640" y="1737360"/>
            <a:ext cx="5486400" cy="4389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74519"/>
            <a:ext cx="5029200" cy="457200"/>
          </a:xfrm>
          <a:prstGeom prst="rect">
            <a:avLst/>
          </a:prstGeom>
          <a:noFill/>
        </p:spPr>
        <p:txBody>
          <a:bodyPr wrap="square" lIns="45720" tIns="18288" rIns="45720" bIns="18288" anchor="t">
            <a:spAutoFit/>
          </a:bodyPr>
          <a:lstStyle/>
          <a:p>
            <a:pPr algn="l"/>
            <a:r>
              <a:rPr sz="2000" b="1" i="0">
                <a:solidFill>
                  <a:srgbClr val="022873"/>
                </a:solidFill>
                <a:latin typeface="Atkinson Hyperlegible"/>
                <a:ea typeface="Atkinson Hyperlegible"/>
                <a:cs typeface="Atkinson Hyperlegible"/>
              </a:rPr>
              <a:t>Tipografia</a:t>
            </a:r>
          </a:p>
        </p:txBody>
      </p:sp>
      <p:sp>
        <p:nvSpPr>
          <p:cNvPr id="6" name="TextBox 5"/>
          <p:cNvSpPr txBox="1"/>
          <p:nvPr/>
        </p:nvSpPr>
        <p:spPr>
          <a:xfrm>
            <a:off x="777240" y="2331720"/>
            <a:ext cx="5029200" cy="365760"/>
          </a:xfrm>
          <a:prstGeom prst="rect">
            <a:avLst/>
          </a:prstGeom>
          <a:noFill/>
        </p:spPr>
        <p:txBody>
          <a:bodyPr wrap="square" lIns="45720" tIns="18288" rIns="45720" bIns="18288" anchor="t">
            <a:spAutoFit/>
          </a:bodyPr>
          <a:lstStyle/>
          <a:p>
            <a:pPr algn="l"/>
            <a:r>
              <a:rPr sz="1300" b="0" i="1">
                <a:solidFill>
                  <a:srgbClr val="4A4A4A"/>
                </a:solidFill>
                <a:latin typeface="Atkinson Hyperlegible"/>
                <a:ea typeface="Atkinson Hyperlegible"/>
                <a:cs typeface="Atkinson Hyperlegible"/>
              </a:rPr>
              <a:t>Letra clara y comoda para leer</a:t>
            </a:r>
          </a:p>
        </p:txBody>
      </p:sp>
      <p:sp>
        <p:nvSpPr>
          <p:cNvPr id="7" name="TextBox 6"/>
          <p:cNvSpPr txBox="1"/>
          <p:nvPr/>
        </p:nvSpPr>
        <p:spPr>
          <a:xfrm>
            <a:off x="777240" y="2788920"/>
            <a:ext cx="5029200" cy="3108960"/>
          </a:xfrm>
          <a:prstGeom prst="rect">
            <a:avLst/>
          </a:prstGeom>
          <a:noFill/>
        </p:spPr>
        <p:txBody>
          <a:bodyPr wrap="square" lIns="45720" rIns="45720">
            <a:spAutoFit/>
          </a:bodyPr>
          <a:lstStyle/>
          <a:p>
            <a:pPr algn="l">
              <a:lnSpc>
                <a:spcPct val="125000"/>
              </a:lnSpc>
            </a:pPr>
            <a:r>
              <a:rPr sz="1300" b="1">
                <a:solidFill>
                  <a:srgbClr val="F28F16"/>
                </a:solidFill>
                <a:latin typeface="Atkinson Hyperlegible"/>
                <a:ea typeface="Atkinson Hyperlegible"/>
                <a:cs typeface="Atkinson Hyperlegible"/>
              </a:rPr>
              <a:t>■  </a:t>
            </a:r>
            <a:r>
              <a:rPr sz="1300">
                <a:solidFill>
                  <a:srgbClr val="0A0A0A"/>
                </a:solidFill>
                <a:latin typeface="Atkinson Hyperlegible"/>
                <a:ea typeface="Atkinson Hyperlegible"/>
                <a:cs typeface="Atkinson Hyperlegible"/>
              </a:rPr>
              <a:t>Atkinson Hyperlegible: creada para personas con baja vision.</a:t>
            </a:r>
          </a:p>
          <a:p>
            <a:pPr algn="l">
              <a:lnSpc>
                <a:spcPct val="125000"/>
              </a:lnSpc>
            </a:pPr>
            <a:r>
              <a:rPr sz="1300" b="1">
                <a:solidFill>
                  <a:srgbClr val="F28F16"/>
                </a:solidFill>
                <a:latin typeface="Atkinson Hyperlegible"/>
                <a:ea typeface="Atkinson Hyperlegible"/>
                <a:cs typeface="Atkinson Hyperlegible"/>
              </a:rPr>
              <a:t>■  </a:t>
            </a:r>
            <a:r>
              <a:rPr sz="1300">
                <a:solidFill>
                  <a:srgbClr val="0A0A0A"/>
                </a:solidFill>
                <a:latin typeface="Atkinson Hyperlegible"/>
                <a:ea typeface="Atkinson Hyperlegible"/>
                <a:cs typeface="Atkinson Hyperlegible"/>
              </a:rPr>
              <a:t>Tamano del cuento: 18 puntos (minimo recomendado).</a:t>
            </a:r>
          </a:p>
          <a:p>
            <a:pPr algn="l">
              <a:lnSpc>
                <a:spcPct val="125000"/>
              </a:lnSpc>
            </a:pPr>
            <a:r>
              <a:rPr sz="1300" b="1">
                <a:solidFill>
                  <a:srgbClr val="F28F16"/>
                </a:solidFill>
                <a:latin typeface="Atkinson Hyperlegible"/>
                <a:ea typeface="Atkinson Hyperlegible"/>
                <a:cs typeface="Atkinson Hyperlegible"/>
              </a:rPr>
              <a:t>■  </a:t>
            </a:r>
            <a:r>
              <a:rPr sz="1300">
                <a:solidFill>
                  <a:srgbClr val="0A0A0A"/>
                </a:solidFill>
                <a:latin typeface="Atkinson Hyperlegible"/>
                <a:ea typeface="Atkinson Hyperlegible"/>
                <a:cs typeface="Atkinson Hyperlegible"/>
              </a:rPr>
              <a:t>Interlineado 1,5: respira bien el texto.</a:t>
            </a:r>
          </a:p>
          <a:p>
            <a:pPr algn="l">
              <a:lnSpc>
                <a:spcPct val="125000"/>
              </a:lnSpc>
            </a:pPr>
            <a:r>
              <a:rPr sz="1300" b="1">
                <a:solidFill>
                  <a:srgbClr val="F28F16"/>
                </a:solidFill>
                <a:latin typeface="Atkinson Hyperlegible"/>
                <a:ea typeface="Atkinson Hyperlegible"/>
                <a:cs typeface="Atkinson Hyperlegible"/>
              </a:rPr>
              <a:t>■  </a:t>
            </a:r>
            <a:r>
              <a:rPr sz="1300">
                <a:solidFill>
                  <a:srgbClr val="0A0A0A"/>
                </a:solidFill>
                <a:latin typeface="Atkinson Hyperlegible"/>
                <a:ea typeface="Atkinson Hyperlegible"/>
                <a:cs typeface="Atkinson Hyperlegible"/>
              </a:rPr>
              <a:t>Alineado a la izquierda, nunca justificado.</a:t>
            </a:r>
          </a:p>
          <a:p>
            <a:pPr algn="l">
              <a:lnSpc>
                <a:spcPct val="125000"/>
              </a:lnSpc>
            </a:pPr>
            <a:r>
              <a:rPr sz="1300" b="1">
                <a:solidFill>
                  <a:srgbClr val="F28F16"/>
                </a:solidFill>
                <a:latin typeface="Atkinson Hyperlegible"/>
                <a:ea typeface="Atkinson Hyperlegible"/>
                <a:cs typeface="Atkinson Hyperlegible"/>
              </a:rPr>
              <a:t>■  </a:t>
            </a:r>
            <a:r>
              <a:rPr sz="1300">
                <a:solidFill>
                  <a:srgbClr val="0A0A0A"/>
                </a:solidFill>
                <a:latin typeface="Atkinson Hyperlegible"/>
                <a:ea typeface="Atkinson Hyperlegible"/>
                <a:cs typeface="Atkinson Hyperlegible"/>
              </a:rPr>
              <a:t>Lineas cortas, maximo 60-65 caracteres.</a:t>
            </a:r>
          </a:p>
        </p:txBody>
      </p:sp>
      <p:sp>
        <p:nvSpPr>
          <p:cNvPr id="8" name="Rounded Rectangle 7"/>
          <p:cNvSpPr/>
          <p:nvPr/>
        </p:nvSpPr>
        <p:spPr>
          <a:xfrm>
            <a:off x="6263640" y="1737360"/>
            <a:ext cx="5486400" cy="4389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19"/>
            <a:ext cx="5029200" cy="457200"/>
          </a:xfrm>
          <a:prstGeom prst="rect">
            <a:avLst/>
          </a:prstGeom>
          <a:noFill/>
        </p:spPr>
        <p:txBody>
          <a:bodyPr wrap="square" lIns="45720" tIns="18288" rIns="45720" bIns="18288" anchor="t">
            <a:spAutoFit/>
          </a:bodyPr>
          <a:lstStyle/>
          <a:p>
            <a:pPr algn="l"/>
            <a:r>
              <a:rPr sz="2000" b="1" i="0">
                <a:solidFill>
                  <a:srgbClr val="022873"/>
                </a:solidFill>
                <a:latin typeface="Atkinson Hyperlegible"/>
                <a:ea typeface="Atkinson Hyperlegible"/>
                <a:cs typeface="Atkinson Hyperlegible"/>
              </a:rPr>
              <a:t>Paleta de colores</a:t>
            </a:r>
          </a:p>
        </p:txBody>
      </p:sp>
      <p:sp>
        <p:nvSpPr>
          <p:cNvPr id="10" name="TextBox 9"/>
          <p:cNvSpPr txBox="1"/>
          <p:nvPr/>
        </p:nvSpPr>
        <p:spPr>
          <a:xfrm>
            <a:off x="6492240" y="2331720"/>
            <a:ext cx="5029200" cy="365760"/>
          </a:xfrm>
          <a:prstGeom prst="rect">
            <a:avLst/>
          </a:prstGeom>
          <a:noFill/>
        </p:spPr>
        <p:txBody>
          <a:bodyPr wrap="square" lIns="45720" tIns="18288" rIns="45720" bIns="18288" anchor="t">
            <a:spAutoFit/>
          </a:bodyPr>
          <a:lstStyle/>
          <a:p>
            <a:pPr algn="l"/>
            <a:r>
              <a:rPr sz="1300" b="0" i="1">
                <a:solidFill>
                  <a:srgbClr val="4A4A4A"/>
                </a:solidFill>
                <a:latin typeface="Atkinson Hyperlegible"/>
                <a:ea typeface="Atkinson Hyperlegible"/>
                <a:cs typeface="Atkinson Hyperlegible"/>
              </a:rPr>
              <a:t>Colores que se ven bien para todos</a:t>
            </a:r>
          </a:p>
        </p:txBody>
      </p:sp>
      <p:sp>
        <p:nvSpPr>
          <p:cNvPr id="11" name="TextBox 10"/>
          <p:cNvSpPr txBox="1"/>
          <p:nvPr/>
        </p:nvSpPr>
        <p:spPr>
          <a:xfrm>
            <a:off x="6492240" y="2788920"/>
            <a:ext cx="5029200" cy="365760"/>
          </a:xfrm>
          <a:prstGeom prst="rect">
            <a:avLst/>
          </a:prstGeom>
          <a:noFill/>
        </p:spPr>
        <p:txBody>
          <a:bodyPr wrap="square" lIns="45720" tIns="18288" rIns="45720" bIns="18288" anchor="t">
            <a:spAutoFit/>
          </a:bodyPr>
          <a:lstStyle/>
          <a:p>
            <a:pPr algn="l"/>
            <a:r>
              <a:rPr sz="1200" b="1" i="0">
                <a:solidFill>
                  <a:srgbClr val="0A0A0A"/>
                </a:solidFill>
                <a:latin typeface="Atkinson Hyperlegible"/>
                <a:ea typeface="Atkinson Hyperlegible"/>
                <a:cs typeface="Atkinson Hyperlegible"/>
              </a:rPr>
              <a:t>Colores fuertes para ilustraciones:</a:t>
            </a:r>
          </a:p>
        </p:txBody>
      </p:sp>
      <p:sp>
        <p:nvSpPr>
          <p:cNvPr id="12" name="Rounded Rectangle 11"/>
          <p:cNvSpPr/>
          <p:nvPr/>
        </p:nvSpPr>
        <p:spPr>
          <a:xfrm>
            <a:off x="6492240" y="3200400"/>
            <a:ext cx="868680" cy="868680"/>
          </a:xfrm>
          <a:prstGeom prst="roundRect">
            <a:avLst>
              <a:gd name="adj" fmla="val 8000"/>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114800"/>
            <a:ext cx="868680" cy="274320"/>
          </a:xfrm>
          <a:prstGeom prst="rect">
            <a:avLst/>
          </a:prstGeom>
          <a:noFill/>
        </p:spPr>
        <p:txBody>
          <a:bodyPr wrap="square" lIns="45720" tIns="18288" rIns="45720" bIns="18288" anchor="t">
            <a:spAutoFit/>
          </a:bodyPr>
          <a:lstStyle/>
          <a:p>
            <a:pPr algn="ctr"/>
            <a:r>
              <a:rPr sz="1000" b="0" i="0">
                <a:solidFill>
                  <a:srgbClr val="4A4A4A"/>
                </a:solidFill>
                <a:latin typeface="Atkinson Hyperlegible"/>
                <a:ea typeface="Atkinson Hyperlegible"/>
                <a:cs typeface="Atkinson Hyperlegible"/>
              </a:rPr>
              <a:t>Naranja</a:t>
            </a:r>
          </a:p>
        </p:txBody>
      </p:sp>
      <p:sp>
        <p:nvSpPr>
          <p:cNvPr id="14" name="Rounded Rectangle 13"/>
          <p:cNvSpPr/>
          <p:nvPr/>
        </p:nvSpPr>
        <p:spPr>
          <a:xfrm>
            <a:off x="7424928" y="3200400"/>
            <a:ext cx="868680" cy="868680"/>
          </a:xfrm>
          <a:prstGeom prst="roundRect">
            <a:avLst>
              <a:gd name="adj" fmla="val 8000"/>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24928" y="4114800"/>
            <a:ext cx="868680" cy="274320"/>
          </a:xfrm>
          <a:prstGeom prst="rect">
            <a:avLst/>
          </a:prstGeom>
          <a:noFill/>
        </p:spPr>
        <p:txBody>
          <a:bodyPr wrap="square" lIns="45720" tIns="18288" rIns="45720" bIns="18288" anchor="t">
            <a:spAutoFit/>
          </a:bodyPr>
          <a:lstStyle/>
          <a:p>
            <a:pPr algn="ctr"/>
            <a:r>
              <a:rPr sz="1000" b="0" i="0">
                <a:solidFill>
                  <a:srgbClr val="4A4A4A"/>
                </a:solidFill>
                <a:latin typeface="Atkinson Hyperlegible"/>
                <a:ea typeface="Atkinson Hyperlegible"/>
                <a:cs typeface="Atkinson Hyperlegible"/>
              </a:rPr>
              <a:t>Azul</a:t>
            </a:r>
          </a:p>
        </p:txBody>
      </p:sp>
      <p:sp>
        <p:nvSpPr>
          <p:cNvPr id="16" name="Rounded Rectangle 15"/>
          <p:cNvSpPr/>
          <p:nvPr/>
        </p:nvSpPr>
        <p:spPr>
          <a:xfrm>
            <a:off x="8357616" y="3200400"/>
            <a:ext cx="868680" cy="868680"/>
          </a:xfrm>
          <a:prstGeom prst="roundRect">
            <a:avLst>
              <a:gd name="adj" fmla="val 8000"/>
            </a:avLst>
          </a:prstGeom>
          <a:solidFill>
            <a:srgbClr val="284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57616" y="4114800"/>
            <a:ext cx="868680" cy="274320"/>
          </a:xfrm>
          <a:prstGeom prst="rect">
            <a:avLst/>
          </a:prstGeom>
          <a:noFill/>
        </p:spPr>
        <p:txBody>
          <a:bodyPr wrap="square" lIns="45720" tIns="18288" rIns="45720" bIns="18288" anchor="t">
            <a:spAutoFit/>
          </a:bodyPr>
          <a:lstStyle/>
          <a:p>
            <a:pPr algn="ctr"/>
            <a:r>
              <a:rPr sz="1000" b="0" i="0">
                <a:solidFill>
                  <a:srgbClr val="4A4A4A"/>
                </a:solidFill>
                <a:latin typeface="Atkinson Hyperlegible"/>
                <a:ea typeface="Atkinson Hyperlegible"/>
                <a:cs typeface="Atkinson Hyperlegible"/>
              </a:rPr>
              <a:t>Verde</a:t>
            </a:r>
          </a:p>
        </p:txBody>
      </p:sp>
      <p:sp>
        <p:nvSpPr>
          <p:cNvPr id="18" name="Rounded Rectangle 17"/>
          <p:cNvSpPr/>
          <p:nvPr/>
        </p:nvSpPr>
        <p:spPr>
          <a:xfrm>
            <a:off x="9290304" y="3200400"/>
            <a:ext cx="868680" cy="868680"/>
          </a:xfrm>
          <a:prstGeom prst="roundRect">
            <a:avLst>
              <a:gd name="adj" fmla="val 8000"/>
            </a:avLst>
          </a:prstGeom>
          <a:solidFill>
            <a:srgbClr val="730C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90304" y="4114800"/>
            <a:ext cx="868680" cy="274320"/>
          </a:xfrm>
          <a:prstGeom prst="rect">
            <a:avLst/>
          </a:prstGeom>
          <a:noFill/>
        </p:spPr>
        <p:txBody>
          <a:bodyPr wrap="square" lIns="45720" tIns="18288" rIns="45720" bIns="18288" anchor="t">
            <a:spAutoFit/>
          </a:bodyPr>
          <a:lstStyle/>
          <a:p>
            <a:pPr algn="ctr"/>
            <a:r>
              <a:rPr sz="1000" b="0" i="0">
                <a:solidFill>
                  <a:srgbClr val="4A4A4A"/>
                </a:solidFill>
                <a:latin typeface="Atkinson Hyperlegible"/>
                <a:ea typeface="Atkinson Hyperlegible"/>
                <a:cs typeface="Atkinson Hyperlegible"/>
              </a:rPr>
              <a:t>Rojo 1</a:t>
            </a:r>
          </a:p>
        </p:txBody>
      </p:sp>
      <p:sp>
        <p:nvSpPr>
          <p:cNvPr id="20" name="Rounded Rectangle 19"/>
          <p:cNvSpPr/>
          <p:nvPr/>
        </p:nvSpPr>
        <p:spPr>
          <a:xfrm>
            <a:off x="10222992" y="3200400"/>
            <a:ext cx="868680" cy="868680"/>
          </a:xfrm>
          <a:prstGeom prst="roundRect">
            <a:avLst>
              <a:gd name="adj" fmla="val 8000"/>
            </a:avLst>
          </a:prstGeom>
          <a:solidFill>
            <a:srgbClr val="BF2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22992" y="4114800"/>
            <a:ext cx="868680" cy="274320"/>
          </a:xfrm>
          <a:prstGeom prst="rect">
            <a:avLst/>
          </a:prstGeom>
          <a:noFill/>
        </p:spPr>
        <p:txBody>
          <a:bodyPr wrap="square" lIns="45720" tIns="18288" rIns="45720" bIns="18288" anchor="t">
            <a:spAutoFit/>
          </a:bodyPr>
          <a:lstStyle/>
          <a:p>
            <a:pPr algn="ctr"/>
            <a:r>
              <a:rPr sz="1000" b="0" i="0">
                <a:solidFill>
                  <a:srgbClr val="4A4A4A"/>
                </a:solidFill>
                <a:latin typeface="Atkinson Hyperlegible"/>
                <a:ea typeface="Atkinson Hyperlegible"/>
                <a:cs typeface="Atkinson Hyperlegible"/>
              </a:rPr>
              <a:t>Rojo 2</a:t>
            </a:r>
          </a:p>
        </p:txBody>
      </p:sp>
      <p:sp>
        <p:nvSpPr>
          <p:cNvPr id="22" name="TextBox 21"/>
          <p:cNvSpPr txBox="1"/>
          <p:nvPr/>
        </p:nvSpPr>
        <p:spPr>
          <a:xfrm>
            <a:off x="6492240" y="4526280"/>
            <a:ext cx="5029200" cy="365760"/>
          </a:xfrm>
          <a:prstGeom prst="rect">
            <a:avLst/>
          </a:prstGeom>
          <a:noFill/>
        </p:spPr>
        <p:txBody>
          <a:bodyPr wrap="square" lIns="45720" tIns="18288" rIns="45720" bIns="18288" anchor="t">
            <a:spAutoFit/>
          </a:bodyPr>
          <a:lstStyle/>
          <a:p>
            <a:pPr algn="l"/>
            <a:r>
              <a:rPr sz="1200" b="1" i="0">
                <a:solidFill>
                  <a:srgbClr val="0A0A0A"/>
                </a:solidFill>
                <a:latin typeface="Atkinson Hyperlegible"/>
                <a:ea typeface="Atkinson Hyperlegible"/>
                <a:cs typeface="Atkinson Hyperlegible"/>
              </a:rPr>
              <a:t>Texto sobre fondo:</a:t>
            </a:r>
          </a:p>
        </p:txBody>
      </p:sp>
      <p:sp>
        <p:nvSpPr>
          <p:cNvPr id="23" name="Rounded Rectangle 22"/>
          <p:cNvSpPr/>
          <p:nvPr/>
        </p:nvSpPr>
        <p:spPr>
          <a:xfrm>
            <a:off x="6492240" y="4937760"/>
            <a:ext cx="5029200" cy="1005840"/>
          </a:xfrm>
          <a:prstGeom prst="roundRect">
            <a:avLst>
              <a:gd name="adj" fmla="val 8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0" y="4983480"/>
            <a:ext cx="5029200" cy="457200"/>
          </a:xfrm>
          <a:prstGeom prst="rect">
            <a:avLst/>
          </a:prstGeom>
          <a:noFill/>
        </p:spPr>
        <p:txBody>
          <a:bodyPr wrap="square" lIns="45720" tIns="18288" rIns="45720" bIns="18288" anchor="t">
            <a:spAutoFit/>
          </a:bodyPr>
          <a:lstStyle/>
          <a:p>
            <a:pPr algn="ctr"/>
            <a:r>
              <a:rPr sz="1300" b="1" i="0">
                <a:solidFill>
                  <a:srgbClr val="0A0A0A"/>
                </a:solidFill>
                <a:latin typeface="Atkinson Hyperlegible"/>
                <a:ea typeface="Atkinson Hyperlegible"/>
                <a:cs typeface="Atkinson Hyperlegible"/>
              </a:rPr>
              <a:t>Negro #0A0A0A  sobre  Crema #FAF6EE</a:t>
            </a:r>
          </a:p>
        </p:txBody>
      </p:sp>
      <p:sp>
        <p:nvSpPr>
          <p:cNvPr id="25" name="TextBox 24"/>
          <p:cNvSpPr txBox="1"/>
          <p:nvPr/>
        </p:nvSpPr>
        <p:spPr>
          <a:xfrm>
            <a:off x="6492240" y="5349240"/>
            <a:ext cx="5029200" cy="365760"/>
          </a:xfrm>
          <a:prstGeom prst="rect">
            <a:avLst/>
          </a:prstGeom>
          <a:noFill/>
        </p:spPr>
        <p:txBody>
          <a:bodyPr wrap="square" lIns="45720" tIns="18288" rIns="45720" bIns="18288" anchor="t">
            <a:spAutoFit/>
          </a:bodyPr>
          <a:lstStyle/>
          <a:p>
            <a:pPr algn="ctr"/>
            <a:r>
              <a:rPr sz="1100" b="0" i="1">
                <a:solidFill>
                  <a:srgbClr val="28401D"/>
                </a:solidFill>
                <a:latin typeface="Atkinson Hyperlegible"/>
                <a:ea typeface="Atkinson Hyperlegible"/>
                <a:cs typeface="Atkinson Hyperlegible"/>
              </a:rPr>
              <a:t>Contraste 15,6 : 1   (nivel AAA, el mas alto)</a:t>
            </a:r>
          </a:p>
        </p:txBody>
      </p:sp>
      <p:sp>
        <p:nvSpPr>
          <p:cNvPr id="26" name="TextBox 25"/>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27" name="TextBox 26"/>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9 / 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ESCUCHAMOS A LOS INSTRUCTORES</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Que dicen y que sienten</a:t>
            </a:r>
          </a:p>
        </p:txBody>
      </p:sp>
      <p:sp>
        <p:nvSpPr>
          <p:cNvPr id="4" name="TextBox 3"/>
          <p:cNvSpPr txBox="1"/>
          <p:nvPr/>
        </p:nvSpPr>
        <p:spPr>
          <a:xfrm>
            <a:off x="548640" y="1600200"/>
            <a:ext cx="11155680" cy="457200"/>
          </a:xfrm>
          <a:prstGeom prst="rect">
            <a:avLst/>
          </a:prstGeom>
          <a:noFill/>
        </p:spPr>
        <p:txBody>
          <a:bodyPr wrap="square" lIns="45720" tIns="18288" rIns="45720" bIns="18288" anchor="t">
            <a:spAutoFit/>
          </a:bodyPr>
          <a:lstStyle/>
          <a:p>
            <a:pPr algn="l"/>
            <a:r>
              <a:rPr sz="1400" b="0" i="0">
                <a:solidFill>
                  <a:srgbClr val="4A4A4A"/>
                </a:solidFill>
                <a:latin typeface="Atkinson Hyperlegible"/>
                <a:ea typeface="Atkinson Hyperlegible"/>
                <a:cs typeface="Atkinson Hyperlegible"/>
              </a:rPr>
              <a:t>Hicimos un mapa de empatia con el personal del CIES. Esto es lo que nos contaron:</a:t>
            </a:r>
          </a:p>
        </p:txBody>
      </p:sp>
      <p:sp>
        <p:nvSpPr>
          <p:cNvPr id="5" name="Rounded Rectangle 4"/>
          <p:cNvSpPr/>
          <p:nvPr/>
        </p:nvSpPr>
        <p:spPr>
          <a:xfrm>
            <a:off x="548640" y="2194560"/>
            <a:ext cx="5486400" cy="2011680"/>
          </a:xfrm>
          <a:prstGeom prst="roundRect">
            <a:avLst>
              <a:gd name="adj" fmla="val 10000"/>
            </a:avLst>
          </a:prstGeom>
          <a:solidFill>
            <a:srgbClr val="DDD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2194560"/>
            <a:ext cx="164592" cy="2011680"/>
          </a:xfrm>
          <a:prstGeom prst="roundRect">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377440"/>
            <a:ext cx="5029200" cy="457200"/>
          </a:xfrm>
          <a:prstGeom prst="rect">
            <a:avLst/>
          </a:prstGeom>
          <a:noFill/>
        </p:spPr>
        <p:txBody>
          <a:bodyPr wrap="square" lIns="45720" tIns="18288" rIns="45720" bIns="18288" anchor="t">
            <a:spAutoFit/>
          </a:bodyPr>
          <a:lstStyle/>
          <a:p>
            <a:pPr algn="l"/>
            <a:r>
              <a:rPr sz="1400" b="1" i="0">
                <a:solidFill>
                  <a:srgbClr val="022873"/>
                </a:solidFill>
                <a:latin typeface="Atkinson Hyperlegible"/>
                <a:ea typeface="Atkinson Hyperlegible"/>
                <a:cs typeface="Atkinson Hyperlegible"/>
              </a:rPr>
              <a:t>QUE VEN</a:t>
            </a:r>
          </a:p>
        </p:txBody>
      </p:sp>
      <p:sp>
        <p:nvSpPr>
          <p:cNvPr id="8" name="TextBox 7"/>
          <p:cNvSpPr txBox="1"/>
          <p:nvPr/>
        </p:nvSpPr>
        <p:spPr>
          <a:xfrm>
            <a:off x="914400" y="2834640"/>
            <a:ext cx="5029200" cy="1280160"/>
          </a:xfrm>
          <a:prstGeom prst="rect">
            <a:avLst/>
          </a:prstGeom>
          <a:noFill/>
        </p:spPr>
        <p:txBody>
          <a:bodyPr wrap="square" lIns="45720" tIns="18288" rIns="45720" bIns="18288" anchor="t">
            <a:spAutoFit/>
          </a:bodyPr>
          <a:lstStyle/>
          <a:p>
            <a:pPr algn="l"/>
            <a:r>
              <a:rPr sz="1300" b="0" i="0">
                <a:solidFill>
                  <a:srgbClr val="0A0A0A"/>
                </a:solidFill>
                <a:latin typeface="Atkinson Hyperlegible"/>
                <a:ea typeface="Atkinson Hyperlegible"/>
                <a:cs typeface="Atkinson Hyperlegible"/>
              </a:rPr>
              <a:t>Aprendices cada vez mas diversos. Avances que los motivan. Tambien ven poco acompanamiento institucional.</a:t>
            </a:r>
          </a:p>
        </p:txBody>
      </p:sp>
      <p:sp>
        <p:nvSpPr>
          <p:cNvPr id="9" name="Rounded Rectangle 8"/>
          <p:cNvSpPr/>
          <p:nvPr/>
        </p:nvSpPr>
        <p:spPr>
          <a:xfrm>
            <a:off x="6172200" y="2194560"/>
            <a:ext cx="5486400" cy="2011680"/>
          </a:xfrm>
          <a:prstGeom prst="roundRect">
            <a:avLst>
              <a:gd name="adj" fmla="val 10000"/>
            </a:avLst>
          </a:prstGeom>
          <a:solidFill>
            <a:srgbClr val="D9C1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172200" y="2194560"/>
            <a:ext cx="164592" cy="2011680"/>
          </a:xfrm>
          <a:prstGeom prst="roundRect">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2377440"/>
            <a:ext cx="5029200" cy="457200"/>
          </a:xfrm>
          <a:prstGeom prst="rect">
            <a:avLst/>
          </a:prstGeom>
          <a:noFill/>
        </p:spPr>
        <p:txBody>
          <a:bodyPr wrap="square" lIns="45720" tIns="18288" rIns="45720" bIns="18288" anchor="t">
            <a:spAutoFit/>
          </a:bodyPr>
          <a:lstStyle/>
          <a:p>
            <a:pPr algn="l"/>
            <a:r>
              <a:rPr sz="1400" b="1" i="0">
                <a:solidFill>
                  <a:srgbClr val="F28F16"/>
                </a:solidFill>
                <a:latin typeface="Atkinson Hyperlegible"/>
                <a:ea typeface="Atkinson Hyperlegible"/>
                <a:cs typeface="Atkinson Hyperlegible"/>
              </a:rPr>
              <a:t>QUE OYEN</a:t>
            </a:r>
          </a:p>
        </p:txBody>
      </p:sp>
      <p:sp>
        <p:nvSpPr>
          <p:cNvPr id="12" name="TextBox 11"/>
          <p:cNvSpPr txBox="1"/>
          <p:nvPr/>
        </p:nvSpPr>
        <p:spPr>
          <a:xfrm>
            <a:off x="6537960" y="2834640"/>
            <a:ext cx="5029200" cy="1280160"/>
          </a:xfrm>
          <a:prstGeom prst="rect">
            <a:avLst/>
          </a:prstGeom>
          <a:noFill/>
        </p:spPr>
        <p:txBody>
          <a:bodyPr wrap="square" lIns="45720" tIns="18288" rIns="45720" bIns="18288" anchor="t">
            <a:spAutoFit/>
          </a:bodyPr>
          <a:lstStyle/>
          <a:p>
            <a:pPr algn="l"/>
            <a:r>
              <a:rPr sz="1300" b="0" i="0">
                <a:solidFill>
                  <a:srgbClr val="0A0A0A"/>
                </a:solidFill>
                <a:latin typeface="Atkinson Hyperlegible"/>
                <a:ea typeface="Atkinson Hyperlegible"/>
                <a:cs typeface="Atkinson Hyperlegible"/>
              </a:rPr>
              <a:t>Se habla de inclusion, pero las acciones concretas a veces no llegan. Los recursos fisicos y digitales son escasos.</a:t>
            </a:r>
          </a:p>
        </p:txBody>
      </p:sp>
      <p:sp>
        <p:nvSpPr>
          <p:cNvPr id="13" name="Rounded Rectangle 12"/>
          <p:cNvSpPr/>
          <p:nvPr/>
        </p:nvSpPr>
        <p:spPr>
          <a:xfrm>
            <a:off x="548640" y="4343400"/>
            <a:ext cx="5486400" cy="2011680"/>
          </a:xfrm>
          <a:prstGeom prst="roundRect">
            <a:avLst>
              <a:gd name="adj" fmla="val 10000"/>
            </a:avLst>
          </a:prstGeom>
          <a:solidFill>
            <a:srgbClr val="CCD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4343400"/>
            <a:ext cx="164592" cy="2011680"/>
          </a:xfrm>
          <a:prstGeom prst="roundRect">
            <a:avLst/>
          </a:prstGeom>
          <a:solidFill>
            <a:srgbClr val="284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526280"/>
            <a:ext cx="5029200" cy="457200"/>
          </a:xfrm>
          <a:prstGeom prst="rect">
            <a:avLst/>
          </a:prstGeom>
          <a:noFill/>
        </p:spPr>
        <p:txBody>
          <a:bodyPr wrap="square" lIns="45720" tIns="18288" rIns="45720" bIns="18288" anchor="t">
            <a:spAutoFit/>
          </a:bodyPr>
          <a:lstStyle/>
          <a:p>
            <a:pPr algn="l"/>
            <a:r>
              <a:rPr sz="1400" b="1" i="0">
                <a:solidFill>
                  <a:srgbClr val="28401D"/>
                </a:solidFill>
                <a:latin typeface="Atkinson Hyperlegible"/>
                <a:ea typeface="Atkinson Hyperlegible"/>
                <a:cs typeface="Atkinson Hyperlegible"/>
              </a:rPr>
              <a:t>QUE DICEN Y HACEN</a:t>
            </a:r>
          </a:p>
        </p:txBody>
      </p:sp>
      <p:sp>
        <p:nvSpPr>
          <p:cNvPr id="16" name="TextBox 15"/>
          <p:cNvSpPr txBox="1"/>
          <p:nvPr/>
        </p:nvSpPr>
        <p:spPr>
          <a:xfrm>
            <a:off x="914400" y="4983480"/>
            <a:ext cx="5029200" cy="1280160"/>
          </a:xfrm>
          <a:prstGeom prst="rect">
            <a:avLst/>
          </a:prstGeom>
          <a:noFill/>
        </p:spPr>
        <p:txBody>
          <a:bodyPr wrap="square" lIns="45720" tIns="18288" rIns="45720" bIns="18288" anchor="t">
            <a:spAutoFit/>
          </a:bodyPr>
          <a:lstStyle/>
          <a:p>
            <a:pPr algn="l"/>
            <a:r>
              <a:rPr sz="1300" b="0" i="0">
                <a:solidFill>
                  <a:srgbClr val="0A0A0A"/>
                </a:solidFill>
                <a:latin typeface="Atkinson Hyperlegible"/>
                <a:ea typeface="Atkinson Hyperlegible"/>
                <a:cs typeface="Atkinson Hyperlegible"/>
              </a:rPr>
              <a:t>Hablan del enfoque solo cuando es necesario. Intentan resolver las situaciones a su manera.</a:t>
            </a:r>
          </a:p>
        </p:txBody>
      </p:sp>
      <p:sp>
        <p:nvSpPr>
          <p:cNvPr id="17" name="Rounded Rectangle 16"/>
          <p:cNvSpPr/>
          <p:nvPr/>
        </p:nvSpPr>
        <p:spPr>
          <a:xfrm>
            <a:off x="6172200" y="4343400"/>
            <a:ext cx="5486400" cy="2011680"/>
          </a:xfrm>
          <a:prstGeom prst="roundRect">
            <a:avLst>
              <a:gd name="adj" fmla="val 10000"/>
            </a:avLst>
          </a:prstGeom>
          <a:solidFill>
            <a:srgbClr val="F3D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72200" y="4343400"/>
            <a:ext cx="164592" cy="2011680"/>
          </a:xfrm>
          <a:prstGeom prst="roundRect">
            <a:avLst/>
          </a:prstGeom>
          <a:solidFill>
            <a:srgbClr val="BF28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37960" y="4526280"/>
            <a:ext cx="5029200" cy="457200"/>
          </a:xfrm>
          <a:prstGeom prst="rect">
            <a:avLst/>
          </a:prstGeom>
          <a:noFill/>
        </p:spPr>
        <p:txBody>
          <a:bodyPr wrap="square" lIns="45720" tIns="18288" rIns="45720" bIns="18288" anchor="t">
            <a:spAutoFit/>
          </a:bodyPr>
          <a:lstStyle/>
          <a:p>
            <a:pPr algn="l"/>
            <a:r>
              <a:rPr sz="1400" b="1" i="0">
                <a:solidFill>
                  <a:srgbClr val="BF281B"/>
                </a:solidFill>
                <a:latin typeface="Atkinson Hyperlegible"/>
                <a:ea typeface="Atkinson Hyperlegible"/>
                <a:cs typeface="Atkinson Hyperlegible"/>
              </a:rPr>
              <a:t>QUE SIENTEN</a:t>
            </a:r>
          </a:p>
        </p:txBody>
      </p:sp>
      <p:sp>
        <p:nvSpPr>
          <p:cNvPr id="20" name="TextBox 19"/>
          <p:cNvSpPr txBox="1"/>
          <p:nvPr/>
        </p:nvSpPr>
        <p:spPr>
          <a:xfrm>
            <a:off x="6537960" y="4983480"/>
            <a:ext cx="5029200" cy="1280160"/>
          </a:xfrm>
          <a:prstGeom prst="rect">
            <a:avLst/>
          </a:prstGeom>
          <a:noFill/>
        </p:spPr>
        <p:txBody>
          <a:bodyPr wrap="square" lIns="45720" tIns="18288" rIns="45720" bIns="18288" anchor="t">
            <a:spAutoFit/>
          </a:bodyPr>
          <a:lstStyle/>
          <a:p>
            <a:pPr algn="l"/>
            <a:r>
              <a:rPr sz="1300" b="0" i="0">
                <a:solidFill>
                  <a:srgbClr val="0A0A0A"/>
                </a:solidFill>
                <a:latin typeface="Atkinson Hyperlegible"/>
                <a:ea typeface="Atkinson Hyperlegible"/>
                <a:cs typeface="Atkinson Hyperlegible"/>
              </a:rPr>
              <a:t>Les preocupa no atender bien a todos. Les da miedo equivocarse. Valoran mucho poder crear entornos inclusivos.</a:t>
            </a:r>
          </a:p>
        </p:txBody>
      </p:sp>
      <p:sp>
        <p:nvSpPr>
          <p:cNvPr id="21" name="TextBox 20"/>
          <p:cNvSpPr txBox="1"/>
          <p:nvPr/>
        </p:nvSpPr>
        <p:spPr>
          <a:xfrm>
            <a:off x="548640" y="6400800"/>
            <a:ext cx="11155680" cy="365760"/>
          </a:xfrm>
          <a:prstGeom prst="rect">
            <a:avLst/>
          </a:prstGeom>
          <a:noFill/>
        </p:spPr>
        <p:txBody>
          <a:bodyPr wrap="square" lIns="45720" tIns="18288" rIns="45720" bIns="18288" anchor="t">
            <a:spAutoFit/>
          </a:bodyPr>
          <a:lstStyle/>
          <a:p>
            <a:pPr algn="ctr"/>
            <a:r>
              <a:rPr sz="1300" b="1" i="1">
                <a:solidFill>
                  <a:srgbClr val="022873"/>
                </a:solidFill>
                <a:latin typeface="Atkinson Hyperlegible"/>
                <a:ea typeface="Atkinson Hyperlegible"/>
                <a:cs typeface="Atkinson Hyperlegible"/>
              </a:rPr>
              <a:t>Conclusion: quieren inclusion, pero necesitan formacion, recursos y acompanamiento.</a:t>
            </a:r>
          </a:p>
        </p:txBody>
      </p:sp>
      <p:sp>
        <p:nvSpPr>
          <p:cNvPr id="22" name="TextBox 21"/>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23" name="TextBox 22"/>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10 / 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7315200" cy="365760"/>
          </a:xfrm>
          <a:prstGeom prst="rect">
            <a:avLst/>
          </a:prstGeom>
          <a:noFill/>
        </p:spPr>
        <p:txBody>
          <a:bodyPr wrap="square" lIns="45720" tIns="18288" rIns="45720" bIns="18288" anchor="t">
            <a:spAutoFit/>
          </a:bodyPr>
          <a:lstStyle/>
          <a:p>
            <a:pPr algn="l"/>
            <a:r>
              <a:rPr sz="1200" b="1" i="0">
                <a:solidFill>
                  <a:srgbClr val="F28F16"/>
                </a:solidFill>
                <a:latin typeface="Atkinson Hyperlegible"/>
                <a:ea typeface="Atkinson Hyperlegible"/>
                <a:cs typeface="Atkinson Hyperlegible"/>
              </a:rPr>
              <a:t>HACIA DONDE VAMOS</a:t>
            </a:r>
          </a:p>
        </p:txBody>
      </p:sp>
      <p:sp>
        <p:nvSpPr>
          <p:cNvPr id="3" name="TextBox 2"/>
          <p:cNvSpPr txBox="1"/>
          <p:nvPr/>
        </p:nvSpPr>
        <p:spPr>
          <a:xfrm>
            <a:off x="548640" y="685800"/>
            <a:ext cx="10972800" cy="822960"/>
          </a:xfrm>
          <a:prstGeom prst="rect">
            <a:avLst/>
          </a:prstGeom>
          <a:noFill/>
        </p:spPr>
        <p:txBody>
          <a:bodyPr wrap="square" lIns="45720" tIns="18288" rIns="45720" bIns="18288" anchor="t">
            <a:spAutoFit/>
          </a:bodyPr>
          <a:lstStyle/>
          <a:p>
            <a:pPr algn="l"/>
            <a:r>
              <a:rPr sz="3600" b="1" i="0">
                <a:solidFill>
                  <a:srgbClr val="022873"/>
                </a:solidFill>
                <a:latin typeface="Atkinson Hyperlegible"/>
                <a:ea typeface="Atkinson Hyperlegible"/>
                <a:cs typeface="Atkinson Hyperlegible"/>
              </a:rPr>
              <a:t>Que esperamos lograr</a:t>
            </a:r>
          </a:p>
        </p:txBody>
      </p:sp>
      <p:sp>
        <p:nvSpPr>
          <p:cNvPr id="4" name="Oval 3"/>
          <p:cNvSpPr/>
          <p:nvPr/>
        </p:nvSpPr>
        <p:spPr>
          <a:xfrm>
            <a:off x="548640" y="1828800"/>
            <a:ext cx="548640" cy="54864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874520"/>
            <a:ext cx="548640" cy="502920"/>
          </a:xfrm>
          <a:prstGeom prst="rect">
            <a:avLst/>
          </a:prstGeom>
          <a:noFill/>
        </p:spPr>
        <p:txBody>
          <a:bodyPr wrap="square" lIns="45720" tIns="18288" rIns="45720" bIns="18288" anchor="t">
            <a:spAutoFit/>
          </a:bodyPr>
          <a:lstStyle/>
          <a:p>
            <a:pPr algn="ctr"/>
            <a:r>
              <a:rPr sz="2000" b="1" i="0">
                <a:solidFill>
                  <a:srgbClr val="FFFFFF"/>
                </a:solidFill>
                <a:latin typeface="Atkinson Hyperlegible"/>
                <a:ea typeface="Atkinson Hyperlegible"/>
                <a:cs typeface="Atkinson Hyperlegible"/>
              </a:rPr>
              <a:t>1</a:t>
            </a:r>
          </a:p>
        </p:txBody>
      </p:sp>
      <p:sp>
        <p:nvSpPr>
          <p:cNvPr id="6" name="TextBox 5"/>
          <p:cNvSpPr txBox="1"/>
          <p:nvPr/>
        </p:nvSpPr>
        <p:spPr>
          <a:xfrm>
            <a:off x="1325880" y="1783080"/>
            <a:ext cx="2743200" cy="640080"/>
          </a:xfrm>
          <a:prstGeom prst="rect">
            <a:avLst/>
          </a:prstGeom>
          <a:noFill/>
        </p:spPr>
        <p:txBody>
          <a:bodyPr wrap="square" lIns="45720" tIns="18288" rIns="45720" bIns="18288" anchor="t">
            <a:spAutoFit/>
          </a:bodyPr>
          <a:lstStyle/>
          <a:p>
            <a:pPr algn="l"/>
            <a:r>
              <a:rPr sz="2200" b="1" i="0">
                <a:solidFill>
                  <a:srgbClr val="022873"/>
                </a:solidFill>
                <a:latin typeface="Atkinson Hyperlegible"/>
                <a:ea typeface="Atkinson Hyperlegible"/>
                <a:cs typeface="Atkinson Hyperlegible"/>
              </a:rPr>
              <a:t>80%</a:t>
            </a:r>
          </a:p>
        </p:txBody>
      </p:sp>
      <p:sp>
        <p:nvSpPr>
          <p:cNvPr id="7" name="TextBox 6"/>
          <p:cNvSpPr txBox="1"/>
          <p:nvPr/>
        </p:nvSpPr>
        <p:spPr>
          <a:xfrm>
            <a:off x="4114800" y="1828800"/>
            <a:ext cx="7772400" cy="73152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del personal del centro capacitado en inclusion.</a:t>
            </a:r>
          </a:p>
        </p:txBody>
      </p:sp>
      <p:sp>
        <p:nvSpPr>
          <p:cNvPr id="8" name="Oval 7"/>
          <p:cNvSpPr/>
          <p:nvPr/>
        </p:nvSpPr>
        <p:spPr>
          <a:xfrm>
            <a:off x="548640" y="2697480"/>
            <a:ext cx="548640" cy="54864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743200"/>
            <a:ext cx="548640" cy="502920"/>
          </a:xfrm>
          <a:prstGeom prst="rect">
            <a:avLst/>
          </a:prstGeom>
          <a:noFill/>
        </p:spPr>
        <p:txBody>
          <a:bodyPr wrap="square" lIns="45720" tIns="18288" rIns="45720" bIns="18288" anchor="t">
            <a:spAutoFit/>
          </a:bodyPr>
          <a:lstStyle/>
          <a:p>
            <a:pPr algn="ctr"/>
            <a:r>
              <a:rPr sz="2000" b="1" i="0">
                <a:solidFill>
                  <a:srgbClr val="FFFFFF"/>
                </a:solidFill>
                <a:latin typeface="Atkinson Hyperlegible"/>
                <a:ea typeface="Atkinson Hyperlegible"/>
                <a:cs typeface="Atkinson Hyperlegible"/>
              </a:rPr>
              <a:t>2</a:t>
            </a:r>
          </a:p>
        </p:txBody>
      </p:sp>
      <p:sp>
        <p:nvSpPr>
          <p:cNvPr id="10" name="TextBox 9"/>
          <p:cNvSpPr txBox="1"/>
          <p:nvPr/>
        </p:nvSpPr>
        <p:spPr>
          <a:xfrm>
            <a:off x="1325880" y="2651760"/>
            <a:ext cx="2743200" cy="640080"/>
          </a:xfrm>
          <a:prstGeom prst="rect">
            <a:avLst/>
          </a:prstGeom>
          <a:noFill/>
        </p:spPr>
        <p:txBody>
          <a:bodyPr wrap="square" lIns="45720" tIns="18288" rIns="45720" bIns="18288" anchor="t">
            <a:spAutoFit/>
          </a:bodyPr>
          <a:lstStyle/>
          <a:p>
            <a:pPr algn="l"/>
            <a:r>
              <a:rPr sz="2200" b="1" i="0">
                <a:solidFill>
                  <a:srgbClr val="022873"/>
                </a:solidFill>
                <a:latin typeface="Atkinson Hyperlegible"/>
                <a:ea typeface="Atkinson Hyperlegible"/>
                <a:cs typeface="Atkinson Hyperlegible"/>
              </a:rPr>
              <a:t>Nuevas herramientas pedagogicas</a:t>
            </a:r>
          </a:p>
        </p:txBody>
      </p:sp>
      <p:sp>
        <p:nvSpPr>
          <p:cNvPr id="11" name="TextBox 10"/>
          <p:cNvSpPr txBox="1"/>
          <p:nvPr/>
        </p:nvSpPr>
        <p:spPr>
          <a:xfrm>
            <a:off x="4114800" y="2697480"/>
            <a:ext cx="7772400" cy="73152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para atender aprendices con condiciones diversas.</a:t>
            </a:r>
          </a:p>
        </p:txBody>
      </p:sp>
      <p:sp>
        <p:nvSpPr>
          <p:cNvPr id="12" name="Oval 11"/>
          <p:cNvSpPr/>
          <p:nvPr/>
        </p:nvSpPr>
        <p:spPr>
          <a:xfrm>
            <a:off x="548640" y="3566160"/>
            <a:ext cx="548640" cy="54864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611880"/>
            <a:ext cx="548640" cy="502920"/>
          </a:xfrm>
          <a:prstGeom prst="rect">
            <a:avLst/>
          </a:prstGeom>
          <a:noFill/>
        </p:spPr>
        <p:txBody>
          <a:bodyPr wrap="square" lIns="45720" tIns="18288" rIns="45720" bIns="18288" anchor="t">
            <a:spAutoFit/>
          </a:bodyPr>
          <a:lstStyle/>
          <a:p>
            <a:pPr algn="ctr"/>
            <a:r>
              <a:rPr sz="2000" b="1" i="0">
                <a:solidFill>
                  <a:srgbClr val="FFFFFF"/>
                </a:solidFill>
                <a:latin typeface="Atkinson Hyperlegible"/>
                <a:ea typeface="Atkinson Hyperlegible"/>
                <a:cs typeface="Atkinson Hyperlegible"/>
              </a:rPr>
              <a:t>3</a:t>
            </a:r>
          </a:p>
        </p:txBody>
      </p:sp>
      <p:sp>
        <p:nvSpPr>
          <p:cNvPr id="14" name="TextBox 13"/>
          <p:cNvSpPr txBox="1"/>
          <p:nvPr/>
        </p:nvSpPr>
        <p:spPr>
          <a:xfrm>
            <a:off x="1325880" y="3520440"/>
            <a:ext cx="2743200" cy="640080"/>
          </a:xfrm>
          <a:prstGeom prst="rect">
            <a:avLst/>
          </a:prstGeom>
          <a:noFill/>
        </p:spPr>
        <p:txBody>
          <a:bodyPr wrap="square" lIns="45720" tIns="18288" rIns="45720" bIns="18288" anchor="t">
            <a:spAutoFit/>
          </a:bodyPr>
          <a:lstStyle/>
          <a:p>
            <a:pPr algn="l"/>
            <a:r>
              <a:rPr sz="2200" b="1" i="0">
                <a:solidFill>
                  <a:srgbClr val="022873"/>
                </a:solidFill>
                <a:latin typeface="Atkinson Hyperlegible"/>
                <a:ea typeface="Atkinson Hyperlegible"/>
                <a:cs typeface="Atkinson Hyperlegible"/>
              </a:rPr>
              <a:t>Tecnologia accesible</a:t>
            </a:r>
          </a:p>
        </p:txBody>
      </p:sp>
      <p:sp>
        <p:nvSpPr>
          <p:cNvPr id="15" name="TextBox 14"/>
          <p:cNvSpPr txBox="1"/>
          <p:nvPr/>
        </p:nvSpPr>
        <p:spPr>
          <a:xfrm>
            <a:off x="4114800" y="3566160"/>
            <a:ext cx="7772400" cy="73152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Realidad Aumentada, datos e IA al servicio de la inclusion.</a:t>
            </a:r>
          </a:p>
        </p:txBody>
      </p:sp>
      <p:sp>
        <p:nvSpPr>
          <p:cNvPr id="16" name="Oval 15"/>
          <p:cNvSpPr/>
          <p:nvPr/>
        </p:nvSpPr>
        <p:spPr>
          <a:xfrm>
            <a:off x="548640" y="4434840"/>
            <a:ext cx="548640" cy="54864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480560"/>
            <a:ext cx="548640" cy="502920"/>
          </a:xfrm>
          <a:prstGeom prst="rect">
            <a:avLst/>
          </a:prstGeom>
          <a:noFill/>
        </p:spPr>
        <p:txBody>
          <a:bodyPr wrap="square" lIns="45720" tIns="18288" rIns="45720" bIns="18288" anchor="t">
            <a:spAutoFit/>
          </a:bodyPr>
          <a:lstStyle/>
          <a:p>
            <a:pPr algn="ctr"/>
            <a:r>
              <a:rPr sz="2000" b="1" i="0">
                <a:solidFill>
                  <a:srgbClr val="FFFFFF"/>
                </a:solidFill>
                <a:latin typeface="Atkinson Hyperlegible"/>
                <a:ea typeface="Atkinson Hyperlegible"/>
                <a:cs typeface="Atkinson Hyperlegible"/>
              </a:rPr>
              <a:t>4</a:t>
            </a:r>
          </a:p>
        </p:txBody>
      </p:sp>
      <p:sp>
        <p:nvSpPr>
          <p:cNvPr id="18" name="TextBox 17"/>
          <p:cNvSpPr txBox="1"/>
          <p:nvPr/>
        </p:nvSpPr>
        <p:spPr>
          <a:xfrm>
            <a:off x="1325880" y="4389120"/>
            <a:ext cx="2743200" cy="640080"/>
          </a:xfrm>
          <a:prstGeom prst="rect">
            <a:avLst/>
          </a:prstGeom>
          <a:noFill/>
        </p:spPr>
        <p:txBody>
          <a:bodyPr wrap="square" lIns="45720" tIns="18288" rIns="45720" bIns="18288" anchor="t">
            <a:spAutoFit/>
          </a:bodyPr>
          <a:lstStyle/>
          <a:p>
            <a:pPr algn="l"/>
            <a:r>
              <a:rPr sz="2200" b="1" i="0">
                <a:solidFill>
                  <a:srgbClr val="022873"/>
                </a:solidFill>
                <a:latin typeface="Atkinson Hyperlegible"/>
                <a:ea typeface="Atkinson Hyperlegible"/>
                <a:cs typeface="Atkinson Hyperlegible"/>
              </a:rPr>
              <a:t>Menos desercion</a:t>
            </a:r>
          </a:p>
        </p:txBody>
      </p:sp>
      <p:sp>
        <p:nvSpPr>
          <p:cNvPr id="19" name="TextBox 18"/>
          <p:cNvSpPr txBox="1"/>
          <p:nvPr/>
        </p:nvSpPr>
        <p:spPr>
          <a:xfrm>
            <a:off x="4114800" y="4434840"/>
            <a:ext cx="7772400" cy="73152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que los aprendices diversos terminen su formacion con exito.</a:t>
            </a:r>
          </a:p>
        </p:txBody>
      </p:sp>
      <p:sp>
        <p:nvSpPr>
          <p:cNvPr id="20" name="Oval 19"/>
          <p:cNvSpPr/>
          <p:nvPr/>
        </p:nvSpPr>
        <p:spPr>
          <a:xfrm>
            <a:off x="548640" y="5303520"/>
            <a:ext cx="548640" cy="548640"/>
          </a:xfrm>
          <a:prstGeom prst="ellipse">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5349240"/>
            <a:ext cx="548640" cy="502920"/>
          </a:xfrm>
          <a:prstGeom prst="rect">
            <a:avLst/>
          </a:prstGeom>
          <a:noFill/>
        </p:spPr>
        <p:txBody>
          <a:bodyPr wrap="square" lIns="45720" tIns="18288" rIns="45720" bIns="18288" anchor="t">
            <a:spAutoFit/>
          </a:bodyPr>
          <a:lstStyle/>
          <a:p>
            <a:pPr algn="ctr"/>
            <a:r>
              <a:rPr sz="2000" b="1" i="0">
                <a:solidFill>
                  <a:srgbClr val="FFFFFF"/>
                </a:solidFill>
                <a:latin typeface="Atkinson Hyperlegible"/>
                <a:ea typeface="Atkinson Hyperlegible"/>
                <a:cs typeface="Atkinson Hyperlegible"/>
              </a:rPr>
              <a:t>5</a:t>
            </a:r>
          </a:p>
        </p:txBody>
      </p:sp>
      <p:sp>
        <p:nvSpPr>
          <p:cNvPr id="22" name="TextBox 21"/>
          <p:cNvSpPr txBox="1"/>
          <p:nvPr/>
        </p:nvSpPr>
        <p:spPr>
          <a:xfrm>
            <a:off x="1325880" y="5257800"/>
            <a:ext cx="2743200" cy="640080"/>
          </a:xfrm>
          <a:prstGeom prst="rect">
            <a:avLst/>
          </a:prstGeom>
          <a:noFill/>
        </p:spPr>
        <p:txBody>
          <a:bodyPr wrap="square" lIns="45720" tIns="18288" rIns="45720" bIns="18288" anchor="t">
            <a:spAutoFit/>
          </a:bodyPr>
          <a:lstStyle/>
          <a:p>
            <a:pPr algn="l"/>
            <a:r>
              <a:rPr sz="2200" b="1" i="0">
                <a:solidFill>
                  <a:srgbClr val="022873"/>
                </a:solidFill>
                <a:latin typeface="Atkinson Hyperlegible"/>
                <a:ea typeface="Atkinson Hyperlegible"/>
                <a:cs typeface="Atkinson Hyperlegible"/>
              </a:rPr>
              <a:t>Un modelo replicable</a:t>
            </a:r>
          </a:p>
        </p:txBody>
      </p:sp>
      <p:sp>
        <p:nvSpPr>
          <p:cNvPr id="23" name="TextBox 22"/>
          <p:cNvSpPr txBox="1"/>
          <p:nvPr/>
        </p:nvSpPr>
        <p:spPr>
          <a:xfrm>
            <a:off x="4114800" y="5303520"/>
            <a:ext cx="7772400" cy="731520"/>
          </a:xfrm>
          <a:prstGeom prst="rect">
            <a:avLst/>
          </a:prstGeom>
          <a:noFill/>
        </p:spPr>
        <p:txBody>
          <a:bodyPr wrap="square" lIns="45720" tIns="18288" rIns="45720" bIns="18288" anchor="t">
            <a:spAutoFit/>
          </a:bodyPr>
          <a:lstStyle/>
          <a:p>
            <a:pPr algn="l"/>
            <a:r>
              <a:rPr sz="1500" b="0" i="0">
                <a:solidFill>
                  <a:srgbClr val="0A0A0A"/>
                </a:solidFill>
                <a:latin typeface="Atkinson Hyperlegible"/>
                <a:ea typeface="Atkinson Hyperlegible"/>
                <a:cs typeface="Atkinson Hyperlegible"/>
              </a:rPr>
              <a:t>que pueda usarse en otros centros del SENA del pais.</a:t>
            </a:r>
          </a:p>
        </p:txBody>
      </p:sp>
      <p:sp>
        <p:nvSpPr>
          <p:cNvPr id="24" name="TextBox 23"/>
          <p:cNvSpPr txBox="1"/>
          <p:nvPr/>
        </p:nvSpPr>
        <p:spPr>
          <a:xfrm>
            <a:off x="457200" y="6446520"/>
            <a:ext cx="7315200" cy="320040"/>
          </a:xfrm>
          <a:prstGeom prst="rect">
            <a:avLst/>
          </a:prstGeom>
          <a:noFill/>
        </p:spPr>
        <p:txBody>
          <a:bodyPr wrap="square" lIns="45720" tIns="18288" rIns="45720" bIns="18288" anchor="t">
            <a:spAutoFit/>
          </a:bodyPr>
          <a:lstStyle/>
          <a:p>
            <a:pPr algn="l"/>
            <a:r>
              <a:rPr sz="1000" b="0" i="0">
                <a:solidFill>
                  <a:srgbClr val="4A4A4A"/>
                </a:solidFill>
                <a:latin typeface="Atkinson Hyperlegible"/>
                <a:ea typeface="Atkinson Hyperlegible"/>
                <a:cs typeface="Atkinson Hyperlegible"/>
              </a:rPr>
              <a:t>Semillero AASI  -  SENA Neiva</a:t>
            </a:r>
          </a:p>
        </p:txBody>
      </p:sp>
      <p:sp>
        <p:nvSpPr>
          <p:cNvPr id="25" name="TextBox 24"/>
          <p:cNvSpPr txBox="1"/>
          <p:nvPr/>
        </p:nvSpPr>
        <p:spPr>
          <a:xfrm>
            <a:off x="11430000" y="6446520"/>
            <a:ext cx="640080" cy="320040"/>
          </a:xfrm>
          <a:prstGeom prst="rect">
            <a:avLst/>
          </a:prstGeom>
          <a:noFill/>
        </p:spPr>
        <p:txBody>
          <a:bodyPr wrap="square" lIns="45720" tIns="18288" rIns="45720" bIns="18288" anchor="t">
            <a:spAutoFit/>
          </a:bodyPr>
          <a:lstStyle/>
          <a:p>
            <a:pPr algn="r"/>
            <a:r>
              <a:rPr sz="1000" b="0" i="0">
                <a:solidFill>
                  <a:srgbClr val="4A4A4A"/>
                </a:solidFill>
                <a:latin typeface="Atkinson Hyperlegible"/>
                <a:ea typeface="Atkinson Hyperlegible"/>
                <a:cs typeface="Atkinson Hyperlegible"/>
              </a:rPr>
              <a:t>11 / 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02920"/>
          </a:xfrm>
          <a:prstGeom prst="roundRect">
            <a:avLst/>
          </a:prstGeom>
          <a:solidFill>
            <a:srgbClr val="F28F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0" y="5440680"/>
            <a:ext cx="12191695" cy="1417320"/>
          </a:xfrm>
          <a:prstGeom prst="roundRect">
            <a:avLst/>
          </a:prstGeom>
          <a:solidFill>
            <a:srgbClr val="0228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
            <a:ext cx="10972800" cy="365760"/>
          </a:xfrm>
          <a:prstGeom prst="rect">
            <a:avLst/>
          </a:prstGeom>
          <a:noFill/>
        </p:spPr>
        <p:txBody>
          <a:bodyPr wrap="square" lIns="45720" tIns="18288" rIns="45720" bIns="18288" anchor="t">
            <a:spAutoFit/>
          </a:bodyPr>
          <a:lstStyle/>
          <a:p>
            <a:pPr algn="l"/>
            <a:r>
              <a:rPr sz="1200" b="1" i="0">
                <a:solidFill>
                  <a:srgbClr val="FFFFFF"/>
                </a:solidFill>
                <a:latin typeface="Atkinson Hyperlegible"/>
                <a:ea typeface="Atkinson Hyperlegible"/>
                <a:cs typeface="Atkinson Hyperlegible"/>
              </a:rPr>
              <a:t>ENCUENTRO DE SEMILLEROS  ·  CORDOBA  ·  2026</a:t>
            </a:r>
          </a:p>
        </p:txBody>
      </p:sp>
      <p:sp>
        <p:nvSpPr>
          <p:cNvPr id="5" name="TextBox 4"/>
          <p:cNvSpPr txBox="1"/>
          <p:nvPr/>
        </p:nvSpPr>
        <p:spPr>
          <a:xfrm>
            <a:off x="548640" y="1280160"/>
            <a:ext cx="11155680" cy="1280160"/>
          </a:xfrm>
          <a:prstGeom prst="rect">
            <a:avLst/>
          </a:prstGeom>
          <a:noFill/>
        </p:spPr>
        <p:txBody>
          <a:bodyPr wrap="square" lIns="45720" tIns="18288" rIns="45720" bIns="18288" anchor="t">
            <a:spAutoFit/>
          </a:bodyPr>
          <a:lstStyle/>
          <a:p>
            <a:pPr algn="ctr"/>
            <a:r>
              <a:rPr sz="6400" b="1" i="0">
                <a:solidFill>
                  <a:srgbClr val="022873"/>
                </a:solidFill>
                <a:latin typeface="Atkinson Hyperlegible"/>
                <a:ea typeface="Atkinson Hyperlegible"/>
                <a:cs typeface="Atkinson Hyperlegible"/>
              </a:rPr>
              <a:t>Muchas gracias</a:t>
            </a:r>
          </a:p>
        </p:txBody>
      </p:sp>
      <p:sp>
        <p:nvSpPr>
          <p:cNvPr id="6" name="TextBox 5"/>
          <p:cNvSpPr txBox="1"/>
          <p:nvPr/>
        </p:nvSpPr>
        <p:spPr>
          <a:xfrm>
            <a:off x="548640" y="2606040"/>
            <a:ext cx="11155680" cy="640080"/>
          </a:xfrm>
          <a:prstGeom prst="rect">
            <a:avLst/>
          </a:prstGeom>
          <a:noFill/>
        </p:spPr>
        <p:txBody>
          <a:bodyPr wrap="square" lIns="45720" tIns="18288" rIns="45720" bIns="18288" anchor="t">
            <a:spAutoFit/>
          </a:bodyPr>
          <a:lstStyle/>
          <a:p>
            <a:pPr algn="ctr"/>
            <a:r>
              <a:rPr sz="2400" b="0" i="1">
                <a:solidFill>
                  <a:srgbClr val="F28F16"/>
                </a:solidFill>
                <a:latin typeface="Atkinson Hyperlegible"/>
                <a:ea typeface="Atkinson Hyperlegible"/>
                <a:cs typeface="Atkinson Hyperlegible"/>
              </a:rPr>
              <a:t>por creer que otro SENA es posible</a:t>
            </a:r>
          </a:p>
        </p:txBody>
      </p:sp>
      <p:sp>
        <p:nvSpPr>
          <p:cNvPr id="7" name="Rounded Rectangle 6"/>
          <p:cNvSpPr/>
          <p:nvPr/>
        </p:nvSpPr>
        <p:spPr>
          <a:xfrm>
            <a:off x="2286000" y="3566160"/>
            <a:ext cx="7589520" cy="1463040"/>
          </a:xfrm>
          <a:prstGeom prst="roundRect">
            <a:avLst>
              <a:gd name="adj" fmla="val 10000"/>
            </a:avLst>
          </a:prstGeom>
          <a:solidFill>
            <a:srgbClr val="F3D6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0" y="3657600"/>
            <a:ext cx="7040880" cy="365760"/>
          </a:xfrm>
          <a:prstGeom prst="rect">
            <a:avLst/>
          </a:prstGeom>
          <a:noFill/>
        </p:spPr>
        <p:txBody>
          <a:bodyPr wrap="square" lIns="45720" tIns="18288" rIns="45720" bIns="18288" anchor="t">
            <a:spAutoFit/>
          </a:bodyPr>
          <a:lstStyle/>
          <a:p>
            <a:pPr algn="ctr"/>
            <a:r>
              <a:rPr sz="1100" b="1" i="0">
                <a:solidFill>
                  <a:srgbClr val="BF281B"/>
                </a:solidFill>
                <a:latin typeface="Atkinson Hyperlegible"/>
                <a:ea typeface="Atkinson Hyperlegible"/>
                <a:cs typeface="Atkinson Hyperlegible"/>
              </a:rPr>
              <a:t>FRASE DE SARITA</a:t>
            </a:r>
          </a:p>
        </p:txBody>
      </p:sp>
      <p:sp>
        <p:nvSpPr>
          <p:cNvPr id="9" name="TextBox 8"/>
          <p:cNvSpPr txBox="1"/>
          <p:nvPr/>
        </p:nvSpPr>
        <p:spPr>
          <a:xfrm>
            <a:off x="2560320" y="3977639"/>
            <a:ext cx="7040880" cy="914400"/>
          </a:xfrm>
          <a:prstGeom prst="rect">
            <a:avLst/>
          </a:prstGeom>
          <a:noFill/>
        </p:spPr>
        <p:txBody>
          <a:bodyPr wrap="square" lIns="45720" tIns="18288" rIns="45720" bIns="18288" anchor="t">
            <a:spAutoFit/>
          </a:bodyPr>
          <a:lstStyle/>
          <a:p>
            <a:pPr algn="ctr"/>
            <a:r>
              <a:rPr sz="1700" b="0" i="1">
                <a:solidFill>
                  <a:srgbClr val="0A0A0A"/>
                </a:solidFill>
                <a:latin typeface="Atkinson Hyperlegible"/>
                <a:ea typeface="Atkinson Hyperlegible"/>
                <a:cs typeface="Atkinson Hyperlegible"/>
              </a:rPr>
              <a:t>"Aprendi que ser diferente no es algo que deba ocultar, sino una parte valiosa de quien soy."</a:t>
            </a:r>
          </a:p>
        </p:txBody>
      </p:sp>
      <p:sp>
        <p:nvSpPr>
          <p:cNvPr id="10" name="TextBox 9"/>
          <p:cNvSpPr txBox="1"/>
          <p:nvPr/>
        </p:nvSpPr>
        <p:spPr>
          <a:xfrm>
            <a:off x="548640" y="5532120"/>
            <a:ext cx="11155680" cy="365760"/>
          </a:xfrm>
          <a:prstGeom prst="rect">
            <a:avLst/>
          </a:prstGeom>
          <a:noFill/>
        </p:spPr>
        <p:txBody>
          <a:bodyPr wrap="square" lIns="45720" tIns="18288" rIns="45720" bIns="18288" anchor="t">
            <a:spAutoFit/>
          </a:bodyPr>
          <a:lstStyle/>
          <a:p>
            <a:pPr algn="ctr"/>
            <a:r>
              <a:rPr sz="1100" b="1" i="0">
                <a:solidFill>
                  <a:srgbClr val="D9C179"/>
                </a:solidFill>
                <a:latin typeface="Atkinson Hyperlegible"/>
                <a:ea typeface="Atkinson Hyperlegible"/>
                <a:cs typeface="Atkinson Hyperlegible"/>
              </a:rPr>
              <a:t>CONTACTO</a:t>
            </a:r>
          </a:p>
        </p:txBody>
      </p:sp>
      <p:sp>
        <p:nvSpPr>
          <p:cNvPr id="11" name="TextBox 10"/>
          <p:cNvSpPr txBox="1"/>
          <p:nvPr/>
        </p:nvSpPr>
        <p:spPr>
          <a:xfrm>
            <a:off x="548640" y="5806440"/>
            <a:ext cx="11155680" cy="365760"/>
          </a:xfrm>
          <a:prstGeom prst="rect">
            <a:avLst/>
          </a:prstGeom>
          <a:noFill/>
        </p:spPr>
        <p:txBody>
          <a:bodyPr wrap="square" lIns="45720" tIns="18288" rIns="45720" bIns="18288" anchor="t">
            <a:spAutoFit/>
          </a:bodyPr>
          <a:lstStyle/>
          <a:p>
            <a:pPr algn="ctr"/>
            <a:r>
              <a:rPr sz="1600" b="1" i="0">
                <a:solidFill>
                  <a:srgbClr val="FFFFFF"/>
                </a:solidFill>
                <a:latin typeface="Atkinson Hyperlegible"/>
                <a:ea typeface="Atkinson Hyperlegible"/>
                <a:cs typeface="Atkinson Hyperlegible"/>
              </a:rPr>
              <a:t>danntejada06@gmail.com</a:t>
            </a:r>
          </a:p>
        </p:txBody>
      </p:sp>
      <p:sp>
        <p:nvSpPr>
          <p:cNvPr id="12" name="TextBox 11"/>
          <p:cNvSpPr txBox="1"/>
          <p:nvPr/>
        </p:nvSpPr>
        <p:spPr>
          <a:xfrm>
            <a:off x="548640" y="6172200"/>
            <a:ext cx="11155680" cy="365760"/>
          </a:xfrm>
          <a:prstGeom prst="rect">
            <a:avLst/>
          </a:prstGeom>
          <a:noFill/>
        </p:spPr>
        <p:txBody>
          <a:bodyPr wrap="square" lIns="45720" tIns="18288" rIns="45720" bIns="18288" anchor="t">
            <a:spAutoFit/>
          </a:bodyPr>
          <a:lstStyle/>
          <a:p>
            <a:pPr algn="ctr"/>
            <a:r>
              <a:rPr sz="1200" b="0" i="0">
                <a:solidFill>
                  <a:srgbClr val="DDD8F1"/>
                </a:solidFill>
                <a:latin typeface="Atkinson Hyperlegible"/>
                <a:ea typeface="Atkinson Hyperlegible"/>
                <a:cs typeface="Atkinson Hyperlegible"/>
              </a:rPr>
              <a:t>Jesus Daniel Pencue Tejada  -  Semillero AASI  -  SENA Neiva, Huila</a:t>
            </a:r>
          </a:p>
        </p:txBody>
      </p:sp>
      <p:sp>
        <p:nvSpPr>
          <p:cNvPr id="13" name="TextBox 12"/>
          <p:cNvSpPr txBox="1"/>
          <p:nvPr/>
        </p:nvSpPr>
        <p:spPr>
          <a:xfrm>
            <a:off x="548640" y="6446520"/>
            <a:ext cx="11155680" cy="365760"/>
          </a:xfrm>
          <a:prstGeom prst="rect">
            <a:avLst/>
          </a:prstGeom>
          <a:noFill/>
        </p:spPr>
        <p:txBody>
          <a:bodyPr wrap="square" lIns="45720" tIns="18288" rIns="45720" bIns="18288" anchor="t">
            <a:spAutoFit/>
          </a:bodyPr>
          <a:lstStyle/>
          <a:p>
            <a:pPr algn="ctr"/>
            <a:r>
              <a:rPr sz="1000" b="0" i="0">
                <a:solidFill>
                  <a:srgbClr val="DDD8F1"/>
                </a:solidFill>
                <a:latin typeface="Atkinson Hyperlegible"/>
                <a:ea typeface="Atkinson Hyperlegible"/>
                <a:cs typeface="Atkinson Hyperlegible"/>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2087</Words>
  <Application>Microsoft Office PowerPoint</Application>
  <PresentationFormat>Panorámica</PresentationFormat>
  <Paragraphs>198</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Atkinson Hyperlegible</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Edilberto Sarmiento Andapiña</cp:lastModifiedBy>
  <cp:revision>1</cp:revision>
  <dcterms:created xsi:type="dcterms:W3CDTF">2013-01-27T09:14:16Z</dcterms:created>
  <dcterms:modified xsi:type="dcterms:W3CDTF">2026-07-15T16:12:35Z</dcterms:modified>
  <cp:category/>
</cp:coreProperties>
</file>